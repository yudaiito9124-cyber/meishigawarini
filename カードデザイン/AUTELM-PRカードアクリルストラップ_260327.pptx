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90" r:id="rId2"/>
    <p:sldId id="291" r:id="rId3"/>
    <p:sldId id="301" r:id="rId4"/>
    <p:sldId id="294" r:id="rId5"/>
    <p:sldId id="292" r:id="rId6"/>
    <p:sldId id="289" r:id="rId7"/>
    <p:sldId id="309" r:id="rId8"/>
    <p:sldId id="312" r:id="rId9"/>
    <p:sldId id="313" r:id="rId10"/>
    <p:sldId id="314" r:id="rId11"/>
    <p:sldId id="315" r:id="rId12"/>
    <p:sldId id="282" r:id="rId13"/>
    <p:sldId id="267" r:id="rId14"/>
    <p:sldId id="273" r:id="rId15"/>
    <p:sldId id="302" r:id="rId16"/>
    <p:sldId id="311" r:id="rId17"/>
    <p:sldId id="310" r:id="rId18"/>
    <p:sldId id="295" r:id="rId19"/>
    <p:sldId id="296" r:id="rId20"/>
    <p:sldId id="304" r:id="rId21"/>
    <p:sldId id="305" r:id="rId22"/>
    <p:sldId id="303" r:id="rId23"/>
    <p:sldId id="297" r:id="rId24"/>
    <p:sldId id="298" r:id="rId25"/>
    <p:sldId id="299" r:id="rId26"/>
    <p:sldId id="293" r:id="rId27"/>
    <p:sldId id="300" r:id="rId28"/>
    <p:sldId id="308" r:id="rId29"/>
    <p:sldId id="306" r:id="rId30"/>
    <p:sldId id="307" r:id="rId31"/>
  </p:sldIdLst>
  <p:sldSz cx="3095625" cy="1944688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E41"/>
    <a:srgbClr val="0A2165"/>
    <a:srgbClr val="EDD67D"/>
    <a:srgbClr val="DDE8FF"/>
    <a:srgbClr val="F8F8F8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8" autoAdjust="0"/>
    <p:restoredTop sz="84626" autoAdjust="0"/>
  </p:normalViewPr>
  <p:slideViewPr>
    <p:cSldViewPr snapToGrid="0">
      <p:cViewPr>
        <p:scale>
          <a:sx n="140" d="100"/>
          <a:sy n="140" d="100"/>
        </p:scale>
        <p:origin x="3144" y="1640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534" y="3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r">
              <a:defRPr sz="1200"/>
            </a:lvl1pPr>
          </a:lstStyle>
          <a:p>
            <a:fld id="{DFB49DE1-FB4B-4CFB-9A42-CC282F575BDD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243013"/>
            <a:ext cx="53371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69" tIns="45285" rIns="90569" bIns="4528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1037" y="4783799"/>
            <a:ext cx="5445132" cy="3912728"/>
          </a:xfrm>
          <a:prstGeom prst="rect">
            <a:avLst/>
          </a:prstGeom>
        </p:spPr>
        <p:txBody>
          <a:bodyPr vert="horz" lIns="90569" tIns="45285" rIns="90569" bIns="4528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441587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534" y="9441587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r">
              <a:defRPr sz="12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396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133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141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355D5-6E45-E250-C7A4-9094C6B91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5470E89-31A3-9644-B826-429FF67E7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E27A81-DEE8-363F-D330-CA2BFF5F6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B3AE24-A31E-1814-A4D8-B8237B873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9755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0A34E-1DCB-1B4E-91D8-5C181C015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E81FED0-EF5E-E390-3065-EABDE0773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56D43B1-EABA-FEE0-B5E2-CE7813F57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2DF148-F322-CA89-0FC3-89697DBED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73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6E1D-1B59-B7BA-36C6-48B7CED8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9D0EA3-8C0A-0911-A25C-96B298AED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03388" y="1233488"/>
            <a:ext cx="3328987" cy="33289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3920C14-5DA0-B09C-C647-024DC91EE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781DA7-6936-A6C0-3C6E-2EBE672CB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25312-0CD4-41D7-B611-4C7C7889E2AB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5653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BACC-A078-0450-C151-5E74BE3F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E2F9DF3-1266-2471-31D5-5F9FACF5E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03388" y="1233488"/>
            <a:ext cx="3328987" cy="33289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10942BC-98AF-41DA-EFA8-476DA2EFD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D0D3A1-99D3-773D-90E2-41359DB53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25312-0CD4-41D7-B611-4C7C7889E2AB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041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E20F-4146-7796-9071-4AAE446D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F42B6B3-742C-1E41-A768-4AD2D6CF5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114145B-1ED4-49E3-EA1A-A8710B778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13E701-7181-5A0F-4EA3-5F1B0BDAF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19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12.png"/><Relationship Id="rId4" Type="http://schemas.openxmlformats.org/officeDocument/2006/relationships/image" Target="../media/image13.sv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E5EC-D7B9-36E5-7432-42D30A2D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92343FD-0EB9-08D3-FBC0-0C1AF2951523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1DCF857-8EF4-045F-ADE8-D865871F5FC7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FA6EE2EC-A8EF-405D-F735-86580F688EF8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B7DA2B74-79D6-F313-282A-7D2E92D4B4EF}"/>
                </a:ext>
              </a:extLst>
            </p:cNvPr>
            <p:cNvSpPr/>
            <p:nvPr/>
          </p:nvSpPr>
          <p:spPr>
            <a:xfrm>
              <a:off x="1844455" y="2805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kumimoji="1" lang="ja-JP" altLang="en-US" sz="14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😍の気持ち</a:t>
              </a:r>
              <a:endParaRPr kumimoji="1" lang="ja-JP" altLang="en-US" sz="14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CEFB9CFE-31BC-CAAB-63CA-950861A145E5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A1DCAF88-BE9F-2DEB-BC8E-5BC0C2623550}"/>
                </a:ext>
              </a:extLst>
            </p:cNvPr>
            <p:cNvSpPr/>
            <p:nvPr/>
          </p:nvSpPr>
          <p:spPr>
            <a:xfrm>
              <a:off x="1803463" y="58522"/>
              <a:ext cx="1235326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【</a:t>
              </a:r>
              <a:r>
                <a:rPr kumimoji="1" lang="ja-JP" altLang="en-US" sz="8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名刺代わりに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】</a:t>
              </a:r>
            </a:p>
            <a:p>
              <a:pPr algn="ctr"/>
              <a:r>
                <a:rPr kumimoji="1" lang="en-US" altLang="ja-JP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ASSET TRANFER TOKEN CARD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D49D5D0-2E10-639C-CCB0-FA253806E661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00C1C43-B545-E4DB-1705-C22D9C663C4B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223C5ED4-C5DD-7ADB-DB57-E5351902D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  <p:pic>
        <p:nvPicPr>
          <p:cNvPr id="6" name="図 5">
            <a:extLst>
              <a:ext uri="{FF2B5EF4-FFF2-40B4-BE49-F238E27FC236}">
                <a16:creationId xmlns:a16="http://schemas.microsoft.com/office/drawing/2014/main" id="{013BA4B8-8C76-ED46-80E3-4BC9D30403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240" b="-138"/>
          <a:stretch>
            <a:fillRect/>
          </a:stretch>
        </p:blipFill>
        <p:spPr>
          <a:xfrm>
            <a:off x="0" y="-1"/>
            <a:ext cx="1732024" cy="52739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BD899C4-6B24-26CC-2CCA-9666928F9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8" y="600764"/>
            <a:ext cx="1504148" cy="111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2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A3011-6E5F-4783-D771-8CDD8706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CC1FDE5-4CC8-50CA-14BD-5E05A2EB1261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E66419D-AC58-22D1-7567-64BD2942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766" y="-9777"/>
            <a:ext cx="3216491" cy="1962794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0DF22A2-F7B1-338D-C241-2FADFCBE62D2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・紛失された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、あらかじめ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ご了承ください。</a:t>
            </a:r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0CB001B-D299-3D26-1BF1-9D58624A2085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75F45D2-FD8A-550E-AB35-8C213DBF9756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0A15767-C3E7-82F4-47AB-0DD82FCB80D0}"/>
              </a:ext>
            </a:extLst>
          </p:cNvPr>
          <p:cNvSpPr/>
          <p:nvPr/>
        </p:nvSpPr>
        <p:spPr>
          <a:xfrm>
            <a:off x="120651" y="1408325"/>
            <a:ext cx="2869760" cy="302565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9BF198E-2F79-3E15-F52D-758E1BC8FE02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ln w="0">
                  <a:noFill/>
                </a:ln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ln w="0">
                <a:noFill/>
              </a:ln>
              <a:solidFill>
                <a:schemeClr val="bg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96A2507-E802-28F6-DE1A-0A0F70556E16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2030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6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1D0E5B9-B56A-E786-FDAE-ACE6EB7DF95D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86729A1-76BD-382C-5252-682A3BEBC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2" y="179381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4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64A7A-4BDD-02AE-5616-FFB6F7D8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3B2F579-198F-AC1F-0355-A0A0177EF9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6E71F23-095B-FFD8-F8CE-99A23CC29ACA}"/>
              </a:ext>
            </a:extLst>
          </p:cNvPr>
          <p:cNvSpPr/>
          <p:nvPr/>
        </p:nvSpPr>
        <p:spPr>
          <a:xfrm rot="10800000">
            <a:off x="1" y="-11088"/>
            <a:ext cx="3095622" cy="1966861"/>
          </a:xfrm>
          <a:prstGeom prst="roundRect">
            <a:avLst>
              <a:gd name="adj" fmla="val 0"/>
            </a:avLst>
          </a:prstGeom>
          <a:gradFill flip="none" rotWithShape="1">
            <a:gsLst>
              <a:gs pos="75000">
                <a:srgbClr val="FFFFFF"/>
              </a:gs>
              <a:gs pos="77000">
                <a:schemeClr val="bg1">
                  <a:alpha val="0"/>
                </a:schemeClr>
              </a:gs>
              <a:gs pos="30000">
                <a:srgbClr val="FFFFFF"/>
              </a:gs>
              <a:gs pos="28000">
                <a:schemeClr val="bg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15732C7-D4C0-8C73-B721-1252E290F0F6}"/>
              </a:ext>
            </a:extLst>
          </p:cNvPr>
          <p:cNvSpPr/>
          <p:nvPr/>
        </p:nvSpPr>
        <p:spPr>
          <a:xfrm rot="20404139">
            <a:off x="160581" y="595576"/>
            <a:ext cx="1147201" cy="1178209"/>
          </a:xfrm>
          <a:prstGeom prst="roundRect">
            <a:avLst>
              <a:gd name="adj" fmla="val 6665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2400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933FBF3-EA9C-0929-8EAF-3F1AFF59C544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E6D3EC6-84B8-D57C-4C90-B510BFC37C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 rot="20365413">
            <a:off x="1399676" y="306587"/>
            <a:ext cx="1548181" cy="612404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2084BA-2306-4635-6044-31F6A5F041D1}"/>
              </a:ext>
            </a:extLst>
          </p:cNvPr>
          <p:cNvSpPr txBox="1"/>
          <p:nvPr/>
        </p:nvSpPr>
        <p:spPr>
          <a:xfrm rot="20405706">
            <a:off x="1443962" y="891576"/>
            <a:ext cx="1670112" cy="184666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rgbClr val="0A2165"/>
                </a:solidFill>
                <a:effectLst>
                  <a:outerShdw blurRad="381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49DA2D8-233C-FBAD-37C4-ED56A0DD58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30" b="1909"/>
          <a:stretch>
            <a:fillRect/>
          </a:stretch>
        </p:blipFill>
        <p:spPr>
          <a:xfrm rot="20360987">
            <a:off x="254326" y="556686"/>
            <a:ext cx="1193744" cy="1184652"/>
          </a:xfrm>
          <a:prstGeom prst="rect">
            <a:avLst/>
          </a:prstGeom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20575370-34B6-6391-A513-958A65AA565F}"/>
              </a:ext>
            </a:extLst>
          </p:cNvPr>
          <p:cNvSpPr/>
          <p:nvPr/>
        </p:nvSpPr>
        <p:spPr>
          <a:xfrm rot="20378676">
            <a:off x="141844" y="45357"/>
            <a:ext cx="617537" cy="495569"/>
          </a:xfrm>
          <a:prstGeom prst="roundRect">
            <a:avLst>
              <a:gd name="adj" fmla="val 6665"/>
            </a:avLst>
          </a:prstGeom>
          <a:noFill/>
          <a:ln>
            <a:noFill/>
          </a:ln>
          <a:effectLst>
            <a:outerShdw blurRad="88900" dist="76200" dir="60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36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</a:t>
            </a:r>
          </a:p>
        </p:txBody>
      </p:sp>
    </p:spTree>
    <p:extLst>
      <p:ext uri="{BB962C8B-B14F-4D97-AF65-F5344CB8AC3E}">
        <p14:creationId xmlns:p14="http://schemas.microsoft.com/office/powerpoint/2010/main" val="323355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D156-FC15-C326-5CF0-1192C34E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FC23072D-CB6F-E02B-1E8D-02CE57A6E7B3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2E9C5F5-179C-0293-485E-952B954ACE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574" r="1184" b="923"/>
          <a:stretch>
            <a:fillRect/>
          </a:stretch>
        </p:blipFill>
        <p:spPr>
          <a:xfrm>
            <a:off x="-2" y="1"/>
            <a:ext cx="3095626" cy="1944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27EF410-4621-32FB-3820-DC76B7419E43}"/>
              </a:ext>
            </a:extLst>
          </p:cNvPr>
          <p:cNvSpPr/>
          <p:nvPr/>
        </p:nvSpPr>
        <p:spPr>
          <a:xfrm>
            <a:off x="-4" y="0"/>
            <a:ext cx="3095628" cy="19558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79000">
                <a:srgbClr val="0A2165">
                  <a:alpha val="0"/>
                </a:srgbClr>
              </a:gs>
              <a:gs pos="20000">
                <a:srgbClr val="0A2165">
                  <a:alpha val="0"/>
                </a:srgbClr>
              </a:gs>
              <a:gs pos="0">
                <a:srgbClr val="0A2165"/>
              </a:gs>
              <a:gs pos="100000">
                <a:srgbClr val="0A2165"/>
              </a:gs>
            </a:gsLst>
            <a:lin ang="5400000" scaled="0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C4ECBCE-0B31-1DC5-3C25-38B920CA4FB9}"/>
              </a:ext>
            </a:extLst>
          </p:cNvPr>
          <p:cNvSpPr/>
          <p:nvPr/>
        </p:nvSpPr>
        <p:spPr>
          <a:xfrm>
            <a:off x="208674" y="285516"/>
            <a:ext cx="2720550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本カードの再発行はできません。また、破損・紛失された場合、使用期限を過ぎた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場合などは、お品ものをご提供できなくなりますので、あらかじめご了承ください。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9BE42A4-D4B2-75AB-3560-C265ADFE2BEB}"/>
              </a:ext>
            </a:extLst>
          </p:cNvPr>
          <p:cNvSpPr/>
          <p:nvPr/>
        </p:nvSpPr>
        <p:spPr>
          <a:xfrm>
            <a:off x="288275" y="587658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603BA09-68E7-D3CF-8697-82ACB3A3E166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A4CEE51-62A5-8011-9ADD-1231B5C373BE}"/>
              </a:ext>
            </a:extLst>
          </p:cNvPr>
          <p:cNvSpPr/>
          <p:nvPr/>
        </p:nvSpPr>
        <p:spPr>
          <a:xfrm>
            <a:off x="208674" y="1173389"/>
            <a:ext cx="2720550" cy="469554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720A70F-A6E3-D01A-683B-00F967DF7B8B}"/>
              </a:ext>
            </a:extLst>
          </p:cNvPr>
          <p:cNvSpPr/>
          <p:nvPr/>
        </p:nvSpPr>
        <p:spPr>
          <a:xfrm>
            <a:off x="288275" y="1687662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>
            <a:outerShdw dir="120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AUIC</a:t>
            </a:r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が提供しています。</a:t>
            </a:r>
            <a:endParaRPr kumimoji="1" lang="en-US" altLang="ja-JP" sz="600" b="1" dirty="0">
              <a:ln w="1270" cap="rnd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38100" dist="63500" dir="4800000" algn="ctr" rotWithShape="0">
                  <a:schemeClr val="tx1"/>
                </a:outerShdw>
              </a:effectLst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5718DF2-690E-A07E-0553-0C66C464ED8A}"/>
              </a:ext>
            </a:extLst>
          </p:cNvPr>
          <p:cNvSpPr/>
          <p:nvPr/>
        </p:nvSpPr>
        <p:spPr>
          <a:xfrm>
            <a:off x="187536" y="305537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［使用期限：出会いの思い出は永遠に］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BB8DBFEF-C886-3CD9-680B-645039555D63}"/>
              </a:ext>
            </a:extLst>
          </p:cNvPr>
          <p:cNvSpPr/>
          <p:nvPr/>
        </p:nvSpPr>
        <p:spPr>
          <a:xfrm>
            <a:off x="1051979" y="584400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b="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74F3CE9F-1736-A615-D738-F8CF7041BD20}"/>
              </a:ext>
            </a:extLst>
          </p:cNvPr>
          <p:cNvGrpSpPr/>
          <p:nvPr/>
        </p:nvGrpSpPr>
        <p:grpSpPr>
          <a:xfrm>
            <a:off x="291449" y="1698146"/>
            <a:ext cx="97256" cy="97256"/>
            <a:chOff x="269902" y="1678135"/>
            <a:chExt cx="97256" cy="9725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0FD623D2-A932-7D17-0BCD-6A2C0E64F4B2}"/>
                </a:ext>
              </a:extLst>
            </p:cNvPr>
            <p:cNvSpPr/>
            <p:nvPr/>
          </p:nvSpPr>
          <p:spPr>
            <a:xfrm>
              <a:off x="269903" y="1678136"/>
              <a:ext cx="97255" cy="97255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893FB142-31B8-9D39-E84E-3A8E79CEB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02" y="1678135"/>
              <a:ext cx="97255" cy="9725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C7C928E-578F-3D99-C328-494528B8B2D6}"/>
              </a:ext>
            </a:extLst>
          </p:cNvPr>
          <p:cNvSpPr/>
          <p:nvPr/>
        </p:nvSpPr>
        <p:spPr>
          <a:xfrm>
            <a:off x="158304" y="131611"/>
            <a:ext cx="2821289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>
            <a:outerShdw dir="120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Meiryo UI" panose="020B0604030504040204" pitchFamily="34" charset="-128"/>
                <a:ea typeface="UD デジタル 教科書体 NP" panose="02020400000000000000" pitchFamily="18" charset="-128"/>
              </a:rPr>
              <a:t>とけない、われない、かさばらない！　カードで送る新習慣＠名刺代わりに</a:t>
            </a:r>
          </a:p>
        </p:txBody>
      </p:sp>
    </p:spTree>
    <p:extLst>
      <p:ext uri="{BB962C8B-B14F-4D97-AF65-F5344CB8AC3E}">
        <p14:creationId xmlns:p14="http://schemas.microsoft.com/office/powerpoint/2010/main" val="283176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770F4-E164-EA2C-F67D-8AD67140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参考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C7B347-A1EF-EB28-5E45-3FD500163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06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2B67-2104-CC64-72AB-009C219D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4394BD5-4065-C5AE-FDE1-C7D7A1D2311D}"/>
              </a:ext>
            </a:extLst>
          </p:cNvPr>
          <p:cNvSpPr/>
          <p:nvPr/>
        </p:nvSpPr>
        <p:spPr>
          <a:xfrm>
            <a:off x="0" y="0"/>
            <a:ext cx="3095625" cy="19446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773B568-B3D6-FAF7-4278-03B65AA83324}"/>
              </a:ext>
            </a:extLst>
          </p:cNvPr>
          <p:cNvSpPr/>
          <p:nvPr/>
        </p:nvSpPr>
        <p:spPr>
          <a:xfrm>
            <a:off x="1" y="5075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F57D301-21E5-5B8B-1793-663A0E25C55C}"/>
              </a:ext>
            </a:extLst>
          </p:cNvPr>
          <p:cNvGrpSpPr/>
          <p:nvPr/>
        </p:nvGrpSpPr>
        <p:grpSpPr>
          <a:xfrm>
            <a:off x="-2912035" y="1432899"/>
            <a:ext cx="1781026" cy="1777008"/>
            <a:chOff x="4761" y="0"/>
            <a:chExt cx="1944000" cy="1944687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A356266D-B8E0-24F8-A58A-17BEA7001497}"/>
                </a:ext>
              </a:extLst>
            </p:cNvPr>
            <p:cNvSpPr/>
            <p:nvPr/>
          </p:nvSpPr>
          <p:spPr>
            <a:xfrm>
              <a:off x="4761" y="0"/>
              <a:ext cx="1944000" cy="1944687"/>
            </a:xfrm>
            <a:prstGeom prst="roundRect">
              <a:avLst>
                <a:gd name="adj" fmla="val 8828"/>
              </a:avLst>
            </a:prstGeom>
            <a:blipFill>
              <a:blip r:embed="rId2"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4432C75C-BC64-373F-4D11-ADDFA62EC4C7}"/>
                </a:ext>
              </a:extLst>
            </p:cNvPr>
            <p:cNvGrpSpPr/>
            <p:nvPr/>
          </p:nvGrpSpPr>
          <p:grpSpPr>
            <a:xfrm>
              <a:off x="311866" y="138682"/>
              <a:ext cx="1329789" cy="1662236"/>
              <a:chOff x="324896" y="199586"/>
              <a:chExt cx="1294896" cy="1618620"/>
            </a:xfrm>
          </p:grpSpPr>
          <p:sp>
            <p:nvSpPr>
              <p:cNvPr id="14" name="四角形: 角を丸くする 13">
                <a:extLst>
                  <a:ext uri="{FF2B5EF4-FFF2-40B4-BE49-F238E27FC236}">
                    <a16:creationId xmlns:a16="http://schemas.microsoft.com/office/drawing/2014/main" id="{882CCC63-3482-E9D7-914E-7C5251392B33}"/>
                  </a:ext>
                </a:extLst>
              </p:cNvPr>
              <p:cNvSpPr/>
              <p:nvPr/>
            </p:nvSpPr>
            <p:spPr>
              <a:xfrm>
                <a:off x="324896" y="199586"/>
                <a:ext cx="1294896" cy="1618620"/>
              </a:xfrm>
              <a:prstGeom prst="roundRect">
                <a:avLst>
                  <a:gd name="adj" fmla="val 17073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21" name="図 20" descr="ロゴ が含まれている画像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B796058B-89F0-9799-1E85-0E33B69AE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5" t="9650" r="4370" b="12728"/>
              <a:stretch>
                <a:fillRect/>
              </a:stretch>
            </p:blipFill>
            <p:spPr>
              <a:xfrm>
                <a:off x="471089" y="268171"/>
                <a:ext cx="1002507" cy="282809"/>
              </a:xfrm>
              <a:prstGeom prst="rect">
                <a:avLst/>
              </a:prstGeom>
            </p:spPr>
          </p:pic>
        </p:grpSp>
      </p:grp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8C970144-9609-3024-3E60-C1066BBC7D64}"/>
              </a:ext>
            </a:extLst>
          </p:cNvPr>
          <p:cNvSpPr/>
          <p:nvPr/>
        </p:nvSpPr>
        <p:spPr>
          <a:xfrm>
            <a:off x="3401446" y="285399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ありがとう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EC586F6-793A-4C54-DA10-3B4A26BF0719}"/>
              </a:ext>
            </a:extLst>
          </p:cNvPr>
          <p:cNvSpPr/>
          <p:nvPr/>
        </p:nvSpPr>
        <p:spPr>
          <a:xfrm>
            <a:off x="215108" y="1793323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FD014A6-A756-149E-E1CF-B1652474A8DD}"/>
              </a:ext>
            </a:extLst>
          </p:cNvPr>
          <p:cNvSpPr/>
          <p:nvPr/>
        </p:nvSpPr>
        <p:spPr>
          <a:xfrm>
            <a:off x="3484101" y="101340"/>
            <a:ext cx="988031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</a:t>
            </a:r>
            <a:endParaRPr kumimoji="1" lang="en-US" altLang="ja-JP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F3C24CB-7487-F11A-D0E5-BB3AF3E1EA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20" t="7121" r="1745" b="7495"/>
          <a:stretch>
            <a:fillRect/>
          </a:stretch>
        </p:blipFill>
        <p:spPr>
          <a:xfrm>
            <a:off x="-1933864" y="-36576"/>
            <a:ext cx="802855" cy="22867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38A50BE-EC26-6CC7-293A-D60EB264CC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97" t="7506" r="1547" b="6238"/>
          <a:stretch>
            <a:fillRect/>
          </a:stretch>
        </p:blipFill>
        <p:spPr>
          <a:xfrm>
            <a:off x="64420" y="25036"/>
            <a:ext cx="2793782" cy="898246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C509106-D2CD-8961-4B07-A4C723F46777}"/>
              </a:ext>
            </a:extLst>
          </p:cNvPr>
          <p:cNvGrpSpPr/>
          <p:nvPr/>
        </p:nvGrpSpPr>
        <p:grpSpPr>
          <a:xfrm>
            <a:off x="3893185" y="-462431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C4A5E4F1-7C7C-6FA2-8A74-53EEB19C1658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7E6DFBA-8BD9-FD59-E499-1D11269B7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  <p:pic>
        <p:nvPicPr>
          <p:cNvPr id="9" name="図 8">
            <a:extLst>
              <a:ext uri="{FF2B5EF4-FFF2-40B4-BE49-F238E27FC236}">
                <a16:creationId xmlns:a16="http://schemas.microsoft.com/office/drawing/2014/main" id="{6B073DE8-61D3-AA07-CC7A-523AE3D50A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9"/>
          <a:stretch>
            <a:fillRect/>
          </a:stretch>
        </p:blipFill>
        <p:spPr>
          <a:xfrm>
            <a:off x="3444665" y="1659289"/>
            <a:ext cx="1689071" cy="110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4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4BC7-E6E0-2576-1D09-70140BEE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F0A789F-0A8C-C429-FC11-C9D51C5CD2C4}"/>
              </a:ext>
            </a:extLst>
          </p:cNvPr>
          <p:cNvSpPr/>
          <p:nvPr/>
        </p:nvSpPr>
        <p:spPr>
          <a:xfrm>
            <a:off x="-2" y="-1"/>
            <a:ext cx="3095625" cy="19446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627A3B8-A111-ADC4-A488-BFDA41EA1177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FF352AF-7F7E-C2F1-A226-25B2436928A7}"/>
              </a:ext>
            </a:extLst>
          </p:cNvPr>
          <p:cNvSpPr/>
          <p:nvPr/>
        </p:nvSpPr>
        <p:spPr>
          <a:xfrm>
            <a:off x="26424" y="35311"/>
            <a:ext cx="1781026" cy="1777008"/>
          </a:xfrm>
          <a:prstGeom prst="roundRect">
            <a:avLst>
              <a:gd name="adj" fmla="val 8828"/>
            </a:avLst>
          </a:prstGeom>
          <a:blipFill>
            <a:blip r:embed="rId2"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68359C4-B7D2-DC20-9DD8-59B0247DDC47}"/>
              </a:ext>
            </a:extLst>
          </p:cNvPr>
          <p:cNvSpPr/>
          <p:nvPr/>
        </p:nvSpPr>
        <p:spPr>
          <a:xfrm>
            <a:off x="215106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9937F0E-B0B0-8360-EFF2-B3EB3AA6CD24}"/>
              </a:ext>
            </a:extLst>
          </p:cNvPr>
          <p:cNvGrpSpPr/>
          <p:nvPr/>
        </p:nvGrpSpPr>
        <p:grpSpPr>
          <a:xfrm>
            <a:off x="1807450" y="561071"/>
            <a:ext cx="1240552" cy="1240552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734C7FBF-8FA7-E021-8F01-889BFA6D5CDD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EC5426F3-CED7-28E9-8AA4-898E214B3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CE61D6A5-AC35-6D61-AC58-C49B9342BB1D}"/>
              </a:ext>
            </a:extLst>
          </p:cNvPr>
          <p:cNvGrpSpPr/>
          <p:nvPr/>
        </p:nvGrpSpPr>
        <p:grpSpPr>
          <a:xfrm>
            <a:off x="215106" y="239791"/>
            <a:ext cx="1409741" cy="1409740"/>
            <a:chOff x="168332" y="190081"/>
            <a:chExt cx="1495641" cy="1495640"/>
          </a:xfrm>
        </p:grpSpPr>
        <p:sp>
          <p:nvSpPr>
            <p:cNvPr id="6" name="四角形: 角を丸くする 28">
              <a:extLst>
                <a:ext uri="{FF2B5EF4-FFF2-40B4-BE49-F238E27FC236}">
                  <a16:creationId xmlns:a16="http://schemas.microsoft.com/office/drawing/2014/main" id="{DBAE3BD3-57E1-83A0-AB7B-6B1DB98730B4}"/>
                </a:ext>
              </a:extLst>
            </p:cNvPr>
            <p:cNvSpPr/>
            <p:nvPr/>
          </p:nvSpPr>
          <p:spPr>
            <a:xfrm>
              <a:off x="168333" y="190081"/>
              <a:ext cx="1495640" cy="1495640"/>
            </a:xfrm>
            <a:prstGeom prst="roundRect">
              <a:avLst>
                <a:gd name="adj" fmla="val 633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8" dirty="0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F3756ECC-C44D-F3A7-511B-EC9F5EAD7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8997" y="262858"/>
              <a:ext cx="1232438" cy="440363"/>
            </a:xfrm>
            <a:prstGeom prst="rect">
              <a:avLst/>
            </a:prstGeom>
          </p:spPr>
        </p:pic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887381FA-6520-713D-DC31-478B74899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39"/>
            <a:stretch>
              <a:fillRect/>
            </a:stretch>
          </p:blipFill>
          <p:spPr>
            <a:xfrm>
              <a:off x="168332" y="702748"/>
              <a:ext cx="1433769" cy="934169"/>
            </a:xfrm>
            <a:prstGeom prst="rect">
              <a:avLst/>
            </a:prstGeom>
          </p:spPr>
        </p:pic>
      </p:grpSp>
      <p:pic>
        <p:nvPicPr>
          <p:cNvPr id="20" name="図 19">
            <a:extLst>
              <a:ext uri="{FF2B5EF4-FFF2-40B4-BE49-F238E27FC236}">
                <a16:creationId xmlns:a16="http://schemas.microsoft.com/office/drawing/2014/main" id="{72DBB59E-E700-5BF4-175D-A17186D0EE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0" t="7121" r="1745" b="7495"/>
          <a:stretch>
            <a:fillRect/>
          </a:stretch>
        </p:blipFill>
        <p:spPr>
          <a:xfrm>
            <a:off x="2042291" y="120473"/>
            <a:ext cx="708714" cy="201863"/>
          </a:xfrm>
          <a:prstGeom prst="rect">
            <a:avLst/>
          </a:prstGeom>
        </p:spPr>
      </p:pic>
      <p:sp>
        <p:nvSpPr>
          <p:cNvPr id="23" name="TextBox 10">
            <a:extLst>
              <a:ext uri="{FF2B5EF4-FFF2-40B4-BE49-F238E27FC236}">
                <a16:creationId xmlns:a16="http://schemas.microsoft.com/office/drawing/2014/main" id="{1D649B05-EC6B-B912-8B62-9B5F14E3C40A}"/>
              </a:ext>
            </a:extLst>
          </p:cNvPr>
          <p:cNvSpPr txBox="1"/>
          <p:nvPr/>
        </p:nvSpPr>
        <p:spPr>
          <a:xfrm>
            <a:off x="1756199" y="328048"/>
            <a:ext cx="1300692" cy="221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 eaLnBrk="0" hangingPunct="0"/>
            <a:r>
              <a:rPr 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   ～</a:t>
            </a:r>
            <a:r>
              <a:rPr lang="ja-JP" alt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遠隔医療がつなぎ、</a:t>
            </a:r>
            <a:br>
              <a:rPr lang="en-US" altLang="ja-JP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</a:br>
            <a:r>
              <a:rPr lang="ja-JP" alt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　　　　支える地域医療を目指す</a:t>
            </a:r>
            <a:r>
              <a:rPr 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～</a:t>
            </a:r>
          </a:p>
        </p:txBody>
      </p:sp>
    </p:spTree>
    <p:extLst>
      <p:ext uri="{BB962C8B-B14F-4D97-AF65-F5344CB8AC3E}">
        <p14:creationId xmlns:p14="http://schemas.microsoft.com/office/powerpoint/2010/main" val="1788842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6612D-5ADB-C088-DACE-27701E73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AAA34F6-AF2C-5094-E022-2317C89B8595}"/>
              </a:ext>
            </a:extLst>
          </p:cNvPr>
          <p:cNvSpPr/>
          <p:nvPr/>
        </p:nvSpPr>
        <p:spPr>
          <a:xfrm>
            <a:off x="-2" y="-1"/>
            <a:ext cx="3095625" cy="19446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5B16368-2014-D5E2-6040-BD2EA375C36A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CD3F7E5-2061-0A61-C31F-CD74EC2437B4}"/>
              </a:ext>
            </a:extLst>
          </p:cNvPr>
          <p:cNvSpPr/>
          <p:nvPr/>
        </p:nvSpPr>
        <p:spPr>
          <a:xfrm>
            <a:off x="26424" y="35311"/>
            <a:ext cx="1781026" cy="1777008"/>
          </a:xfrm>
          <a:prstGeom prst="roundRect">
            <a:avLst>
              <a:gd name="adj" fmla="val 8828"/>
            </a:avLst>
          </a:prstGeom>
          <a:blipFill>
            <a:blip r:embed="rId2"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4" name="四角形: 角を丸くする 28">
            <a:extLst>
              <a:ext uri="{FF2B5EF4-FFF2-40B4-BE49-F238E27FC236}">
                <a16:creationId xmlns:a16="http://schemas.microsoft.com/office/drawing/2014/main" id="{70CB0412-39A1-C609-942E-AEFA2DECCF04}"/>
              </a:ext>
            </a:extLst>
          </p:cNvPr>
          <p:cNvSpPr/>
          <p:nvPr/>
        </p:nvSpPr>
        <p:spPr>
          <a:xfrm>
            <a:off x="212067" y="276554"/>
            <a:ext cx="1409740" cy="1409740"/>
          </a:xfrm>
          <a:prstGeom prst="roundRect">
            <a:avLst>
              <a:gd name="adj" fmla="val 63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E979AB7-C6AB-75CD-C08B-2ED538E87A92}"/>
              </a:ext>
            </a:extLst>
          </p:cNvPr>
          <p:cNvSpPr/>
          <p:nvPr/>
        </p:nvSpPr>
        <p:spPr>
          <a:xfrm>
            <a:off x="215106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81FDDFD-46C1-3742-8AB2-FE7118E6994A}"/>
              </a:ext>
            </a:extLst>
          </p:cNvPr>
          <p:cNvGrpSpPr/>
          <p:nvPr/>
        </p:nvGrpSpPr>
        <p:grpSpPr>
          <a:xfrm>
            <a:off x="1807450" y="561071"/>
            <a:ext cx="1240552" cy="1240552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37B86925-7599-FE92-8A71-B5BEF1EA4039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96DE5D72-5C62-078F-3C7A-71B7B6308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4D9E872-29A7-3C01-8DC6-E37B469FC576}"/>
              </a:ext>
            </a:extLst>
          </p:cNvPr>
          <p:cNvGrpSpPr/>
          <p:nvPr/>
        </p:nvGrpSpPr>
        <p:grpSpPr>
          <a:xfrm>
            <a:off x="-2528094" y="756900"/>
            <a:ext cx="1409741" cy="1409740"/>
            <a:chOff x="168332" y="190081"/>
            <a:chExt cx="1495641" cy="1495640"/>
          </a:xfrm>
        </p:grpSpPr>
        <p:sp>
          <p:nvSpPr>
            <p:cNvPr id="6" name="四角形: 角を丸くする 28">
              <a:extLst>
                <a:ext uri="{FF2B5EF4-FFF2-40B4-BE49-F238E27FC236}">
                  <a16:creationId xmlns:a16="http://schemas.microsoft.com/office/drawing/2014/main" id="{5EFDDA98-E6EF-7532-608E-7145A0E053B7}"/>
                </a:ext>
              </a:extLst>
            </p:cNvPr>
            <p:cNvSpPr/>
            <p:nvPr/>
          </p:nvSpPr>
          <p:spPr>
            <a:xfrm>
              <a:off x="168333" y="190081"/>
              <a:ext cx="1495640" cy="1495640"/>
            </a:xfrm>
            <a:prstGeom prst="roundRect">
              <a:avLst>
                <a:gd name="adj" fmla="val 633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8" dirty="0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B5075FBE-99F4-54F7-8755-D37AA78A7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8268" y="378361"/>
              <a:ext cx="1232438" cy="440363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163863B-DC3E-19E1-9702-86119F70B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080" y="380267"/>
              <a:ext cx="1232438" cy="440363"/>
            </a:xfrm>
            <a:prstGeom prst="rect">
              <a:avLst/>
            </a:prstGeom>
          </p:spPr>
        </p:pic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6E2507D6-93E9-C6FD-3306-77BB911D8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202" y="349764"/>
              <a:ext cx="1232438" cy="440363"/>
            </a:xfrm>
            <a:prstGeom prst="rect">
              <a:avLst/>
            </a:prstGeom>
          </p:spPr>
        </p:pic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539EAE9E-773F-1073-D875-C07F73EF1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39"/>
            <a:stretch>
              <a:fillRect/>
            </a:stretch>
          </p:blipFill>
          <p:spPr>
            <a:xfrm>
              <a:off x="168332" y="702748"/>
              <a:ext cx="1433769" cy="934169"/>
            </a:xfrm>
            <a:prstGeom prst="rect">
              <a:avLst/>
            </a:prstGeom>
          </p:spPr>
        </p:pic>
      </p:grpSp>
      <p:pic>
        <p:nvPicPr>
          <p:cNvPr id="20" name="図 19">
            <a:extLst>
              <a:ext uri="{FF2B5EF4-FFF2-40B4-BE49-F238E27FC236}">
                <a16:creationId xmlns:a16="http://schemas.microsoft.com/office/drawing/2014/main" id="{1CDCDD27-9C4E-A073-563B-1AE05E172A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0" t="7121" r="1745" b="7495"/>
          <a:stretch>
            <a:fillRect/>
          </a:stretch>
        </p:blipFill>
        <p:spPr>
          <a:xfrm>
            <a:off x="1984095" y="106525"/>
            <a:ext cx="708714" cy="201863"/>
          </a:xfrm>
          <a:prstGeom prst="rect">
            <a:avLst/>
          </a:prstGeom>
        </p:spPr>
      </p:pic>
      <p:sp>
        <p:nvSpPr>
          <p:cNvPr id="23" name="TextBox 10">
            <a:extLst>
              <a:ext uri="{FF2B5EF4-FFF2-40B4-BE49-F238E27FC236}">
                <a16:creationId xmlns:a16="http://schemas.microsoft.com/office/drawing/2014/main" id="{F5733BBE-3954-A0BE-900D-E3B5CB268FBB}"/>
              </a:ext>
            </a:extLst>
          </p:cNvPr>
          <p:cNvSpPr txBox="1"/>
          <p:nvPr/>
        </p:nvSpPr>
        <p:spPr>
          <a:xfrm>
            <a:off x="1756199" y="328048"/>
            <a:ext cx="1300692" cy="221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 eaLnBrk="0" hangingPunct="0"/>
            <a:r>
              <a:rPr 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   ～</a:t>
            </a:r>
            <a:r>
              <a:rPr lang="ja-JP" alt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遠隔医療がつなぎ、</a:t>
            </a:r>
            <a:br>
              <a:rPr lang="en-US" altLang="ja-JP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</a:br>
            <a:r>
              <a:rPr lang="ja-JP" alt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　　　　支える地域医療を目指す</a:t>
            </a:r>
            <a:r>
              <a:rPr 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～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337E54C-E637-0475-00FE-314A8802E8B1}"/>
              </a:ext>
            </a:extLst>
          </p:cNvPr>
          <p:cNvSpPr/>
          <p:nvPr/>
        </p:nvSpPr>
        <p:spPr>
          <a:xfrm>
            <a:off x="264142" y="1388442"/>
            <a:ext cx="49753" cy="61710"/>
          </a:xfrm>
          <a:custGeom>
            <a:avLst/>
            <a:gdLst/>
            <a:ahLst/>
            <a:cxnLst/>
            <a:rect l="l" t="t" r="r" b="b"/>
            <a:pathLst>
              <a:path w="111772" h="138632">
                <a:moveTo>
                  <a:pt x="0" y="0"/>
                </a:moveTo>
                <a:lnTo>
                  <a:pt x="111772" y="0"/>
                </a:lnTo>
                <a:lnTo>
                  <a:pt x="111772" y="138632"/>
                </a:lnTo>
                <a:lnTo>
                  <a:pt x="0" y="138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068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Freeform 4">
            <a:extLst>
              <a:ext uri="{FF2B5EF4-FFF2-40B4-BE49-F238E27FC236}">
                <a16:creationId xmlns:a16="http://schemas.microsoft.com/office/drawing/2014/main" id="{488BCC2E-4BCA-B475-8D2C-67622E9444D4}"/>
              </a:ext>
            </a:extLst>
          </p:cNvPr>
          <p:cNvSpPr/>
          <p:nvPr/>
        </p:nvSpPr>
        <p:spPr>
          <a:xfrm>
            <a:off x="266560" y="1498830"/>
            <a:ext cx="50536" cy="50537"/>
          </a:xfrm>
          <a:custGeom>
            <a:avLst/>
            <a:gdLst/>
            <a:ahLst/>
            <a:cxnLst/>
            <a:rect l="l" t="t" r="r" b="b"/>
            <a:pathLst>
              <a:path w="113532" h="113532">
                <a:moveTo>
                  <a:pt x="0" y="0"/>
                </a:moveTo>
                <a:lnTo>
                  <a:pt x="113532" y="0"/>
                </a:lnTo>
                <a:lnTo>
                  <a:pt x="113532" y="113533"/>
                </a:lnTo>
                <a:lnTo>
                  <a:pt x="0" y="113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068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C77ED4B7-49F0-DC93-1008-668AE9C2A0F4}"/>
              </a:ext>
            </a:extLst>
          </p:cNvPr>
          <p:cNvSpPr txBox="1"/>
          <p:nvPr/>
        </p:nvSpPr>
        <p:spPr>
          <a:xfrm>
            <a:off x="339527" y="1393271"/>
            <a:ext cx="1253642" cy="6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"/>
              </a:lnSpc>
            </a:pPr>
            <a:r>
              <a:rPr lang="en-US" sz="480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秋田県秋田市広面字蓮沼44-2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7979C45D-1D8E-7BC6-BD7A-F759A5284A05}"/>
              </a:ext>
            </a:extLst>
          </p:cNvPr>
          <p:cNvSpPr txBox="1"/>
          <p:nvPr/>
        </p:nvSpPr>
        <p:spPr>
          <a:xfrm>
            <a:off x="339828" y="1507567"/>
            <a:ext cx="1096415" cy="7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4"/>
              </a:lnSpc>
            </a:pPr>
            <a:r>
              <a:rPr lang="en-US" sz="660" b="1" dirty="0">
                <a:solidFill>
                  <a:srgbClr val="19191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Lexend Tera"/>
                <a:sym typeface="Lexend Tera"/>
              </a:rPr>
              <a:t>tel. 018-801-7179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F527C0B7-B099-3BF6-68AE-3322F4B12624}"/>
              </a:ext>
            </a:extLst>
          </p:cNvPr>
          <p:cNvSpPr txBox="1"/>
          <p:nvPr/>
        </p:nvSpPr>
        <p:spPr>
          <a:xfrm>
            <a:off x="339527" y="1590042"/>
            <a:ext cx="1302400" cy="64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4"/>
              </a:lnSpc>
            </a:pPr>
            <a:r>
              <a:rPr lang="en-US" sz="60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enkakuiryo@jimu.akita-u.ac.jp</a:t>
            </a:r>
          </a:p>
        </p:txBody>
      </p:sp>
      <p:sp>
        <p:nvSpPr>
          <p:cNvPr id="25" name="Freeform 8">
            <a:extLst>
              <a:ext uri="{FF2B5EF4-FFF2-40B4-BE49-F238E27FC236}">
                <a16:creationId xmlns:a16="http://schemas.microsoft.com/office/drawing/2014/main" id="{D815D91E-9611-C3C6-0E06-B8C1D9E15B70}"/>
              </a:ext>
            </a:extLst>
          </p:cNvPr>
          <p:cNvSpPr/>
          <p:nvPr/>
        </p:nvSpPr>
        <p:spPr>
          <a:xfrm>
            <a:off x="265318" y="1603331"/>
            <a:ext cx="50536" cy="32528"/>
          </a:xfrm>
          <a:custGeom>
            <a:avLst/>
            <a:gdLst/>
            <a:ahLst/>
            <a:cxnLst/>
            <a:rect l="l" t="t" r="r" b="b"/>
            <a:pathLst>
              <a:path w="113532" h="73074">
                <a:moveTo>
                  <a:pt x="0" y="0"/>
                </a:moveTo>
                <a:lnTo>
                  <a:pt x="113532" y="0"/>
                </a:lnTo>
                <a:lnTo>
                  <a:pt x="113532" y="73074"/>
                </a:lnTo>
                <a:lnTo>
                  <a:pt x="0" y="73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068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四角形: 角を丸くする 14">
            <a:extLst>
              <a:ext uri="{FF2B5EF4-FFF2-40B4-BE49-F238E27FC236}">
                <a16:creationId xmlns:a16="http://schemas.microsoft.com/office/drawing/2014/main" id="{75C0C3B8-6D75-4FED-2876-CBFA9E610C9E}"/>
              </a:ext>
            </a:extLst>
          </p:cNvPr>
          <p:cNvSpPr/>
          <p:nvPr/>
        </p:nvSpPr>
        <p:spPr>
          <a:xfrm flipV="1">
            <a:off x="242049" y="739126"/>
            <a:ext cx="1351120" cy="592832"/>
          </a:xfrm>
          <a:prstGeom prst="roundRect">
            <a:avLst>
              <a:gd name="adj" fmla="val 2266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516E754-21AB-4341-C74E-FAE49081302A}"/>
              </a:ext>
            </a:extLst>
          </p:cNvPr>
          <p:cNvSpPr txBox="1"/>
          <p:nvPr/>
        </p:nvSpPr>
        <p:spPr>
          <a:xfrm>
            <a:off x="275202" y="941699"/>
            <a:ext cx="785130" cy="2973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eaLnBrk="0" hangingPunct="0">
              <a:lnSpc>
                <a:spcPts val="840"/>
              </a:lnSpc>
            </a:pPr>
            <a:r>
              <a:rPr kumimoji="1" lang="ja-JP" altLang="en-US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・医療</a:t>
            </a:r>
            <a:r>
              <a:rPr kumimoji="1" lang="en-US" altLang="ja-JP" sz="600" b="1" dirty="0" err="1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MaaS</a:t>
            </a:r>
            <a:r>
              <a:rPr kumimoji="1" lang="ja-JP" altLang="en-US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の受診</a:t>
            </a:r>
            <a:endParaRPr kumimoji="1" lang="en-US" altLang="ja-JP" sz="600" b="1" dirty="0">
              <a:solidFill>
                <a:srgbClr val="EA5506"/>
              </a:solidFill>
              <a:latin typeface="Meiryo UI" panose="020B0604030504040204" pitchFamily="34" charset="-128"/>
              <a:ea typeface="Meiryo UI" panose="020B0604030504040204" pitchFamily="34" charset="-128"/>
              <a:cs typeface="Lexend Tera"/>
              <a:sym typeface="Lexend Tera"/>
            </a:endParaRPr>
          </a:p>
          <a:p>
            <a:pPr eaLnBrk="0" hangingPunct="0">
              <a:lnSpc>
                <a:spcPts val="840"/>
              </a:lnSpc>
            </a:pPr>
            <a:r>
              <a:rPr kumimoji="1" lang="ja-JP" altLang="en-US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・オンライン診療の受診</a:t>
            </a:r>
            <a:endParaRPr kumimoji="1" lang="en-US" altLang="ja-JP" sz="600" b="1" dirty="0">
              <a:solidFill>
                <a:srgbClr val="EA5506"/>
              </a:solidFill>
              <a:latin typeface="Meiryo UI" panose="020B0604030504040204" pitchFamily="34" charset="-128"/>
              <a:ea typeface="Meiryo UI" panose="020B0604030504040204" pitchFamily="34" charset="-128"/>
              <a:cs typeface="Lexend Tera"/>
              <a:sym typeface="Lexend Tera"/>
            </a:endParaRPr>
          </a:p>
          <a:p>
            <a:pPr eaLnBrk="0" hangingPunct="0">
              <a:lnSpc>
                <a:spcPts val="840"/>
              </a:lnSpc>
            </a:pPr>
            <a:r>
              <a:rPr kumimoji="1" lang="ja-JP" altLang="en-US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・受診場所のご相談 等</a:t>
            </a:r>
            <a:endParaRPr kumimoji="1" lang="en-US" altLang="ja-JP" sz="600" b="1" dirty="0">
              <a:solidFill>
                <a:srgbClr val="EA5506"/>
              </a:solidFill>
              <a:latin typeface="Meiryo UI" panose="020B0604030504040204" pitchFamily="34" charset="-128"/>
              <a:ea typeface="Meiryo UI" panose="020B0604030504040204" pitchFamily="34" charset="-128"/>
              <a:cs typeface="Lexend Tera"/>
              <a:sym typeface="Lexend Tera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12DB07C-5D46-DB84-FFC0-6CE631A77A96}"/>
              </a:ext>
            </a:extLst>
          </p:cNvPr>
          <p:cNvSpPr txBox="1"/>
          <p:nvPr/>
        </p:nvSpPr>
        <p:spPr>
          <a:xfrm>
            <a:off x="224556" y="787921"/>
            <a:ext cx="841288" cy="92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ja-JP" altLang="en-US" sz="600" dirty="0"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ご連絡お待ちしてます</a:t>
            </a:r>
            <a:endParaRPr lang="en-US" altLang="ja-JP" sz="600" dirty="0">
              <a:latin typeface="Meiryo UI" panose="020B0604030504040204" pitchFamily="34" charset="-128"/>
              <a:ea typeface="Meiryo UI" panose="020B0604030504040204" pitchFamily="34" charset="-128"/>
              <a:cs typeface="Lexend Tera"/>
              <a:sym typeface="Lexend Tera"/>
            </a:endParaRP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82213352-AEAC-B001-1E20-27D21E1B06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0" t="7121" r="1745" b="7495"/>
          <a:stretch>
            <a:fillRect/>
          </a:stretch>
        </p:blipFill>
        <p:spPr>
          <a:xfrm>
            <a:off x="645200" y="308388"/>
            <a:ext cx="481870" cy="137251"/>
          </a:xfrm>
          <a:prstGeom prst="rect">
            <a:avLst/>
          </a:prstGeom>
        </p:spPr>
      </p:pic>
      <p:sp>
        <p:nvSpPr>
          <p:cNvPr id="33" name="TextBox 10">
            <a:extLst>
              <a:ext uri="{FF2B5EF4-FFF2-40B4-BE49-F238E27FC236}">
                <a16:creationId xmlns:a16="http://schemas.microsoft.com/office/drawing/2014/main" id="{D8084A7B-04CC-49F9-852C-D27A1981D368}"/>
              </a:ext>
            </a:extLst>
          </p:cNvPr>
          <p:cNvSpPr txBox="1"/>
          <p:nvPr/>
        </p:nvSpPr>
        <p:spPr>
          <a:xfrm>
            <a:off x="303708" y="488329"/>
            <a:ext cx="1300692" cy="221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 eaLnBrk="0" hangingPunct="0"/>
            <a:r>
              <a:rPr 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   ～</a:t>
            </a:r>
            <a:r>
              <a:rPr lang="ja-JP" alt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遠隔医療がつなぎ、</a:t>
            </a:r>
            <a:br>
              <a:rPr lang="en-US" altLang="ja-JP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</a:br>
            <a:r>
              <a:rPr lang="ja-JP" alt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　　　　支える地域医療を目指す</a:t>
            </a:r>
            <a:r>
              <a:rPr 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～</a:t>
            </a:r>
          </a:p>
        </p:txBody>
      </p:sp>
    </p:spTree>
    <p:extLst>
      <p:ext uri="{BB962C8B-B14F-4D97-AF65-F5344CB8AC3E}">
        <p14:creationId xmlns:p14="http://schemas.microsoft.com/office/powerpoint/2010/main" val="3581216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CBBC-B5BC-26B2-78FE-386AB63D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933E754-2B15-F6EF-DF62-13B37FFA7D23}"/>
              </a:ext>
            </a:extLst>
          </p:cNvPr>
          <p:cNvSpPr/>
          <p:nvPr/>
        </p:nvSpPr>
        <p:spPr>
          <a:xfrm>
            <a:off x="-1" y="-185977"/>
            <a:ext cx="3095625" cy="19446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19DFA64-8FAF-53D0-ADF9-BA2DBE98D4E8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EC4C396-BBD9-E2E8-CDC9-92ED4B8FFAA1}"/>
              </a:ext>
            </a:extLst>
          </p:cNvPr>
          <p:cNvSpPr/>
          <p:nvPr/>
        </p:nvSpPr>
        <p:spPr>
          <a:xfrm>
            <a:off x="-1" y="578716"/>
            <a:ext cx="3105685" cy="1371045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DA6D76B-5F89-6832-1795-DEE7C4D1CE57}"/>
              </a:ext>
            </a:extLst>
          </p:cNvPr>
          <p:cNvSpPr/>
          <p:nvPr/>
        </p:nvSpPr>
        <p:spPr>
          <a:xfrm>
            <a:off x="215106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BA604B5-F1A0-3B9D-1BF4-318FC7D0CF09}"/>
              </a:ext>
            </a:extLst>
          </p:cNvPr>
          <p:cNvGrpSpPr/>
          <p:nvPr/>
        </p:nvGrpSpPr>
        <p:grpSpPr>
          <a:xfrm>
            <a:off x="3850749" y="352993"/>
            <a:ext cx="1429860" cy="1409740"/>
            <a:chOff x="212067" y="276554"/>
            <a:chExt cx="1429860" cy="1409740"/>
          </a:xfrm>
        </p:grpSpPr>
        <p:sp>
          <p:nvSpPr>
            <p:cNvPr id="34" name="四角形: 角を丸くする 28">
              <a:extLst>
                <a:ext uri="{FF2B5EF4-FFF2-40B4-BE49-F238E27FC236}">
                  <a16:creationId xmlns:a16="http://schemas.microsoft.com/office/drawing/2014/main" id="{F9598858-A076-645C-6FC5-CF266963B544}"/>
                </a:ext>
              </a:extLst>
            </p:cNvPr>
            <p:cNvSpPr/>
            <p:nvPr/>
          </p:nvSpPr>
          <p:spPr>
            <a:xfrm>
              <a:off x="212067" y="276554"/>
              <a:ext cx="1409740" cy="1409740"/>
            </a:xfrm>
            <a:prstGeom prst="roundRect">
              <a:avLst>
                <a:gd name="adj" fmla="val 633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8" dirty="0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C246F2D1-62C6-DBE9-50E4-34027312F397}"/>
                </a:ext>
              </a:extLst>
            </p:cNvPr>
            <p:cNvSpPr/>
            <p:nvPr/>
          </p:nvSpPr>
          <p:spPr>
            <a:xfrm>
              <a:off x="264142" y="1388442"/>
              <a:ext cx="49753" cy="61710"/>
            </a:xfrm>
            <a:custGeom>
              <a:avLst/>
              <a:gdLst/>
              <a:ahLst/>
              <a:cxnLst/>
              <a:rect l="l" t="t" r="r" b="b"/>
              <a:pathLst>
                <a:path w="111772" h="138632">
                  <a:moveTo>
                    <a:pt x="0" y="0"/>
                  </a:moveTo>
                  <a:lnTo>
                    <a:pt x="111772" y="0"/>
                  </a:lnTo>
                  <a:lnTo>
                    <a:pt x="111772" y="138632"/>
                  </a:lnTo>
                  <a:lnTo>
                    <a:pt x="0" y="138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E71E8F79-0361-5FD0-2F58-22505BB3908A}"/>
                </a:ext>
              </a:extLst>
            </p:cNvPr>
            <p:cNvSpPr/>
            <p:nvPr/>
          </p:nvSpPr>
          <p:spPr>
            <a:xfrm>
              <a:off x="266560" y="1498830"/>
              <a:ext cx="50536" cy="50537"/>
            </a:xfrm>
            <a:custGeom>
              <a:avLst/>
              <a:gdLst/>
              <a:ahLst/>
              <a:cxnLst/>
              <a:rect l="l" t="t" r="r" b="b"/>
              <a:pathLst>
                <a:path w="113532" h="113532">
                  <a:moveTo>
                    <a:pt x="0" y="0"/>
                  </a:moveTo>
                  <a:lnTo>
                    <a:pt x="113532" y="0"/>
                  </a:lnTo>
                  <a:lnTo>
                    <a:pt x="113532" y="113533"/>
                  </a:lnTo>
                  <a:lnTo>
                    <a:pt x="0" y="113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66CEC83C-34F5-12FD-D6FD-71854F6ECE06}"/>
                </a:ext>
              </a:extLst>
            </p:cNvPr>
            <p:cNvSpPr txBox="1"/>
            <p:nvPr/>
          </p:nvSpPr>
          <p:spPr>
            <a:xfrm>
              <a:off x="339527" y="1393271"/>
              <a:ext cx="1253642" cy="641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64"/>
                </a:lnSpc>
              </a:pPr>
              <a:r>
                <a:rPr lang="en-US" sz="480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秋田県秋田市広面字蓮沼44-2</a:t>
              </a:r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FD89FEAF-C5E0-E676-2CE4-E25427AA660C}"/>
                </a:ext>
              </a:extLst>
            </p:cNvPr>
            <p:cNvSpPr txBox="1"/>
            <p:nvPr/>
          </p:nvSpPr>
          <p:spPr>
            <a:xfrm>
              <a:off x="339828" y="1507567"/>
              <a:ext cx="1096415" cy="73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4"/>
                </a:lnSpc>
              </a:pPr>
              <a:r>
                <a:rPr lang="en-US" sz="660" b="1" dirty="0">
                  <a:solidFill>
                    <a:srgbClr val="191919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Lexend Tera"/>
                  <a:sym typeface="Lexend Tera"/>
                </a:rPr>
                <a:t>tel. 018-801-7179</a:t>
              </a:r>
            </a:p>
          </p:txBody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FE35FB02-BC6C-34A5-E778-694D2C94EC44}"/>
                </a:ext>
              </a:extLst>
            </p:cNvPr>
            <p:cNvSpPr txBox="1"/>
            <p:nvPr/>
          </p:nvSpPr>
          <p:spPr>
            <a:xfrm>
              <a:off x="339527" y="1590042"/>
              <a:ext cx="1302400" cy="641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64"/>
                </a:lnSpc>
              </a:pPr>
              <a:r>
                <a:rPr lang="en-US" sz="60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enkakuiryo@jimu.akita-u.ac.jp</a:t>
              </a: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C6F12375-1B21-B8CC-5CDC-6C162C4A569D}"/>
                </a:ext>
              </a:extLst>
            </p:cNvPr>
            <p:cNvSpPr/>
            <p:nvPr/>
          </p:nvSpPr>
          <p:spPr>
            <a:xfrm>
              <a:off x="265318" y="1603331"/>
              <a:ext cx="50536" cy="32528"/>
            </a:xfrm>
            <a:custGeom>
              <a:avLst/>
              <a:gdLst/>
              <a:ahLst/>
              <a:cxnLst/>
              <a:rect l="l" t="t" r="r" b="b"/>
              <a:pathLst>
                <a:path w="113532" h="73074">
                  <a:moveTo>
                    <a:pt x="0" y="0"/>
                  </a:moveTo>
                  <a:lnTo>
                    <a:pt x="113532" y="0"/>
                  </a:lnTo>
                  <a:lnTo>
                    <a:pt x="113532" y="73074"/>
                  </a:lnTo>
                  <a:lnTo>
                    <a:pt x="0" y="73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9" name="四角形: 角を丸くする 14">
              <a:extLst>
                <a:ext uri="{FF2B5EF4-FFF2-40B4-BE49-F238E27FC236}">
                  <a16:creationId xmlns:a16="http://schemas.microsoft.com/office/drawing/2014/main" id="{7F876BE4-8DC9-57F3-5C85-ED5DB50B795C}"/>
                </a:ext>
              </a:extLst>
            </p:cNvPr>
            <p:cNvSpPr/>
            <p:nvPr/>
          </p:nvSpPr>
          <p:spPr>
            <a:xfrm flipV="1">
              <a:off x="242049" y="739126"/>
              <a:ext cx="1351120" cy="592832"/>
            </a:xfrm>
            <a:prstGeom prst="roundRect">
              <a:avLst>
                <a:gd name="adj" fmla="val 2266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8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3E2E1652-415F-D787-B07F-51F5D129B03A}"/>
                </a:ext>
              </a:extLst>
            </p:cNvPr>
            <p:cNvSpPr txBox="1"/>
            <p:nvPr/>
          </p:nvSpPr>
          <p:spPr>
            <a:xfrm>
              <a:off x="275202" y="941699"/>
              <a:ext cx="785130" cy="29738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・医療</a:t>
              </a:r>
              <a:r>
                <a:rPr kumimoji="1" lang="en-US" altLang="ja-JP" sz="600" b="1" dirty="0" err="1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MaaS</a:t>
              </a: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の受診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・オンライン診療の受診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・受診場所のご相談 等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062592FF-7B27-62B3-BF84-2C44137FF0CC}"/>
                </a:ext>
              </a:extLst>
            </p:cNvPr>
            <p:cNvSpPr txBox="1"/>
            <p:nvPr/>
          </p:nvSpPr>
          <p:spPr>
            <a:xfrm>
              <a:off x="224556" y="787921"/>
              <a:ext cx="841288" cy="9233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eaLnBrk="0" hangingPunct="0"/>
              <a:r>
                <a:rPr lang="ja-JP" altLang="en-US" sz="600" dirty="0"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ご連絡お待ちしてます</a:t>
              </a:r>
              <a:endParaRPr lang="en-US" altLang="ja-JP" sz="600" dirty="0"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</p:txBody>
        </p:sp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62EA7DF0-9167-407B-F050-630518B0F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920" t="7121" r="1745" b="7495"/>
            <a:stretch>
              <a:fillRect/>
            </a:stretch>
          </p:blipFill>
          <p:spPr>
            <a:xfrm>
              <a:off x="645200" y="308388"/>
              <a:ext cx="481870" cy="137251"/>
            </a:xfrm>
            <a:prstGeom prst="rect">
              <a:avLst/>
            </a:prstGeom>
          </p:spPr>
        </p:pic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4F6608C1-9827-8F7F-28C0-62A1AEB3FDE2}"/>
                </a:ext>
              </a:extLst>
            </p:cNvPr>
            <p:cNvSpPr txBox="1"/>
            <p:nvPr/>
          </p:nvSpPr>
          <p:spPr>
            <a:xfrm>
              <a:off x="303708" y="488329"/>
              <a:ext cx="1300692" cy="2215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 eaLnBrk="0" hangingPunct="0"/>
              <a:r>
                <a:rPr 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   ～</a:t>
              </a:r>
              <a:r>
                <a:rPr lang="ja-JP" alt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遠隔医療がつなぎ、</a:t>
              </a:r>
              <a:br>
                <a:rPr lang="en-US" altLang="ja-JP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</a:br>
              <a:r>
                <a:rPr lang="ja-JP" alt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　　　　支える地域医療を目指す</a:t>
              </a:r>
              <a:r>
                <a:rPr 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～</a:t>
              </a:r>
            </a:p>
          </p:txBody>
        </p:sp>
      </p:grpSp>
      <p:sp>
        <p:nvSpPr>
          <p:cNvPr id="8" name="四角形: 角を丸くする 28">
            <a:extLst>
              <a:ext uri="{FF2B5EF4-FFF2-40B4-BE49-F238E27FC236}">
                <a16:creationId xmlns:a16="http://schemas.microsoft.com/office/drawing/2014/main" id="{04C94C25-85E8-9BE2-B07C-63996930B8E7}"/>
              </a:ext>
            </a:extLst>
          </p:cNvPr>
          <p:cNvSpPr/>
          <p:nvPr/>
        </p:nvSpPr>
        <p:spPr>
          <a:xfrm>
            <a:off x="124723" y="700047"/>
            <a:ext cx="1137783" cy="1141940"/>
          </a:xfrm>
          <a:prstGeom prst="roundRect">
            <a:avLst>
              <a:gd name="adj" fmla="val 63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378C775-03B6-D9F2-9EAE-8A9D8895CEE9}"/>
              </a:ext>
            </a:extLst>
          </p:cNvPr>
          <p:cNvGrpSpPr/>
          <p:nvPr/>
        </p:nvGrpSpPr>
        <p:grpSpPr>
          <a:xfrm>
            <a:off x="197871" y="762296"/>
            <a:ext cx="1064634" cy="1054574"/>
            <a:chOff x="998080" y="2577396"/>
            <a:chExt cx="972008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9A22B35D-516C-6482-3B85-94D5FADF4002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219040CC-D35A-2626-2408-88032D8E2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98080" y="2598589"/>
              <a:ext cx="883492" cy="878787"/>
            </a:xfrm>
            <a:prstGeom prst="rect">
              <a:avLst/>
            </a:prstGeom>
          </p:spPr>
        </p:pic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492CE2CF-FBA3-5E4A-1E3C-0B8E161AD8F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6812"/>
          <a:stretch>
            <a:fillRect/>
          </a:stretch>
        </p:blipFill>
        <p:spPr>
          <a:xfrm>
            <a:off x="3039523" y="-887345"/>
            <a:ext cx="2192328" cy="72997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774454C-112B-29B0-D0DF-F1DDB7B1FCD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20" t="7121" r="1745" b="7495"/>
          <a:stretch>
            <a:fillRect/>
          </a:stretch>
        </p:blipFill>
        <p:spPr>
          <a:xfrm>
            <a:off x="308138" y="-102679"/>
            <a:ext cx="2392288" cy="681395"/>
          </a:xfrm>
          <a:prstGeom prst="rect">
            <a:avLst/>
          </a:prstGeom>
        </p:spPr>
      </p:pic>
      <p:sp>
        <p:nvSpPr>
          <p:cNvPr id="26" name="四角形: 角を丸くする 28">
            <a:extLst>
              <a:ext uri="{FF2B5EF4-FFF2-40B4-BE49-F238E27FC236}">
                <a16:creationId xmlns:a16="http://schemas.microsoft.com/office/drawing/2014/main" id="{6C305062-2BA3-3B2D-C51F-E6303ACDF660}"/>
              </a:ext>
            </a:extLst>
          </p:cNvPr>
          <p:cNvSpPr/>
          <p:nvPr/>
        </p:nvSpPr>
        <p:spPr>
          <a:xfrm>
            <a:off x="3320791" y="1264238"/>
            <a:ext cx="1617007" cy="1141940"/>
          </a:xfrm>
          <a:prstGeom prst="roundRect">
            <a:avLst>
              <a:gd name="adj" fmla="val 63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5BAD4384-9BB9-99F5-4462-865445A1A31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6" t="150" r="6646" b="9409"/>
          <a:stretch>
            <a:fillRect/>
          </a:stretch>
        </p:blipFill>
        <p:spPr>
          <a:xfrm>
            <a:off x="1255937" y="737086"/>
            <a:ext cx="1726941" cy="109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9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C5FC-6306-47CB-7CC3-6A6C853B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95C84C0-3CF3-48B6-B3A1-C47A61CC972E}"/>
              </a:ext>
            </a:extLst>
          </p:cNvPr>
          <p:cNvSpPr/>
          <p:nvPr/>
        </p:nvSpPr>
        <p:spPr>
          <a:xfrm>
            <a:off x="-20121" y="-15651"/>
            <a:ext cx="3095625" cy="19446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7D330B8-2C4F-99B1-8B61-3EC3B33600A9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126BA14-6D64-610F-C54E-30BCDC33236D}"/>
              </a:ext>
            </a:extLst>
          </p:cNvPr>
          <p:cNvSpPr/>
          <p:nvPr/>
        </p:nvSpPr>
        <p:spPr>
          <a:xfrm>
            <a:off x="217953" y="2161862"/>
            <a:ext cx="3105685" cy="137104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6C3EC9B-83CC-AE7B-C104-B48E261168C5}"/>
              </a:ext>
            </a:extLst>
          </p:cNvPr>
          <p:cNvSpPr/>
          <p:nvPr/>
        </p:nvSpPr>
        <p:spPr>
          <a:xfrm>
            <a:off x="217953" y="2182700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DB13434-E7B1-F642-3079-289FCDC22D6E}"/>
              </a:ext>
            </a:extLst>
          </p:cNvPr>
          <p:cNvGrpSpPr/>
          <p:nvPr/>
        </p:nvGrpSpPr>
        <p:grpSpPr>
          <a:xfrm>
            <a:off x="3850749" y="352993"/>
            <a:ext cx="1429860" cy="1409740"/>
            <a:chOff x="212067" y="276554"/>
            <a:chExt cx="1429860" cy="1409740"/>
          </a:xfrm>
        </p:grpSpPr>
        <p:sp>
          <p:nvSpPr>
            <p:cNvPr id="34" name="四角形: 角を丸くする 28">
              <a:extLst>
                <a:ext uri="{FF2B5EF4-FFF2-40B4-BE49-F238E27FC236}">
                  <a16:creationId xmlns:a16="http://schemas.microsoft.com/office/drawing/2014/main" id="{9C99E6FC-8691-169F-B681-CEBA7413455E}"/>
                </a:ext>
              </a:extLst>
            </p:cNvPr>
            <p:cNvSpPr/>
            <p:nvPr/>
          </p:nvSpPr>
          <p:spPr>
            <a:xfrm>
              <a:off x="212067" y="276554"/>
              <a:ext cx="1409740" cy="1409740"/>
            </a:xfrm>
            <a:prstGeom prst="roundRect">
              <a:avLst>
                <a:gd name="adj" fmla="val 633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8" dirty="0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DA42A4E6-284B-4E3D-DBA0-FEDF29047D97}"/>
                </a:ext>
              </a:extLst>
            </p:cNvPr>
            <p:cNvSpPr/>
            <p:nvPr/>
          </p:nvSpPr>
          <p:spPr>
            <a:xfrm>
              <a:off x="264142" y="1388442"/>
              <a:ext cx="49753" cy="61710"/>
            </a:xfrm>
            <a:custGeom>
              <a:avLst/>
              <a:gdLst/>
              <a:ahLst/>
              <a:cxnLst/>
              <a:rect l="l" t="t" r="r" b="b"/>
              <a:pathLst>
                <a:path w="111772" h="138632">
                  <a:moveTo>
                    <a:pt x="0" y="0"/>
                  </a:moveTo>
                  <a:lnTo>
                    <a:pt x="111772" y="0"/>
                  </a:lnTo>
                  <a:lnTo>
                    <a:pt x="111772" y="138632"/>
                  </a:lnTo>
                  <a:lnTo>
                    <a:pt x="0" y="138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188D1F74-42A7-9F2B-CB3E-3149EA65260B}"/>
                </a:ext>
              </a:extLst>
            </p:cNvPr>
            <p:cNvSpPr/>
            <p:nvPr/>
          </p:nvSpPr>
          <p:spPr>
            <a:xfrm>
              <a:off x="266560" y="1498830"/>
              <a:ext cx="50536" cy="50537"/>
            </a:xfrm>
            <a:custGeom>
              <a:avLst/>
              <a:gdLst/>
              <a:ahLst/>
              <a:cxnLst/>
              <a:rect l="l" t="t" r="r" b="b"/>
              <a:pathLst>
                <a:path w="113532" h="113532">
                  <a:moveTo>
                    <a:pt x="0" y="0"/>
                  </a:moveTo>
                  <a:lnTo>
                    <a:pt x="113532" y="0"/>
                  </a:lnTo>
                  <a:lnTo>
                    <a:pt x="113532" y="113533"/>
                  </a:lnTo>
                  <a:lnTo>
                    <a:pt x="0" y="113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82ED1473-EFFB-5F95-AC85-AB65ECC6C0DE}"/>
                </a:ext>
              </a:extLst>
            </p:cNvPr>
            <p:cNvSpPr txBox="1"/>
            <p:nvPr/>
          </p:nvSpPr>
          <p:spPr>
            <a:xfrm>
              <a:off x="339527" y="1393271"/>
              <a:ext cx="1253642" cy="641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64"/>
                </a:lnSpc>
              </a:pPr>
              <a:r>
                <a:rPr lang="en-US" sz="480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秋田県秋田市広面字蓮沼44-2</a:t>
              </a:r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39026561-7DAC-61BA-D0DB-3D05012B6043}"/>
                </a:ext>
              </a:extLst>
            </p:cNvPr>
            <p:cNvSpPr txBox="1"/>
            <p:nvPr/>
          </p:nvSpPr>
          <p:spPr>
            <a:xfrm>
              <a:off x="339828" y="1507567"/>
              <a:ext cx="1096415" cy="73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4"/>
                </a:lnSpc>
              </a:pPr>
              <a:r>
                <a:rPr lang="en-US" sz="660" b="1" dirty="0">
                  <a:solidFill>
                    <a:srgbClr val="191919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Lexend Tera"/>
                  <a:sym typeface="Lexend Tera"/>
                </a:rPr>
                <a:t>tel. 018-801-7179</a:t>
              </a:r>
            </a:p>
          </p:txBody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C4C43141-9F5A-06E1-0145-A964D84933A4}"/>
                </a:ext>
              </a:extLst>
            </p:cNvPr>
            <p:cNvSpPr txBox="1"/>
            <p:nvPr/>
          </p:nvSpPr>
          <p:spPr>
            <a:xfrm>
              <a:off x="339527" y="1590042"/>
              <a:ext cx="1302400" cy="641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64"/>
                </a:lnSpc>
              </a:pPr>
              <a:r>
                <a:rPr lang="en-US" sz="60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enkakuiryo@jimu.akita-u.ac.jp</a:t>
              </a: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58984CDF-9859-F3F7-B33B-D602A4C5403C}"/>
                </a:ext>
              </a:extLst>
            </p:cNvPr>
            <p:cNvSpPr/>
            <p:nvPr/>
          </p:nvSpPr>
          <p:spPr>
            <a:xfrm>
              <a:off x="265318" y="1603331"/>
              <a:ext cx="50536" cy="32528"/>
            </a:xfrm>
            <a:custGeom>
              <a:avLst/>
              <a:gdLst/>
              <a:ahLst/>
              <a:cxnLst/>
              <a:rect l="l" t="t" r="r" b="b"/>
              <a:pathLst>
                <a:path w="113532" h="73074">
                  <a:moveTo>
                    <a:pt x="0" y="0"/>
                  </a:moveTo>
                  <a:lnTo>
                    <a:pt x="113532" y="0"/>
                  </a:lnTo>
                  <a:lnTo>
                    <a:pt x="113532" y="73074"/>
                  </a:lnTo>
                  <a:lnTo>
                    <a:pt x="0" y="73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9" name="四角形: 角を丸くする 14">
              <a:extLst>
                <a:ext uri="{FF2B5EF4-FFF2-40B4-BE49-F238E27FC236}">
                  <a16:creationId xmlns:a16="http://schemas.microsoft.com/office/drawing/2014/main" id="{0AF3EC24-7E31-2C77-EED8-FDB2A3AE1B74}"/>
                </a:ext>
              </a:extLst>
            </p:cNvPr>
            <p:cNvSpPr/>
            <p:nvPr/>
          </p:nvSpPr>
          <p:spPr>
            <a:xfrm flipV="1">
              <a:off x="242049" y="739126"/>
              <a:ext cx="1351120" cy="592832"/>
            </a:xfrm>
            <a:prstGeom prst="roundRect">
              <a:avLst>
                <a:gd name="adj" fmla="val 2266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8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E70ABF9E-3501-A1D3-1AED-BBB865AB886D}"/>
                </a:ext>
              </a:extLst>
            </p:cNvPr>
            <p:cNvSpPr txBox="1"/>
            <p:nvPr/>
          </p:nvSpPr>
          <p:spPr>
            <a:xfrm>
              <a:off x="275202" y="941699"/>
              <a:ext cx="785130" cy="29738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・医療</a:t>
              </a:r>
              <a:r>
                <a:rPr kumimoji="1" lang="en-US" altLang="ja-JP" sz="600" b="1" dirty="0" err="1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MaaS</a:t>
              </a: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の受診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・オンライン診療の受診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・受診場所のご相談 等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7DD2C1C0-8FBF-4ADB-4392-0FEB935990C6}"/>
                </a:ext>
              </a:extLst>
            </p:cNvPr>
            <p:cNvSpPr txBox="1"/>
            <p:nvPr/>
          </p:nvSpPr>
          <p:spPr>
            <a:xfrm>
              <a:off x="224556" y="787921"/>
              <a:ext cx="841288" cy="9233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eaLnBrk="0" hangingPunct="0"/>
              <a:r>
                <a:rPr lang="ja-JP" altLang="en-US" sz="600" dirty="0"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ご連絡お待ちしてます</a:t>
              </a:r>
              <a:endParaRPr lang="en-US" altLang="ja-JP" sz="600" dirty="0"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</p:txBody>
        </p:sp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A8B988DC-1393-1EAA-6642-183F1332E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920" t="7121" r="1745" b="7495"/>
            <a:stretch>
              <a:fillRect/>
            </a:stretch>
          </p:blipFill>
          <p:spPr>
            <a:xfrm>
              <a:off x="645200" y="308388"/>
              <a:ext cx="481870" cy="137251"/>
            </a:xfrm>
            <a:prstGeom prst="rect">
              <a:avLst/>
            </a:prstGeom>
          </p:spPr>
        </p:pic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B364FB62-5921-1AB8-4A3E-C39F2D5D901C}"/>
                </a:ext>
              </a:extLst>
            </p:cNvPr>
            <p:cNvSpPr txBox="1"/>
            <p:nvPr/>
          </p:nvSpPr>
          <p:spPr>
            <a:xfrm>
              <a:off x="303708" y="488329"/>
              <a:ext cx="1300692" cy="2215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 eaLnBrk="0" hangingPunct="0"/>
              <a:r>
                <a:rPr 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   ～</a:t>
              </a:r>
              <a:r>
                <a:rPr lang="ja-JP" alt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遠隔医療がつなぎ、</a:t>
              </a:r>
              <a:br>
                <a:rPr lang="en-US" altLang="ja-JP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</a:br>
              <a:r>
                <a:rPr lang="ja-JP" alt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　　　　支える地域医療を目指す</a:t>
              </a:r>
              <a:r>
                <a:rPr 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～</a:t>
              </a:r>
            </a:p>
          </p:txBody>
        </p:sp>
      </p:grpSp>
      <p:sp>
        <p:nvSpPr>
          <p:cNvPr id="8" name="四角形: 角を丸くする 28">
            <a:extLst>
              <a:ext uri="{FF2B5EF4-FFF2-40B4-BE49-F238E27FC236}">
                <a16:creationId xmlns:a16="http://schemas.microsoft.com/office/drawing/2014/main" id="{764B3385-937E-08DA-8ED9-75538AC1FE2C}"/>
              </a:ext>
            </a:extLst>
          </p:cNvPr>
          <p:cNvSpPr/>
          <p:nvPr/>
        </p:nvSpPr>
        <p:spPr>
          <a:xfrm>
            <a:off x="-2918298" y="-879757"/>
            <a:ext cx="1137783" cy="1141940"/>
          </a:xfrm>
          <a:prstGeom prst="roundRect">
            <a:avLst>
              <a:gd name="adj" fmla="val 63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8239FB38-4B79-9EDD-F650-6029781DA3A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812"/>
          <a:stretch>
            <a:fillRect/>
          </a:stretch>
        </p:blipFill>
        <p:spPr>
          <a:xfrm>
            <a:off x="3039523" y="-887345"/>
            <a:ext cx="2192328" cy="72997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CBD9A10-AA91-C2D5-C3DE-3CE3208A9F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0" t="7121" r="1745" b="7495"/>
          <a:stretch>
            <a:fillRect/>
          </a:stretch>
        </p:blipFill>
        <p:spPr>
          <a:xfrm>
            <a:off x="308138" y="48693"/>
            <a:ext cx="2392288" cy="681395"/>
          </a:xfrm>
          <a:prstGeom prst="rect">
            <a:avLst/>
          </a:prstGeom>
        </p:spPr>
      </p:pic>
      <p:sp>
        <p:nvSpPr>
          <p:cNvPr id="26" name="四角形: 角を丸くする 28">
            <a:extLst>
              <a:ext uri="{FF2B5EF4-FFF2-40B4-BE49-F238E27FC236}">
                <a16:creationId xmlns:a16="http://schemas.microsoft.com/office/drawing/2014/main" id="{5332A895-662B-0955-92DD-AF9687EB2D7C}"/>
              </a:ext>
            </a:extLst>
          </p:cNvPr>
          <p:cNvSpPr/>
          <p:nvPr/>
        </p:nvSpPr>
        <p:spPr>
          <a:xfrm>
            <a:off x="-20121" y="730087"/>
            <a:ext cx="3115746" cy="1209525"/>
          </a:xfrm>
          <a:prstGeom prst="roundRect">
            <a:avLst>
              <a:gd name="adj" fmla="val 6336"/>
            </a:avLst>
          </a:prstGeom>
          <a:gradFill>
            <a:gsLst>
              <a:gs pos="0">
                <a:schemeClr val="bg1"/>
              </a:gs>
              <a:gs pos="85000">
                <a:schemeClr val="accent2"/>
              </a:gs>
              <a:gs pos="40000">
                <a:srgbClr val="ED7E41"/>
              </a:gs>
            </a:gsLst>
            <a:lin ang="5400000" scaled="1"/>
          </a:gradFill>
          <a:ln>
            <a:noFill/>
          </a:ln>
          <a:effectLst>
            <a:outerShdw dist="50800" dir="5400000" algn="ctr" rotWithShape="0">
              <a:srgbClr val="000000">
                <a:alpha val="43137"/>
              </a:srgbClr>
            </a:outerShdw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E54FE4EA-708E-A957-388F-A59B4256DD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6" t="150" r="2031" b="7221"/>
          <a:stretch>
            <a:fillRect/>
          </a:stretch>
        </p:blipFill>
        <p:spPr>
          <a:xfrm>
            <a:off x="1154410" y="711899"/>
            <a:ext cx="1992272" cy="1235326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40000"/>
              </a:schemeClr>
            </a:outerShdw>
            <a:softEdge rad="6350"/>
          </a:effectLst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B9CBA97B-9976-BA23-C0BE-320F0105B77D}"/>
              </a:ext>
            </a:extLst>
          </p:cNvPr>
          <p:cNvGrpSpPr/>
          <p:nvPr/>
        </p:nvGrpSpPr>
        <p:grpSpPr>
          <a:xfrm>
            <a:off x="20121" y="803334"/>
            <a:ext cx="1155770" cy="1123190"/>
            <a:chOff x="970255" y="2547191"/>
            <a:chExt cx="1055215" cy="988921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3F93CD23-258E-8A49-CBDB-F1AA99AB32AA}"/>
                </a:ext>
              </a:extLst>
            </p:cNvPr>
            <p:cNvSpPr/>
            <p:nvPr/>
          </p:nvSpPr>
          <p:spPr>
            <a:xfrm>
              <a:off x="970255" y="2547191"/>
              <a:ext cx="1055215" cy="988921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  <a:effectLst>
              <a:softEdge rad="31728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D4B6384-2CD8-884D-605F-C04EE24BC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46310" y="2603985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0225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E278-0AED-5D27-CAC2-AB643328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FB67BB9-E221-2881-15F3-667161D9FC2F}"/>
              </a:ext>
            </a:extLst>
          </p:cNvPr>
          <p:cNvSpPr/>
          <p:nvPr/>
        </p:nvSpPr>
        <p:spPr>
          <a:xfrm>
            <a:off x="-20121" y="-15651"/>
            <a:ext cx="3095625" cy="19446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26846F5-A8EC-26BF-1EFB-2692E5907382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5022635-0CDA-E025-6219-3FA6EF48B48E}"/>
              </a:ext>
            </a:extLst>
          </p:cNvPr>
          <p:cNvSpPr/>
          <p:nvPr/>
        </p:nvSpPr>
        <p:spPr>
          <a:xfrm>
            <a:off x="217953" y="2161862"/>
            <a:ext cx="3105685" cy="137104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A873CDE-BC71-7D10-BB06-1524FA3510F3}"/>
              </a:ext>
            </a:extLst>
          </p:cNvPr>
          <p:cNvSpPr/>
          <p:nvPr/>
        </p:nvSpPr>
        <p:spPr>
          <a:xfrm>
            <a:off x="217953" y="2182700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DF5A147-AF82-6D03-98B2-EB90BAE8E20B}"/>
              </a:ext>
            </a:extLst>
          </p:cNvPr>
          <p:cNvGrpSpPr/>
          <p:nvPr/>
        </p:nvGrpSpPr>
        <p:grpSpPr>
          <a:xfrm>
            <a:off x="3850749" y="352993"/>
            <a:ext cx="1429860" cy="1409740"/>
            <a:chOff x="212067" y="276554"/>
            <a:chExt cx="1429860" cy="1409740"/>
          </a:xfrm>
        </p:grpSpPr>
        <p:sp>
          <p:nvSpPr>
            <p:cNvPr id="34" name="四角形: 角を丸くする 28">
              <a:extLst>
                <a:ext uri="{FF2B5EF4-FFF2-40B4-BE49-F238E27FC236}">
                  <a16:creationId xmlns:a16="http://schemas.microsoft.com/office/drawing/2014/main" id="{C5840F4F-20D0-B31F-3EDB-EB54CC1FAB37}"/>
                </a:ext>
              </a:extLst>
            </p:cNvPr>
            <p:cNvSpPr/>
            <p:nvPr/>
          </p:nvSpPr>
          <p:spPr>
            <a:xfrm>
              <a:off x="212067" y="276554"/>
              <a:ext cx="1409740" cy="1409740"/>
            </a:xfrm>
            <a:prstGeom prst="roundRect">
              <a:avLst>
                <a:gd name="adj" fmla="val 633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8" dirty="0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EABE932F-1C1A-78DA-1746-5AC6649A9F34}"/>
                </a:ext>
              </a:extLst>
            </p:cNvPr>
            <p:cNvSpPr/>
            <p:nvPr/>
          </p:nvSpPr>
          <p:spPr>
            <a:xfrm>
              <a:off x="264142" y="1388442"/>
              <a:ext cx="49753" cy="61710"/>
            </a:xfrm>
            <a:custGeom>
              <a:avLst/>
              <a:gdLst/>
              <a:ahLst/>
              <a:cxnLst/>
              <a:rect l="l" t="t" r="r" b="b"/>
              <a:pathLst>
                <a:path w="111772" h="138632">
                  <a:moveTo>
                    <a:pt x="0" y="0"/>
                  </a:moveTo>
                  <a:lnTo>
                    <a:pt x="111772" y="0"/>
                  </a:lnTo>
                  <a:lnTo>
                    <a:pt x="111772" y="138632"/>
                  </a:lnTo>
                  <a:lnTo>
                    <a:pt x="0" y="138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928DA2C2-0FCE-17F5-6E24-7ACB4915E9E4}"/>
                </a:ext>
              </a:extLst>
            </p:cNvPr>
            <p:cNvSpPr/>
            <p:nvPr/>
          </p:nvSpPr>
          <p:spPr>
            <a:xfrm>
              <a:off x="266560" y="1498830"/>
              <a:ext cx="50536" cy="50537"/>
            </a:xfrm>
            <a:custGeom>
              <a:avLst/>
              <a:gdLst/>
              <a:ahLst/>
              <a:cxnLst/>
              <a:rect l="l" t="t" r="r" b="b"/>
              <a:pathLst>
                <a:path w="113532" h="113532">
                  <a:moveTo>
                    <a:pt x="0" y="0"/>
                  </a:moveTo>
                  <a:lnTo>
                    <a:pt x="113532" y="0"/>
                  </a:lnTo>
                  <a:lnTo>
                    <a:pt x="113532" y="113533"/>
                  </a:lnTo>
                  <a:lnTo>
                    <a:pt x="0" y="113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E7E6B291-5FA8-8999-2C95-9BCEDFC24ECC}"/>
                </a:ext>
              </a:extLst>
            </p:cNvPr>
            <p:cNvSpPr txBox="1"/>
            <p:nvPr/>
          </p:nvSpPr>
          <p:spPr>
            <a:xfrm>
              <a:off x="339527" y="1393271"/>
              <a:ext cx="1253642" cy="641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64"/>
                </a:lnSpc>
              </a:pPr>
              <a:r>
                <a:rPr lang="en-US" sz="480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秋田県秋田市広面字蓮沼44-2</a:t>
              </a:r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C82F2384-3561-B185-9338-98784CB5C86E}"/>
                </a:ext>
              </a:extLst>
            </p:cNvPr>
            <p:cNvSpPr txBox="1"/>
            <p:nvPr/>
          </p:nvSpPr>
          <p:spPr>
            <a:xfrm>
              <a:off x="339828" y="1507567"/>
              <a:ext cx="1096415" cy="73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4"/>
                </a:lnSpc>
              </a:pPr>
              <a:r>
                <a:rPr lang="en-US" sz="660" b="1" dirty="0">
                  <a:solidFill>
                    <a:srgbClr val="191919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Lexend Tera"/>
                  <a:sym typeface="Lexend Tera"/>
                </a:rPr>
                <a:t>tel. 018-801-7179</a:t>
              </a:r>
            </a:p>
          </p:txBody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2F2FB44B-772B-5995-D83E-40F226051B05}"/>
                </a:ext>
              </a:extLst>
            </p:cNvPr>
            <p:cNvSpPr txBox="1"/>
            <p:nvPr/>
          </p:nvSpPr>
          <p:spPr>
            <a:xfrm>
              <a:off x="339527" y="1590042"/>
              <a:ext cx="1302400" cy="641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64"/>
                </a:lnSpc>
              </a:pPr>
              <a:r>
                <a:rPr lang="en-US" sz="60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enkakuiryo@jimu.akita-u.ac.jp</a:t>
              </a: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90EF435D-AA0B-6EAE-DB5D-50B0D5BCBF58}"/>
                </a:ext>
              </a:extLst>
            </p:cNvPr>
            <p:cNvSpPr/>
            <p:nvPr/>
          </p:nvSpPr>
          <p:spPr>
            <a:xfrm>
              <a:off x="265318" y="1603331"/>
              <a:ext cx="50536" cy="32528"/>
            </a:xfrm>
            <a:custGeom>
              <a:avLst/>
              <a:gdLst/>
              <a:ahLst/>
              <a:cxnLst/>
              <a:rect l="l" t="t" r="r" b="b"/>
              <a:pathLst>
                <a:path w="113532" h="73074">
                  <a:moveTo>
                    <a:pt x="0" y="0"/>
                  </a:moveTo>
                  <a:lnTo>
                    <a:pt x="113532" y="0"/>
                  </a:lnTo>
                  <a:lnTo>
                    <a:pt x="113532" y="73074"/>
                  </a:lnTo>
                  <a:lnTo>
                    <a:pt x="0" y="73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9" name="四角形: 角を丸くする 14">
              <a:extLst>
                <a:ext uri="{FF2B5EF4-FFF2-40B4-BE49-F238E27FC236}">
                  <a16:creationId xmlns:a16="http://schemas.microsoft.com/office/drawing/2014/main" id="{C37A8819-AEDC-614E-6853-73B98896BC4D}"/>
                </a:ext>
              </a:extLst>
            </p:cNvPr>
            <p:cNvSpPr/>
            <p:nvPr/>
          </p:nvSpPr>
          <p:spPr>
            <a:xfrm flipV="1">
              <a:off x="242049" y="739126"/>
              <a:ext cx="1351120" cy="592832"/>
            </a:xfrm>
            <a:prstGeom prst="roundRect">
              <a:avLst>
                <a:gd name="adj" fmla="val 2266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8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F7C144D8-CD83-581A-395E-38F3F5892343}"/>
                </a:ext>
              </a:extLst>
            </p:cNvPr>
            <p:cNvSpPr txBox="1"/>
            <p:nvPr/>
          </p:nvSpPr>
          <p:spPr>
            <a:xfrm>
              <a:off x="275202" y="941699"/>
              <a:ext cx="785130" cy="29738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・医療</a:t>
              </a:r>
              <a:r>
                <a:rPr kumimoji="1" lang="en-US" altLang="ja-JP" sz="600" b="1" dirty="0" err="1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MaaS</a:t>
              </a: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の受診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・オンライン診療の受診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・受診場所のご相談 等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1B2C7E8E-333F-EDB6-3333-1F9A1876D7C9}"/>
                </a:ext>
              </a:extLst>
            </p:cNvPr>
            <p:cNvSpPr txBox="1"/>
            <p:nvPr/>
          </p:nvSpPr>
          <p:spPr>
            <a:xfrm>
              <a:off x="224556" y="787921"/>
              <a:ext cx="841288" cy="9233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eaLnBrk="0" hangingPunct="0"/>
              <a:r>
                <a:rPr lang="ja-JP" altLang="en-US" sz="600" dirty="0"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ご連絡お待ちしてます</a:t>
              </a:r>
              <a:endParaRPr lang="en-US" altLang="ja-JP" sz="600" dirty="0"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</p:txBody>
        </p:sp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474AB971-F3FE-21BC-2173-141EBA34D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920" t="7121" r="1745" b="7495"/>
            <a:stretch>
              <a:fillRect/>
            </a:stretch>
          </p:blipFill>
          <p:spPr>
            <a:xfrm>
              <a:off x="645200" y="308388"/>
              <a:ext cx="481870" cy="137251"/>
            </a:xfrm>
            <a:prstGeom prst="rect">
              <a:avLst/>
            </a:prstGeom>
          </p:spPr>
        </p:pic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2C7679EE-FCA2-5BC7-7165-5574DF787E0D}"/>
                </a:ext>
              </a:extLst>
            </p:cNvPr>
            <p:cNvSpPr txBox="1"/>
            <p:nvPr/>
          </p:nvSpPr>
          <p:spPr>
            <a:xfrm>
              <a:off x="303708" y="488329"/>
              <a:ext cx="1300692" cy="2215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 eaLnBrk="0" hangingPunct="0"/>
              <a:r>
                <a:rPr 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   ～</a:t>
              </a:r>
              <a:r>
                <a:rPr lang="ja-JP" alt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遠隔医療がつなぎ、</a:t>
              </a:r>
              <a:br>
                <a:rPr lang="en-US" altLang="ja-JP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</a:br>
              <a:r>
                <a:rPr lang="ja-JP" alt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　　　　支える地域医療を目指す</a:t>
              </a:r>
              <a:r>
                <a:rPr lang="en-US" sz="72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～</a:t>
              </a:r>
            </a:p>
          </p:txBody>
        </p:sp>
      </p:grpSp>
      <p:sp>
        <p:nvSpPr>
          <p:cNvPr id="8" name="四角形: 角を丸くする 28">
            <a:extLst>
              <a:ext uri="{FF2B5EF4-FFF2-40B4-BE49-F238E27FC236}">
                <a16:creationId xmlns:a16="http://schemas.microsoft.com/office/drawing/2014/main" id="{DEF24408-616B-8507-3ABE-9DD362F8A7CB}"/>
              </a:ext>
            </a:extLst>
          </p:cNvPr>
          <p:cNvSpPr/>
          <p:nvPr/>
        </p:nvSpPr>
        <p:spPr>
          <a:xfrm>
            <a:off x="-2918298" y="-879757"/>
            <a:ext cx="1137783" cy="1141940"/>
          </a:xfrm>
          <a:prstGeom prst="roundRect">
            <a:avLst>
              <a:gd name="adj" fmla="val 63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E465B2F7-D042-52B7-30B4-F9F71BAB8D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812"/>
          <a:stretch>
            <a:fillRect/>
          </a:stretch>
        </p:blipFill>
        <p:spPr>
          <a:xfrm>
            <a:off x="3039523" y="-887345"/>
            <a:ext cx="2192328" cy="72997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608E45C-42A3-E4D1-EB37-107F8010A1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0" t="7121" r="1745" b="7495"/>
          <a:stretch>
            <a:fillRect/>
          </a:stretch>
        </p:blipFill>
        <p:spPr>
          <a:xfrm>
            <a:off x="-125037" y="-1416148"/>
            <a:ext cx="2392288" cy="68139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90D6300-DC56-3E93-641B-95CD5711994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86" t="5332" r="2464" b="2042"/>
          <a:stretch>
            <a:fillRect/>
          </a:stretch>
        </p:blipFill>
        <p:spPr>
          <a:xfrm>
            <a:off x="-5301" y="7826"/>
            <a:ext cx="3163308" cy="1929036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A5C8BC6-AB38-A702-F49B-62908DF12E83}"/>
              </a:ext>
            </a:extLst>
          </p:cNvPr>
          <p:cNvGrpSpPr/>
          <p:nvPr/>
        </p:nvGrpSpPr>
        <p:grpSpPr>
          <a:xfrm>
            <a:off x="-1155770" y="2070756"/>
            <a:ext cx="1155770" cy="1123190"/>
            <a:chOff x="970255" y="2547191"/>
            <a:chExt cx="1055215" cy="988921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91F5D768-5F52-4AB3-C957-A1F0274E0197}"/>
                </a:ext>
              </a:extLst>
            </p:cNvPr>
            <p:cNvSpPr/>
            <p:nvPr/>
          </p:nvSpPr>
          <p:spPr>
            <a:xfrm>
              <a:off x="970255" y="2547191"/>
              <a:ext cx="1055215" cy="988921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  <a:effectLst>
              <a:softEdge rad="31728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39E2334-EF43-2488-0368-3AE6A0C2E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46310" y="2603985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1796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18B7-95B3-8DEF-89E7-D8EB11A4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B553E1C-93E5-7741-5BE0-21B6F34BCC2A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B01305D-13E8-D326-DFB1-2D11528469B1}"/>
              </a:ext>
            </a:extLst>
          </p:cNvPr>
          <p:cNvSpPr/>
          <p:nvPr/>
        </p:nvSpPr>
        <p:spPr>
          <a:xfrm>
            <a:off x="52384" y="86414"/>
            <a:ext cx="2990852" cy="1165609"/>
          </a:xfrm>
          <a:prstGeom prst="roundRect">
            <a:avLst>
              <a:gd name="adj" fmla="val 14805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EFB68EC-218E-33D2-A980-B25E6D96C685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本カードを破損・紛失された場合、または使用期限を過ぎた場合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は、お品物を</a:t>
            </a:r>
            <a:endParaRPr kumimoji="1" lang="en-US" altLang="ja-JP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 ご提供できかねますので、あらかじめご了承くださいますようお願いいたします。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3B85B00-3FFD-3C66-2B1F-65E05DF0D111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E8840FA-8BA6-D492-7178-88D799CD79C0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4B6410A-4EAF-C2B7-3C90-53653C8DE213}"/>
              </a:ext>
            </a:extLst>
          </p:cNvPr>
          <p:cNvSpPr/>
          <p:nvPr/>
        </p:nvSpPr>
        <p:spPr>
          <a:xfrm>
            <a:off x="216692" y="1408325"/>
            <a:ext cx="2662238" cy="302565"/>
          </a:xfrm>
          <a:prstGeom prst="roundRect">
            <a:avLst>
              <a:gd name="adj" fmla="val 17073"/>
            </a:avLst>
          </a:prstGeom>
          <a:noFill/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お品物に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秋田大学医学部附属病院医療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DX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センター遠隔医療推進部門</a:t>
            </a:r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lvl="0"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018-801-7179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enkakuiryo@jimu.akita-u.ac.jp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8CE2EAB-21EF-E1A0-BF75-9518E545E6AA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27A6FE6-8304-E105-F4CC-BA0CC23DCBE0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2026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01FA509-A0BD-AC34-663F-24EDF71C7E51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574CC00-E4C4-66A6-082F-C1484247B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2" y="179381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79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EC48-4829-4C66-616B-D499605F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8EE80F8-8C11-2C54-1F07-AA135773CF23}"/>
              </a:ext>
            </a:extLst>
          </p:cNvPr>
          <p:cNvSpPr/>
          <p:nvPr/>
        </p:nvSpPr>
        <p:spPr>
          <a:xfrm>
            <a:off x="575235" y="1"/>
            <a:ext cx="1944687" cy="1944687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F7E9998D-75D2-FC66-34A2-524CD29C5B80}"/>
              </a:ext>
            </a:extLst>
          </p:cNvPr>
          <p:cNvSpPr/>
          <p:nvPr/>
        </p:nvSpPr>
        <p:spPr>
          <a:xfrm>
            <a:off x="799993" y="132528"/>
            <a:ext cx="1495640" cy="1495640"/>
          </a:xfrm>
          <a:prstGeom prst="roundRect">
            <a:avLst>
              <a:gd name="adj" fmla="val 63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FC9E205-AD0D-A632-2F47-D07B7C852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28" y="320808"/>
            <a:ext cx="1232438" cy="440363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B916F5A-CB35-CE8C-3D5B-E2E27B8FA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40" y="322714"/>
            <a:ext cx="1232438" cy="44036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5FEB1D3-8CDF-8AAD-62C4-AC749B37C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97" y="319245"/>
            <a:ext cx="1232438" cy="440363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4BADE0A9-ACD2-BA93-B688-E73C129086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9"/>
          <a:stretch>
            <a:fillRect/>
          </a:stretch>
        </p:blipFill>
        <p:spPr>
          <a:xfrm>
            <a:off x="821326" y="672230"/>
            <a:ext cx="1433769" cy="934168"/>
          </a:xfrm>
          <a:prstGeom prst="rect">
            <a:avLst/>
          </a:prstGeom>
        </p:spPr>
      </p:pic>
      <p:sp>
        <p:nvSpPr>
          <p:cNvPr id="34" name="楕円 33">
            <a:extLst>
              <a:ext uri="{FF2B5EF4-FFF2-40B4-BE49-F238E27FC236}">
                <a16:creationId xmlns:a16="http://schemas.microsoft.com/office/drawing/2014/main" id="{91DEABF7-F6EC-0382-D3C5-009B26AE95E0}"/>
              </a:ext>
            </a:extLst>
          </p:cNvPr>
          <p:cNvSpPr/>
          <p:nvPr/>
        </p:nvSpPr>
        <p:spPr>
          <a:xfrm>
            <a:off x="1488800" y="213977"/>
            <a:ext cx="106831" cy="10683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23" dirty="0"/>
              <a:t>穴</a:t>
            </a:r>
          </a:p>
        </p:txBody>
      </p:sp>
    </p:spTree>
    <p:extLst>
      <p:ext uri="{BB962C8B-B14F-4D97-AF65-F5344CB8AC3E}">
        <p14:creationId xmlns:p14="http://schemas.microsoft.com/office/powerpoint/2010/main" val="305472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CA13-4D2B-F50B-06B5-9C93F69E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3F9EEDB-F8C9-8BC3-112C-89AF946302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5235" y="1"/>
            <a:ext cx="1944687" cy="1944687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082F15D-E5FD-7677-295B-7D56BC0F24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9993" y="132528"/>
            <a:ext cx="1495640" cy="1495640"/>
          </a:xfrm>
          <a:prstGeom prst="roundRect">
            <a:avLst>
              <a:gd name="adj" fmla="val 63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68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6B6B5378-745D-1181-416C-86DCC79494C7}"/>
              </a:ext>
            </a:extLst>
          </p:cNvPr>
          <p:cNvGrpSpPr/>
          <p:nvPr/>
        </p:nvGrpSpPr>
        <p:grpSpPr>
          <a:xfrm>
            <a:off x="878984" y="1319758"/>
            <a:ext cx="1377785" cy="265720"/>
            <a:chOff x="489209" y="2175438"/>
            <a:chExt cx="2295559" cy="44272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8F9A439-02FE-2000-AE4C-9E2DBA471E38}"/>
                </a:ext>
              </a:extLst>
            </p:cNvPr>
            <p:cNvSpPr/>
            <p:nvPr/>
          </p:nvSpPr>
          <p:spPr>
            <a:xfrm>
              <a:off x="489209" y="2175438"/>
              <a:ext cx="82895" cy="102816"/>
            </a:xfrm>
            <a:custGeom>
              <a:avLst/>
              <a:gdLst/>
              <a:ahLst/>
              <a:cxnLst/>
              <a:rect l="l" t="t" r="r" b="b"/>
              <a:pathLst>
                <a:path w="111772" h="138632">
                  <a:moveTo>
                    <a:pt x="0" y="0"/>
                  </a:moveTo>
                  <a:lnTo>
                    <a:pt x="111772" y="0"/>
                  </a:lnTo>
                  <a:lnTo>
                    <a:pt x="111772" y="138632"/>
                  </a:lnTo>
                  <a:lnTo>
                    <a:pt x="0" y="138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3EA0CC0-D3C1-6E6F-FD00-4953A55F9DA4}"/>
                </a:ext>
              </a:extLst>
            </p:cNvPr>
            <p:cNvSpPr/>
            <p:nvPr/>
          </p:nvSpPr>
          <p:spPr>
            <a:xfrm>
              <a:off x="493238" y="2359358"/>
              <a:ext cx="84200" cy="84200"/>
            </a:xfrm>
            <a:custGeom>
              <a:avLst/>
              <a:gdLst/>
              <a:ahLst/>
              <a:cxnLst/>
              <a:rect l="l" t="t" r="r" b="b"/>
              <a:pathLst>
                <a:path w="113532" h="113532">
                  <a:moveTo>
                    <a:pt x="0" y="0"/>
                  </a:moveTo>
                  <a:lnTo>
                    <a:pt x="113532" y="0"/>
                  </a:lnTo>
                  <a:lnTo>
                    <a:pt x="113532" y="113533"/>
                  </a:lnTo>
                  <a:lnTo>
                    <a:pt x="0" y="113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EF5FBFB-26A0-F2A2-56B8-99E2E215D066}"/>
                </a:ext>
              </a:extLst>
            </p:cNvPr>
            <p:cNvSpPr txBox="1"/>
            <p:nvPr/>
          </p:nvSpPr>
          <p:spPr>
            <a:xfrm>
              <a:off x="614810" y="2183484"/>
              <a:ext cx="2088722" cy="1068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64"/>
                </a:lnSpc>
              </a:pPr>
              <a:r>
                <a:rPr lang="en-US" sz="480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秋田県秋田市広面字蓮沼44-2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201CAC0-4E25-67DC-E14E-D7BD8F0938CB}"/>
                </a:ext>
              </a:extLst>
            </p:cNvPr>
            <p:cNvSpPr txBox="1"/>
            <p:nvPr/>
          </p:nvSpPr>
          <p:spPr>
            <a:xfrm>
              <a:off x="615311" y="2373915"/>
              <a:ext cx="1826762" cy="122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4"/>
                </a:lnSpc>
              </a:pPr>
              <a:r>
                <a:rPr lang="en-US" sz="660" b="1" dirty="0">
                  <a:solidFill>
                    <a:srgbClr val="191919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Lexend Tera"/>
                  <a:sym typeface="Lexend Tera"/>
                </a:rPr>
                <a:t>tel. 018-801-7179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88ED083-61E7-E5C1-2D61-F0538551B57A}"/>
                </a:ext>
              </a:extLst>
            </p:cNvPr>
            <p:cNvSpPr txBox="1"/>
            <p:nvPr/>
          </p:nvSpPr>
          <p:spPr>
            <a:xfrm>
              <a:off x="614810" y="2511328"/>
              <a:ext cx="2169958" cy="1068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64"/>
                </a:lnSpc>
              </a:pPr>
              <a:r>
                <a:rPr lang="en-US" sz="600" b="1" dirty="0">
                  <a:solidFill>
                    <a:srgbClr val="191919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enkakuiryo@jimu.akita-u.ac.jp</a:t>
              </a: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3864C2A-3FA3-7BC3-55E2-9DF860BA06AD}"/>
                </a:ext>
              </a:extLst>
            </p:cNvPr>
            <p:cNvSpPr/>
            <p:nvPr/>
          </p:nvSpPr>
          <p:spPr>
            <a:xfrm>
              <a:off x="491169" y="2533470"/>
              <a:ext cx="84200" cy="54195"/>
            </a:xfrm>
            <a:custGeom>
              <a:avLst/>
              <a:gdLst/>
              <a:ahLst/>
              <a:cxnLst/>
              <a:rect l="l" t="t" r="r" b="b"/>
              <a:pathLst>
                <a:path w="113532" h="73074">
                  <a:moveTo>
                    <a:pt x="0" y="0"/>
                  </a:moveTo>
                  <a:lnTo>
                    <a:pt x="113532" y="0"/>
                  </a:lnTo>
                  <a:lnTo>
                    <a:pt x="113532" y="73074"/>
                  </a:lnTo>
                  <a:lnTo>
                    <a:pt x="0" y="73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1068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0326A83-917B-76CA-FD07-34191B50E419}"/>
              </a:ext>
            </a:extLst>
          </p:cNvPr>
          <p:cNvSpPr/>
          <p:nvPr/>
        </p:nvSpPr>
        <p:spPr>
          <a:xfrm>
            <a:off x="1696689" y="693242"/>
            <a:ext cx="547233" cy="547233"/>
          </a:xfrm>
          <a:custGeom>
            <a:avLst/>
            <a:gdLst/>
            <a:ahLst/>
            <a:cxnLst/>
            <a:rect l="l" t="t" r="r" b="b"/>
            <a:pathLst>
              <a:path w="613037" h="613037">
                <a:moveTo>
                  <a:pt x="0" y="0"/>
                </a:moveTo>
                <a:lnTo>
                  <a:pt x="613037" y="0"/>
                </a:lnTo>
                <a:lnTo>
                  <a:pt x="613037" y="613038"/>
                </a:lnTo>
                <a:lnTo>
                  <a:pt x="0" y="6130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ja-JP" altLang="en-US" sz="1068">
              <a:latin typeface="+mj-ea"/>
              <a:ea typeface="+mj-ea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8730FB6-7AD1-6740-61ED-0184A034A368}"/>
              </a:ext>
            </a:extLst>
          </p:cNvPr>
          <p:cNvSpPr/>
          <p:nvPr/>
        </p:nvSpPr>
        <p:spPr>
          <a:xfrm>
            <a:off x="1488800" y="213977"/>
            <a:ext cx="106831" cy="10683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23" dirty="0"/>
              <a:t>穴</a:t>
            </a: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3E2BCE3-62B2-E48B-CDE1-677BFBBA5123}"/>
              </a:ext>
            </a:extLst>
          </p:cNvPr>
          <p:cNvGrpSpPr/>
          <p:nvPr/>
        </p:nvGrpSpPr>
        <p:grpSpPr>
          <a:xfrm>
            <a:off x="839398" y="670442"/>
            <a:ext cx="841288" cy="592832"/>
            <a:chOff x="535063" y="1089583"/>
            <a:chExt cx="1401688" cy="987730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7D3889E8-E23D-E014-1B1F-DF080A063C6A}"/>
                </a:ext>
              </a:extLst>
            </p:cNvPr>
            <p:cNvSpPr/>
            <p:nvPr/>
          </p:nvSpPr>
          <p:spPr>
            <a:xfrm flipV="1">
              <a:off x="564208" y="1089583"/>
              <a:ext cx="1343968" cy="987730"/>
            </a:xfrm>
            <a:prstGeom prst="roundRect">
              <a:avLst>
                <a:gd name="adj" fmla="val 2266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68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175778E6-C794-93E1-C23F-A796B5418F80}"/>
                </a:ext>
              </a:extLst>
            </p:cNvPr>
            <p:cNvSpPr txBox="1"/>
            <p:nvPr/>
          </p:nvSpPr>
          <p:spPr>
            <a:xfrm>
              <a:off x="619445" y="1427094"/>
              <a:ext cx="1308122" cy="49548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・医療</a:t>
              </a:r>
              <a:r>
                <a:rPr kumimoji="1" lang="en-US" altLang="ja-JP" sz="600" b="1" dirty="0" err="1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MaaS</a:t>
              </a: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の受診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・オンライン診療の受診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  <a:p>
              <a:pPr eaLnBrk="0" hangingPunct="0">
                <a:lnSpc>
                  <a:spcPts val="840"/>
                </a:lnSpc>
              </a:pPr>
              <a:r>
                <a:rPr kumimoji="1" lang="ja-JP" altLang="en-US" sz="600" b="1" dirty="0">
                  <a:solidFill>
                    <a:srgbClr val="EA5506"/>
                  </a:solidFill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・受診場所のご相談 等</a:t>
              </a:r>
              <a:endParaRPr kumimoji="1" lang="en-US" altLang="ja-JP" sz="600" b="1" dirty="0">
                <a:solidFill>
                  <a:srgbClr val="EA5506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4FE0F998-F271-57B4-CDF0-7E5B36ED6C9A}"/>
                </a:ext>
              </a:extLst>
            </p:cNvPr>
            <p:cNvSpPr txBox="1"/>
            <p:nvPr/>
          </p:nvSpPr>
          <p:spPr>
            <a:xfrm>
              <a:off x="535063" y="1170881"/>
              <a:ext cx="1401688" cy="15383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eaLnBrk="0" hangingPunct="0"/>
              <a:r>
                <a:rPr lang="ja-JP" altLang="en-US" sz="600" dirty="0">
                  <a:latin typeface="Meiryo UI" panose="020B0604030504040204" pitchFamily="34" charset="-128"/>
                  <a:ea typeface="Meiryo UI" panose="020B0604030504040204" pitchFamily="34" charset="-128"/>
                  <a:cs typeface="Lexend Tera"/>
                  <a:sym typeface="Lexend Tera"/>
                </a:rPr>
                <a:t>ご連絡お待ちしてます</a:t>
              </a:r>
              <a:endParaRPr lang="en-US" altLang="ja-JP" sz="600" dirty="0"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A534CBF-7A0E-AFC7-0E4D-B1C88F8A77D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20" t="7121" r="1745" b="7495"/>
          <a:stretch>
            <a:fillRect/>
          </a:stretch>
        </p:blipFill>
        <p:spPr>
          <a:xfrm>
            <a:off x="907908" y="295699"/>
            <a:ext cx="481870" cy="137251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B1986DDA-223B-93AD-7C9C-41F5D0962947}"/>
              </a:ext>
            </a:extLst>
          </p:cNvPr>
          <p:cNvSpPr txBox="1"/>
          <p:nvPr/>
        </p:nvSpPr>
        <p:spPr>
          <a:xfrm>
            <a:off x="918550" y="419645"/>
            <a:ext cx="1300692" cy="221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 eaLnBrk="0" hangingPunct="0"/>
            <a:r>
              <a:rPr 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   ～</a:t>
            </a:r>
            <a:r>
              <a:rPr lang="ja-JP" alt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遠隔医療がつなぎ、</a:t>
            </a:r>
            <a:br>
              <a:rPr lang="en-US" altLang="ja-JP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</a:br>
            <a:r>
              <a:rPr lang="ja-JP" alt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　　　　支える地域医療を目指す</a:t>
            </a:r>
            <a:r>
              <a:rPr lang="en-US" sz="720" b="1" dirty="0">
                <a:solidFill>
                  <a:srgbClr val="191919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Lexend Tera"/>
                <a:sym typeface="Lexend Tera"/>
              </a:rPr>
              <a:t>～</a:t>
            </a:r>
          </a:p>
        </p:txBody>
      </p:sp>
    </p:spTree>
    <p:extLst>
      <p:ext uri="{BB962C8B-B14F-4D97-AF65-F5344CB8AC3E}">
        <p14:creationId xmlns:p14="http://schemas.microsoft.com/office/powerpoint/2010/main" val="2211672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0FF29-DF4E-FA5C-FF5A-358AEFF6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954359-B51C-FE91-CED4-C21AAD6F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参考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385FA7-20D0-72F2-C136-75F257AFA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528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45BD3-3DC2-B0C5-BBC4-C9C2CF1F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7A30AF9-BBCD-2ABA-A2C9-C3CE35279B25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6A15D9D-297E-1A2F-2FD7-066C2AD91066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2B518932-40B9-1E50-FA6F-339D47876062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2CA24797-FEA2-E0F9-2F37-F8CE08EF6080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43464960-B261-5DCD-C787-ED5AB63C1900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7F65742E-3884-75C4-B2D6-73489359E3A9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0C74EB1B-B648-592A-C219-2C2F0C34F3C2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A0EEE6BE-6D31-D8D2-0C2C-4DC99BBEFC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321C69C4-842D-6630-DA90-E65340957F7E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ありがとう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9395D663-A60A-0315-2CCB-6532C14BF58D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8B29DAD2-4B95-2D4F-1EB6-A223E8EBE330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E7032D9-D471-7C1C-8CAD-BC9C18294D1B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115FD814-B625-1D93-B43E-16108C8A8A3E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569685DD-2FF3-194D-00EB-729D00F82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5732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CEA3D-E6EB-AAC6-578A-1BC54AF0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5BF7DD0B-1548-E69A-1EBC-DC77DC89A49D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E4E275B-E0E0-37E3-B22C-1BEDF9CFA18E}"/>
              </a:ext>
            </a:extLst>
          </p:cNvPr>
          <p:cNvSpPr/>
          <p:nvPr/>
        </p:nvSpPr>
        <p:spPr>
          <a:xfrm>
            <a:off x="52384" y="86414"/>
            <a:ext cx="2990852" cy="1165609"/>
          </a:xfrm>
          <a:prstGeom prst="roundRect">
            <a:avLst>
              <a:gd name="adj" fmla="val 14805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1C0575C-D73F-4862-D90C-C419AD2A38A3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本カードを破損・紛失された場合、または使用期限を過ぎた場合は、返礼品を</a:t>
            </a:r>
            <a:endParaRPr kumimoji="1" lang="en-US" altLang="ja-JP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 ご提供できかねますので、あらかじめご了承くださいますようお願いいたします。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7589EB2-1DF5-3490-B125-4650B40E91F5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E7480EB-4DEC-D405-C80E-38098FAAD577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14642D3-0C3A-E96F-98BD-C9D5901F4038}"/>
              </a:ext>
            </a:extLst>
          </p:cNvPr>
          <p:cNvSpPr/>
          <p:nvPr/>
        </p:nvSpPr>
        <p:spPr>
          <a:xfrm>
            <a:off x="216692" y="1408325"/>
            <a:ext cx="2662238" cy="302565"/>
          </a:xfrm>
          <a:prstGeom prst="roundRect">
            <a:avLst>
              <a:gd name="adj" fmla="val 17073"/>
            </a:avLst>
          </a:prstGeom>
          <a:noFill/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返礼品に関するお問い合わせ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秋田大学総務企画部広報課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018-889-3266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kikin@jimu.akita-u.ac.jp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90B7977-9E19-2077-2DDB-71A2FC4E65C5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D521C9A8-E74D-8134-42F2-6C798B5176B6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2026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2791D01-E128-A5FD-42BC-793587E8E6E2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34B76D2-7B7A-D431-99CF-FC7044A87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2" y="179381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92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2D36-B11B-A8FB-75A9-A59CF77C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93A3DCB-8D52-30AA-5AD1-0A4C3AD1DD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73" r="4158" b="2474"/>
          <a:stretch>
            <a:fillRect/>
          </a:stretch>
        </p:blipFill>
        <p:spPr>
          <a:xfrm>
            <a:off x="12" y="895057"/>
            <a:ext cx="3095613" cy="1049631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B13E62B-44E1-8B79-DB50-BDB580695FAC}"/>
              </a:ext>
            </a:extLst>
          </p:cNvPr>
          <p:cNvSpPr/>
          <p:nvPr/>
        </p:nvSpPr>
        <p:spPr>
          <a:xfrm rot="10800000">
            <a:off x="-14" y="5065"/>
            <a:ext cx="3095625" cy="1123836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2728786-E7F7-9F6B-DF4C-3682DE3130D9}"/>
              </a:ext>
            </a:extLst>
          </p:cNvPr>
          <p:cNvGrpSpPr/>
          <p:nvPr/>
        </p:nvGrpSpPr>
        <p:grpSpPr>
          <a:xfrm>
            <a:off x="2029991" y="119637"/>
            <a:ext cx="814144" cy="834587"/>
            <a:chOff x="1007265" y="2604330"/>
            <a:chExt cx="962823" cy="951821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4C56CA58-BFFD-86CB-2032-152F7F0770FD}"/>
                </a:ext>
              </a:extLst>
            </p:cNvPr>
            <p:cNvSpPr/>
            <p:nvPr/>
          </p:nvSpPr>
          <p:spPr>
            <a:xfrm>
              <a:off x="1007265" y="2604330"/>
              <a:ext cx="962823" cy="951821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CDCD3AF-EFC7-73AD-5586-858B78717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581794E-657C-84FE-8394-D5B90F540D42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DA2BBE50-AA65-A904-9BCA-D22F036F1B57}"/>
              </a:ext>
            </a:extLst>
          </p:cNvPr>
          <p:cNvSpPr/>
          <p:nvPr/>
        </p:nvSpPr>
        <p:spPr>
          <a:xfrm>
            <a:off x="971125" y="1210205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002B3EF-E8BE-ADCE-BBF2-193E177C0738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379142E-0BA8-AC04-F3CC-A8BB11C42983}"/>
              </a:ext>
            </a:extLst>
          </p:cNvPr>
          <p:cNvSpPr/>
          <p:nvPr/>
        </p:nvSpPr>
        <p:spPr>
          <a:xfrm>
            <a:off x="930134" y="1429151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endParaRPr kumimoji="1" lang="en-US" altLang="ja-JP" sz="800" dirty="0">
              <a:solidFill>
                <a:schemeClr val="bg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F7CCE8A-0462-C8FB-C1AF-3E7F3E09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336720" y="195333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419780-1B67-DC5F-CF77-650A24B4C685}"/>
              </a:ext>
            </a:extLst>
          </p:cNvPr>
          <p:cNvSpPr txBox="1"/>
          <p:nvPr/>
        </p:nvSpPr>
        <p:spPr>
          <a:xfrm>
            <a:off x="185716" y="764163"/>
            <a:ext cx="1768020" cy="18466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4014802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D5FA-EAF7-9E1C-3D52-208EF164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32ACD1C-3A5E-D0C8-FCF3-5A9774805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40" r="4158" b="2474"/>
          <a:stretch>
            <a:fillRect/>
          </a:stretch>
        </p:blipFill>
        <p:spPr>
          <a:xfrm>
            <a:off x="12" y="1005633"/>
            <a:ext cx="3095613" cy="932021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09E6B75-AE22-3794-0CA3-AA42B78EF14A}"/>
              </a:ext>
            </a:extLst>
          </p:cNvPr>
          <p:cNvSpPr/>
          <p:nvPr/>
        </p:nvSpPr>
        <p:spPr>
          <a:xfrm rot="10800000">
            <a:off x="-14" y="5065"/>
            <a:ext cx="3095625" cy="10076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E0193D8-63EF-6C7B-BF9B-EB476AC667BD}"/>
              </a:ext>
            </a:extLst>
          </p:cNvPr>
          <p:cNvGrpSpPr/>
          <p:nvPr/>
        </p:nvGrpSpPr>
        <p:grpSpPr>
          <a:xfrm>
            <a:off x="1858195" y="333012"/>
            <a:ext cx="1237430" cy="1326181"/>
            <a:chOff x="1007264" y="2559353"/>
            <a:chExt cx="964464" cy="99679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0B617C7A-360E-8EF9-C4BB-A75483D49B27}"/>
                </a:ext>
              </a:extLst>
            </p:cNvPr>
            <p:cNvSpPr/>
            <p:nvPr/>
          </p:nvSpPr>
          <p:spPr>
            <a:xfrm>
              <a:off x="1007264" y="2559353"/>
              <a:ext cx="964464" cy="996797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1608B95-90DE-1DDE-791D-ADD67DD12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44F7D49-6892-DE47-C039-E68770B8FAE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CA14085-F548-9C3E-5E20-D62B317A2F4D}"/>
              </a:ext>
            </a:extLst>
          </p:cNvPr>
          <p:cNvSpPr/>
          <p:nvPr/>
        </p:nvSpPr>
        <p:spPr>
          <a:xfrm>
            <a:off x="1896899" y="71341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188BA9E-0CBC-B2B4-78B4-20DC267A0C04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12B835-1315-5677-F468-B09D9EAD643D}"/>
              </a:ext>
            </a:extLst>
          </p:cNvPr>
          <p:cNvSpPr/>
          <p:nvPr/>
        </p:nvSpPr>
        <p:spPr>
          <a:xfrm>
            <a:off x="1857819" y="267498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32034C2-A06F-979B-46C6-8AE1A00A7F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220635" y="217467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97CFDA-16E8-4626-986A-B5D96EC1036C}"/>
              </a:ext>
            </a:extLst>
          </p:cNvPr>
          <p:cNvSpPr txBox="1"/>
          <p:nvPr/>
        </p:nvSpPr>
        <p:spPr>
          <a:xfrm>
            <a:off x="32951" y="888887"/>
            <a:ext cx="1768020" cy="20005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7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3537560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63642-E37C-6B1E-3F48-F2F3EDDB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A3E03B1-1488-6A08-8ABD-9BED9BDA4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54334" r="4455" b="366"/>
          <a:stretch>
            <a:fillRect/>
          </a:stretch>
        </p:blipFill>
        <p:spPr>
          <a:xfrm>
            <a:off x="2" y="1059881"/>
            <a:ext cx="3095623" cy="895893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2E067A0-629E-40E3-6545-D42FB8A0983B}"/>
              </a:ext>
            </a:extLst>
          </p:cNvPr>
          <p:cNvSpPr/>
          <p:nvPr/>
        </p:nvSpPr>
        <p:spPr>
          <a:xfrm rot="10800000">
            <a:off x="-14" y="5065"/>
            <a:ext cx="3095625" cy="10076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C953776-A39D-2A54-612A-2534B9F5BF2B}"/>
              </a:ext>
            </a:extLst>
          </p:cNvPr>
          <p:cNvGrpSpPr/>
          <p:nvPr/>
        </p:nvGrpSpPr>
        <p:grpSpPr>
          <a:xfrm>
            <a:off x="1858195" y="333012"/>
            <a:ext cx="1237430" cy="1326181"/>
            <a:chOff x="1007264" y="2559353"/>
            <a:chExt cx="964464" cy="99679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105A2CA3-5B50-57BF-8535-DEE491539E29}"/>
                </a:ext>
              </a:extLst>
            </p:cNvPr>
            <p:cNvSpPr/>
            <p:nvPr/>
          </p:nvSpPr>
          <p:spPr>
            <a:xfrm>
              <a:off x="1007264" y="2559353"/>
              <a:ext cx="964464" cy="996797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A67C3AD7-2895-DDF3-3BF1-48A8D3F6D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43D3ED4-63EC-8168-9045-334ADA29E46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317FDF3-B084-3D42-0B7D-52FAFD535477}"/>
              </a:ext>
            </a:extLst>
          </p:cNvPr>
          <p:cNvSpPr/>
          <p:nvPr/>
        </p:nvSpPr>
        <p:spPr>
          <a:xfrm>
            <a:off x="1898810" y="173300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14BA983-EE67-BBC8-EABF-AA9B759D894B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E741402-A459-7527-CD7E-BA2ED755BD96}"/>
              </a:ext>
            </a:extLst>
          </p:cNvPr>
          <p:cNvSpPr/>
          <p:nvPr/>
        </p:nvSpPr>
        <p:spPr>
          <a:xfrm>
            <a:off x="1857819" y="267498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en-US" altLang="ja-JP" sz="800" dirty="0">
              <a:solidFill>
                <a:schemeClr val="tx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AFFD8C6-0B0A-5733-99BB-645C59EBCB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220635" y="217467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80A2BB-E912-5DB5-8B66-9B1098571F60}"/>
              </a:ext>
            </a:extLst>
          </p:cNvPr>
          <p:cNvSpPr txBox="1"/>
          <p:nvPr/>
        </p:nvSpPr>
        <p:spPr>
          <a:xfrm>
            <a:off x="32951" y="888887"/>
            <a:ext cx="1768020" cy="20005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7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4276576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D0473-B134-1B45-2842-A2D86037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FB68290B-F8CB-0156-E4DC-B47FD655B110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92AE0DA-2042-91CC-4BFA-469B5023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766" y="-9777"/>
            <a:ext cx="3216491" cy="1962794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A7CCCF30-10EC-AF81-1A73-C2B508E6637D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・紛失された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、あらかじめ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ご了承ください。</a:t>
            </a:r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7511C53-D2DB-701E-9708-0514B5990D59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BD24878-A07D-934B-F822-017F15413EC0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B8A5B02-6F81-566B-7589-BF1BA1784B0E}"/>
              </a:ext>
            </a:extLst>
          </p:cNvPr>
          <p:cNvSpPr/>
          <p:nvPr/>
        </p:nvSpPr>
        <p:spPr>
          <a:xfrm>
            <a:off x="120651" y="1408325"/>
            <a:ext cx="2869760" cy="302565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330C507-3D3D-BD4C-E2F6-4EFB314FB306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「名刺代わりに」は、秋田大学発ベンチャー、</a:t>
            </a:r>
            <a:r>
              <a:rPr kumimoji="1" lang="en-US" altLang="ja-JP" sz="6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AUIC</a:t>
            </a:r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が提供しています。</a:t>
            </a:r>
            <a:endParaRPr kumimoji="1" lang="en-US" altLang="ja-JP" sz="600" dirty="0">
              <a:ln w="0">
                <a:noFill/>
              </a:ln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5866370B-A7EC-65BF-3592-327BBA11D81D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2030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6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0397BF0-B295-9747-EAC0-73844B527D93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1BB168-2095-F168-0272-119A15A99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77" y="179675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39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FDD7-99F4-0397-AA62-4F559B4D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A85FC15-3FDF-A504-3781-0B64E3B5DA50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EE1B6DF-850D-47B7-1BF3-3933A70E9D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574" r="1184" b="923"/>
          <a:stretch>
            <a:fillRect/>
          </a:stretch>
        </p:blipFill>
        <p:spPr>
          <a:xfrm>
            <a:off x="-2" y="1"/>
            <a:ext cx="3095626" cy="1944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051B021-6F4E-75F7-840C-9565926F8B8E}"/>
              </a:ext>
            </a:extLst>
          </p:cNvPr>
          <p:cNvSpPr/>
          <p:nvPr/>
        </p:nvSpPr>
        <p:spPr>
          <a:xfrm>
            <a:off x="-4" y="0"/>
            <a:ext cx="3095628" cy="19558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79000">
                <a:srgbClr val="0A2165">
                  <a:alpha val="0"/>
                </a:srgbClr>
              </a:gs>
              <a:gs pos="20000">
                <a:srgbClr val="0A2165">
                  <a:alpha val="0"/>
                </a:srgbClr>
              </a:gs>
              <a:gs pos="0">
                <a:srgbClr val="0A2165"/>
              </a:gs>
              <a:gs pos="100000">
                <a:srgbClr val="0A2165"/>
              </a:gs>
            </a:gsLst>
            <a:lin ang="5400000" scaled="0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2853844-0880-1C17-811C-A6ACDA9FA2D5}"/>
              </a:ext>
            </a:extLst>
          </p:cNvPr>
          <p:cNvSpPr/>
          <p:nvPr/>
        </p:nvSpPr>
        <p:spPr>
          <a:xfrm>
            <a:off x="208674" y="285516"/>
            <a:ext cx="2720550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本カードの再発行はできません。また、破損・紛失された場合、使用期限を過ぎた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場合などは、お品ものをご提供できなくなりますので、あらかじめご了承ください。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B182E2A-16C1-A890-1734-A65ADC16836C}"/>
              </a:ext>
            </a:extLst>
          </p:cNvPr>
          <p:cNvSpPr/>
          <p:nvPr/>
        </p:nvSpPr>
        <p:spPr>
          <a:xfrm>
            <a:off x="288275" y="587658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3AF8017-7195-D7F3-E7EE-61E5A797B6AE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0328CB2-AA17-965A-7586-5333B16AE150}"/>
              </a:ext>
            </a:extLst>
          </p:cNvPr>
          <p:cNvSpPr/>
          <p:nvPr/>
        </p:nvSpPr>
        <p:spPr>
          <a:xfrm>
            <a:off x="208674" y="1173389"/>
            <a:ext cx="2720550" cy="469554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BE4700A-57CF-AAF5-4DA1-90FEC516714F}"/>
              </a:ext>
            </a:extLst>
          </p:cNvPr>
          <p:cNvSpPr/>
          <p:nvPr/>
        </p:nvSpPr>
        <p:spPr>
          <a:xfrm>
            <a:off x="288275" y="1687662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>
            <a:outerShdw dir="120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AUIC</a:t>
            </a:r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が提供しています。</a:t>
            </a:r>
            <a:endParaRPr kumimoji="1" lang="en-US" altLang="ja-JP" sz="600" b="1" dirty="0">
              <a:ln w="1270" cap="rnd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38100" dist="63500" dir="4800000" algn="ctr" rotWithShape="0">
                  <a:schemeClr val="tx1"/>
                </a:outerShdw>
              </a:effectLst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4263BBD2-7ACC-D646-DB15-F5239B253335}"/>
              </a:ext>
            </a:extLst>
          </p:cNvPr>
          <p:cNvSpPr/>
          <p:nvPr/>
        </p:nvSpPr>
        <p:spPr>
          <a:xfrm>
            <a:off x="187536" y="305537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［使用期限：出会いの思い出は永遠に］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3CE2761-98E7-601C-1B3D-A03745937CAE}"/>
              </a:ext>
            </a:extLst>
          </p:cNvPr>
          <p:cNvSpPr/>
          <p:nvPr/>
        </p:nvSpPr>
        <p:spPr>
          <a:xfrm>
            <a:off x="1051979" y="584400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b="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F28F698-A6A9-16E3-09FF-0C0BA0A8AE91}"/>
              </a:ext>
            </a:extLst>
          </p:cNvPr>
          <p:cNvGrpSpPr/>
          <p:nvPr/>
        </p:nvGrpSpPr>
        <p:grpSpPr>
          <a:xfrm>
            <a:off x="291449" y="1698146"/>
            <a:ext cx="97256" cy="97256"/>
            <a:chOff x="269902" y="1678135"/>
            <a:chExt cx="97256" cy="9725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0466C8D7-9567-527F-87CD-C95ACAD5ED3B}"/>
                </a:ext>
              </a:extLst>
            </p:cNvPr>
            <p:cNvSpPr/>
            <p:nvPr/>
          </p:nvSpPr>
          <p:spPr>
            <a:xfrm>
              <a:off x="269903" y="1678136"/>
              <a:ext cx="97255" cy="97255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FFA3639F-BC55-26E8-5489-866DA7F51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02" y="1678135"/>
              <a:ext cx="97255" cy="97255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83472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7D9A-039C-BC61-E2B3-2EA12723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E26B644-6BEB-5CC0-BFD2-45BDE517E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40" r="4158" b="2474"/>
          <a:stretch>
            <a:fillRect/>
          </a:stretch>
        </p:blipFill>
        <p:spPr>
          <a:xfrm>
            <a:off x="12" y="1012667"/>
            <a:ext cx="3095613" cy="932021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93B47D6-B18B-4D90-D895-3432F016F5FA}"/>
              </a:ext>
            </a:extLst>
          </p:cNvPr>
          <p:cNvSpPr/>
          <p:nvPr/>
        </p:nvSpPr>
        <p:spPr>
          <a:xfrm rot="10800000">
            <a:off x="-16" y="5065"/>
            <a:ext cx="3095625" cy="150389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8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5EDD50D-5516-60E9-5EA7-CDD1E3657AFE}"/>
              </a:ext>
            </a:extLst>
          </p:cNvPr>
          <p:cNvGrpSpPr/>
          <p:nvPr/>
        </p:nvGrpSpPr>
        <p:grpSpPr>
          <a:xfrm>
            <a:off x="1858194" y="0"/>
            <a:ext cx="1235325" cy="1326181"/>
            <a:chOff x="1007264" y="2559353"/>
            <a:chExt cx="962823" cy="99679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1FC298C8-ECAC-8B6D-693C-94522E560036}"/>
                </a:ext>
              </a:extLst>
            </p:cNvPr>
            <p:cNvSpPr/>
            <p:nvPr/>
          </p:nvSpPr>
          <p:spPr>
            <a:xfrm>
              <a:off x="1007264" y="2559353"/>
              <a:ext cx="962823" cy="996797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F05E310-6114-9849-4D1C-8FC5A444F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72E9A38-580F-1047-27CB-5D5053D3DA9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3EDE3C2-9F11-A522-296C-2B42664E9733}"/>
              </a:ext>
            </a:extLst>
          </p:cNvPr>
          <p:cNvSpPr/>
          <p:nvPr/>
        </p:nvSpPr>
        <p:spPr>
          <a:xfrm>
            <a:off x="3808249" y="685426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D96A1F0-7C38-5D33-F28A-65A49A2DAB5F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543796C-ED5F-13FE-44DD-6777A711DA82}"/>
              </a:ext>
            </a:extLst>
          </p:cNvPr>
          <p:cNvSpPr/>
          <p:nvPr/>
        </p:nvSpPr>
        <p:spPr>
          <a:xfrm>
            <a:off x="3769169" y="881583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603BD6D-EBBC-4898-D22E-1E2F739799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188234" y="435724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0A37F03-B0EF-083E-236B-45659C187B46}"/>
              </a:ext>
            </a:extLst>
          </p:cNvPr>
          <p:cNvSpPr txBox="1"/>
          <p:nvPr/>
        </p:nvSpPr>
        <p:spPr>
          <a:xfrm>
            <a:off x="88069" y="1309851"/>
            <a:ext cx="1768020" cy="21544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8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1965687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6204-B5BC-712D-F3F6-4D947421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AE736AC-77AB-9439-B4CD-1DC1EA6E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AB58033-673C-1C3D-3F8B-30EA4A4CB72B}"/>
              </a:ext>
            </a:extLst>
          </p:cNvPr>
          <p:cNvGrpSpPr/>
          <p:nvPr/>
        </p:nvGrpSpPr>
        <p:grpSpPr>
          <a:xfrm>
            <a:off x="1001269" y="248425"/>
            <a:ext cx="1093085" cy="1475085"/>
            <a:chOff x="1007265" y="2397514"/>
            <a:chExt cx="962823" cy="1252992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B35BED57-3700-6CA5-AED0-900891C297FA}"/>
                </a:ext>
              </a:extLst>
            </p:cNvPr>
            <p:cNvSpPr/>
            <p:nvPr/>
          </p:nvSpPr>
          <p:spPr>
            <a:xfrm>
              <a:off x="1007265" y="2397514"/>
              <a:ext cx="962823" cy="1252992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E76EAFC2-10C9-F88A-0EEF-81A3A86D2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8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EE217FC-62B1-B6F3-5B82-B9D893A93574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1B57C80C-6485-8D4F-FB80-00B54E2FBE9A}"/>
              </a:ext>
            </a:extLst>
          </p:cNvPr>
          <p:cNvSpPr/>
          <p:nvPr/>
        </p:nvSpPr>
        <p:spPr>
          <a:xfrm rot="24067">
            <a:off x="1040928" y="284901"/>
            <a:ext cx="1007655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DCB2729-1505-9664-C021-3A80C860A7D4}"/>
              </a:ext>
            </a:extLst>
          </p:cNvPr>
          <p:cNvSpPr/>
          <p:nvPr/>
        </p:nvSpPr>
        <p:spPr>
          <a:xfrm>
            <a:off x="2330761" y="1791386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endParaRPr kumimoji="1" lang="en-US" altLang="ja-JP" sz="800" dirty="0">
              <a:solidFill>
                <a:schemeClr val="bg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2B72BC-B4AE-E99C-F1E8-8C6116FCEE82}"/>
              </a:ext>
            </a:extLst>
          </p:cNvPr>
          <p:cNvSpPr txBox="1"/>
          <p:nvPr/>
        </p:nvSpPr>
        <p:spPr>
          <a:xfrm>
            <a:off x="709699" y="1570707"/>
            <a:ext cx="1670112" cy="169277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500" dirty="0">
                <a:solidFill>
                  <a:schemeClr val="bg1"/>
                </a:solidFill>
                <a:effectLst>
                  <a:outerShdw sx="101000" sy="1010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1771292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B58A-EA9E-6948-D8C1-F2FBC61DB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B975856-41F4-9B23-B31C-51F9BF75A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FF3AE34-96D0-636D-6322-A595AE2E02DB}"/>
              </a:ext>
            </a:extLst>
          </p:cNvPr>
          <p:cNvSpPr/>
          <p:nvPr/>
        </p:nvSpPr>
        <p:spPr>
          <a:xfrm rot="10800000">
            <a:off x="1" y="-11088"/>
            <a:ext cx="3095622" cy="196686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44000">
                <a:srgbClr val="FFFFFF"/>
              </a:gs>
              <a:gs pos="39000">
                <a:schemeClr val="bg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0442C94-2198-829A-0327-6839532F4EE0}"/>
              </a:ext>
            </a:extLst>
          </p:cNvPr>
          <p:cNvGrpSpPr/>
          <p:nvPr/>
        </p:nvGrpSpPr>
        <p:grpSpPr>
          <a:xfrm rot="20354609">
            <a:off x="211231" y="304820"/>
            <a:ext cx="1093085" cy="1122631"/>
            <a:chOff x="1007265" y="2604330"/>
            <a:chExt cx="962823" cy="953604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18C20545-8AA4-C973-48FA-73DABC35BA0A}"/>
                </a:ext>
              </a:extLst>
            </p:cNvPr>
            <p:cNvSpPr/>
            <p:nvPr/>
          </p:nvSpPr>
          <p:spPr>
            <a:xfrm>
              <a:off x="1007265" y="2604330"/>
              <a:ext cx="962823" cy="953604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3D5C7E9-E2D9-64F8-28AD-983F5175E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653319B-043D-25F4-B1DA-326175B9083D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3581B1BF-1462-E1E7-DB5E-B441F3AF2B49}"/>
              </a:ext>
            </a:extLst>
          </p:cNvPr>
          <p:cNvSpPr/>
          <p:nvPr/>
        </p:nvSpPr>
        <p:spPr>
          <a:xfrm rot="20378676">
            <a:off x="18536" y="159031"/>
            <a:ext cx="1007655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F07B1D5-9EFB-F59F-3AD5-7A62580689AD}"/>
              </a:ext>
            </a:extLst>
          </p:cNvPr>
          <p:cNvSpPr/>
          <p:nvPr/>
        </p:nvSpPr>
        <p:spPr>
          <a:xfrm>
            <a:off x="2290220" y="1774253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0D39BC-836C-3C26-1772-1E2651BCA7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 rot="20422190">
            <a:off x="1353789" y="246448"/>
            <a:ext cx="1381816" cy="546596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834DB71-B9B0-4B91-6EC9-77301177F251}"/>
              </a:ext>
            </a:extLst>
          </p:cNvPr>
          <p:cNvSpPr txBox="1"/>
          <p:nvPr/>
        </p:nvSpPr>
        <p:spPr>
          <a:xfrm rot="20405706">
            <a:off x="955032" y="1228172"/>
            <a:ext cx="1670112" cy="184666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chemeClr val="bg1"/>
                </a:solidFill>
                <a:effectLst>
                  <a:outerShdw sx="101000" sy="1010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760208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D5FA-EAF7-9E1C-3D52-208EF164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32ACD1C-3A5E-D0C8-FCF3-5A9774805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09E6B75-AE22-3794-0CA3-AA42B78EF14A}"/>
              </a:ext>
            </a:extLst>
          </p:cNvPr>
          <p:cNvSpPr/>
          <p:nvPr/>
        </p:nvSpPr>
        <p:spPr>
          <a:xfrm rot="10800000">
            <a:off x="1" y="-11088"/>
            <a:ext cx="3095622" cy="1966861"/>
          </a:xfrm>
          <a:prstGeom prst="roundRect">
            <a:avLst>
              <a:gd name="adj" fmla="val 0"/>
            </a:avLst>
          </a:prstGeom>
          <a:gradFill flip="none" rotWithShape="1">
            <a:gsLst>
              <a:gs pos="75000">
                <a:srgbClr val="FFFFFF"/>
              </a:gs>
              <a:gs pos="77000">
                <a:schemeClr val="bg1">
                  <a:alpha val="0"/>
                </a:schemeClr>
              </a:gs>
              <a:gs pos="31000">
                <a:srgbClr val="FFFFFF"/>
              </a:gs>
              <a:gs pos="29000">
                <a:schemeClr val="bg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B617C7A-360E-8EF9-C4BB-A75483D49B27}"/>
              </a:ext>
            </a:extLst>
          </p:cNvPr>
          <p:cNvSpPr/>
          <p:nvPr/>
        </p:nvSpPr>
        <p:spPr>
          <a:xfrm rot="20404139">
            <a:off x="160581" y="595576"/>
            <a:ext cx="1147201" cy="1178209"/>
          </a:xfrm>
          <a:prstGeom prst="roundRect">
            <a:avLst>
              <a:gd name="adj" fmla="val 6665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2400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31608B95-90DE-1DDE-791D-ADD67DD12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4139">
            <a:off x="207804" y="641692"/>
            <a:ext cx="1052678" cy="1085770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44F7D49-6892-DE47-C039-E68770B8FAEF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CA14085-F548-9C3E-5E20-D62B317A2F4D}"/>
              </a:ext>
            </a:extLst>
          </p:cNvPr>
          <p:cNvSpPr/>
          <p:nvPr/>
        </p:nvSpPr>
        <p:spPr>
          <a:xfrm rot="20378676">
            <a:off x="61030" y="3985"/>
            <a:ext cx="617537" cy="495569"/>
          </a:xfrm>
          <a:prstGeom prst="roundRect">
            <a:avLst>
              <a:gd name="adj" fmla="val 6665"/>
            </a:avLst>
          </a:prstGeom>
          <a:noFill/>
          <a:ln>
            <a:noFill/>
          </a:ln>
          <a:effectLst>
            <a:outerShdw blurRad="88900" dist="76200" dir="60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36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32034C2-A06F-979B-46C6-8AE1A00A7F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 rot="20365413">
            <a:off x="1310144" y="319752"/>
            <a:ext cx="1548181" cy="612404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97CFDA-16E8-4626-986A-B5D96EC1036C}"/>
              </a:ext>
            </a:extLst>
          </p:cNvPr>
          <p:cNvSpPr txBox="1"/>
          <p:nvPr/>
        </p:nvSpPr>
        <p:spPr>
          <a:xfrm rot="20405706">
            <a:off x="1354430" y="904741"/>
            <a:ext cx="1670112" cy="184666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rgbClr val="0A2165"/>
                </a:solidFill>
                <a:effectLst>
                  <a:outerShdw blurRad="381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12B835-1315-5677-F468-B09D9EAD643D}"/>
              </a:ext>
            </a:extLst>
          </p:cNvPr>
          <p:cNvSpPr/>
          <p:nvPr/>
        </p:nvSpPr>
        <p:spPr>
          <a:xfrm>
            <a:off x="2262085" y="1774253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384533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685E-8D34-4435-D808-B6B2323D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6EC9FB0-0D0A-1EC6-0A60-32DD5CE83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084918A-A978-E0E5-3D77-3A014C72559A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51CADBA-94EB-17AF-BD1F-33BBF0D5BFFC}"/>
              </a:ext>
            </a:extLst>
          </p:cNvPr>
          <p:cNvSpPr/>
          <p:nvPr/>
        </p:nvSpPr>
        <p:spPr>
          <a:xfrm>
            <a:off x="2292198" y="1796465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F82B082-DF07-031F-309E-FADCF61ECADA}"/>
              </a:ext>
            </a:extLst>
          </p:cNvPr>
          <p:cNvGrpSpPr/>
          <p:nvPr/>
        </p:nvGrpSpPr>
        <p:grpSpPr>
          <a:xfrm>
            <a:off x="1" y="-11088"/>
            <a:ext cx="3095622" cy="1966861"/>
            <a:chOff x="1" y="-11088"/>
            <a:chExt cx="3095622" cy="1966861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D172C7EB-9E5E-C8EF-B37C-BDB4904163E2}"/>
                </a:ext>
              </a:extLst>
            </p:cNvPr>
            <p:cNvSpPr/>
            <p:nvPr/>
          </p:nvSpPr>
          <p:spPr>
            <a:xfrm rot="10800000">
              <a:off x="1" y="-11088"/>
              <a:ext cx="3095622" cy="196686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75000">
                  <a:srgbClr val="FFFFFF"/>
                </a:gs>
                <a:gs pos="77000">
                  <a:schemeClr val="bg1">
                    <a:alpha val="0"/>
                  </a:schemeClr>
                </a:gs>
                <a:gs pos="31000">
                  <a:srgbClr val="FFFFFF"/>
                </a:gs>
                <a:gs pos="29000">
                  <a:schemeClr val="bg1">
                    <a:alpha val="0"/>
                  </a:schemeClr>
                </a:gs>
              </a:gsLst>
              <a:lin ang="4200000" scaled="0"/>
              <a:tileRect/>
            </a:gradFill>
            <a:ln>
              <a:noFill/>
            </a:ln>
            <a:effectLst>
              <a:outerShdw dir="5400000" algn="ctr" rotWithShape="0">
                <a:schemeClr val="bg1"/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effectLst>
                  <a:outerShdw dist="50800" dir="5400000" algn="ctr" rotWithShape="0">
                    <a:srgbClr val="000000">
                      <a:alpha val="43137"/>
                    </a:srgbClr>
                  </a:outerShdw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7DE08F0F-FCC5-03FD-AB94-85A878423091}"/>
                </a:ext>
              </a:extLst>
            </p:cNvPr>
            <p:cNvGrpSpPr/>
            <p:nvPr/>
          </p:nvGrpSpPr>
          <p:grpSpPr>
            <a:xfrm rot="20404139">
              <a:off x="160581" y="595576"/>
              <a:ext cx="1147201" cy="1178209"/>
              <a:chOff x="1007265" y="2604330"/>
              <a:chExt cx="962823" cy="953604"/>
            </a:xfrm>
          </p:grpSpPr>
          <p:sp>
            <p:nvSpPr>
              <p:cNvPr id="13" name="四角形: 角を丸くする 12">
                <a:extLst>
                  <a:ext uri="{FF2B5EF4-FFF2-40B4-BE49-F238E27FC236}">
                    <a16:creationId xmlns:a16="http://schemas.microsoft.com/office/drawing/2014/main" id="{E8A68365-1C7D-AC9A-3004-CA6199A150BB}"/>
                  </a:ext>
                </a:extLst>
              </p:cNvPr>
              <p:cNvSpPr/>
              <p:nvPr/>
            </p:nvSpPr>
            <p:spPr>
              <a:xfrm>
                <a:off x="1007265" y="2604330"/>
                <a:ext cx="962823" cy="953604"/>
              </a:xfrm>
              <a:prstGeom prst="roundRect">
                <a:avLst>
                  <a:gd name="adj" fmla="val 6665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24000">
                    <a:schemeClr val="bg1"/>
                  </a:gs>
                  <a:gs pos="100000">
                    <a:schemeClr val="bg1"/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5" name="図 14" descr="QR コード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A14DA6EE-CC6B-37DC-05C7-239FBE2BC6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6930" y="2641649"/>
                <a:ext cx="883492" cy="878787"/>
              </a:xfrm>
              <a:prstGeom prst="rect">
                <a:avLst/>
              </a:prstGeom>
            </p:spPr>
          </p:pic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33550D30-FED0-4B5D-18BC-9B7C8BCCC7A2}"/>
                </a:ext>
              </a:extLst>
            </p:cNvPr>
            <p:cNvSpPr/>
            <p:nvPr/>
          </p:nvSpPr>
          <p:spPr>
            <a:xfrm rot="20378676">
              <a:off x="61030" y="3985"/>
              <a:ext cx="617537" cy="495569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kumimoji="1" lang="ja-JP" altLang="en-US" sz="3600" dirty="0">
                  <a:solidFill>
                    <a:schemeClr val="tx1"/>
                  </a:solidFill>
                  <a:effectLst>
                    <a:outerShdw blurRad="50800" dir="2700000" algn="tl" rotWithShape="0">
                      <a:prstClr val="black">
                        <a:alpha val="40000"/>
                      </a:prstClr>
                    </a:outerShdw>
                  </a:effectLst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😍</a:t>
              </a:r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6F4C55F6-2518-87CC-3C97-D2DCFB512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" b="46838"/>
            <a:stretch>
              <a:fillRect/>
            </a:stretch>
          </p:blipFill>
          <p:spPr>
            <a:xfrm rot="20365413">
              <a:off x="1310144" y="319752"/>
              <a:ext cx="1548181" cy="612404"/>
            </a:xfrm>
            <a:prstGeom prst="rect">
              <a:avLst/>
            </a:prstGeom>
            <a:noFill/>
            <a:effectLst>
              <a:softEdge rad="0"/>
            </a:effectLst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A4DE435-C0DD-28D7-9138-332BDD130F51}"/>
                </a:ext>
              </a:extLst>
            </p:cNvPr>
            <p:cNvSpPr txBox="1"/>
            <p:nvPr/>
          </p:nvSpPr>
          <p:spPr>
            <a:xfrm rot="20405706">
              <a:off x="1354430" y="904741"/>
              <a:ext cx="1670112" cy="184666"/>
            </a:xfrm>
            <a:prstGeom prst="rect">
              <a:avLst/>
            </a:prstGeom>
            <a:noFill/>
            <a:ln>
              <a:noFill/>
            </a:ln>
            <a:effectLst>
              <a:outerShdw dir="5400000" algn="ctr" rotWithShape="0">
                <a:schemeClr val="bg1"/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600" dirty="0">
                  <a:solidFill>
                    <a:srgbClr val="0A2165"/>
                  </a:solidFill>
                  <a:effectLst>
                    <a:outerShdw blurRad="38100" algn="tl" rotWithShape="0">
                      <a:schemeClr val="tx1"/>
                    </a:outerShdw>
                  </a:effectLst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ASSET TRANFER TOKEN CARD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6005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14279F-DA3D-3274-B779-57B9AF9D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Meiryo</a:t>
            </a:r>
            <a:r>
              <a:rPr kumimoji="1" lang="en-US" altLang="ja-JP" dirty="0"/>
              <a:t> UI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359105-F38A-2417-1F33-89D3B1A41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↓</a:t>
            </a:r>
            <a:r>
              <a:rPr kumimoji="1" lang="en-US" altLang="ja-JP" dirty="0"/>
              <a:t>260326</a:t>
            </a:r>
            <a:r>
              <a:rPr kumimoji="1" lang="ja-JP" altLang="en-US"/>
              <a:t>版　プロモーションカード</a:t>
            </a:r>
          </a:p>
        </p:txBody>
      </p:sp>
    </p:spTree>
    <p:extLst>
      <p:ext uri="{BB962C8B-B14F-4D97-AF65-F5344CB8AC3E}">
        <p14:creationId xmlns:p14="http://schemas.microsoft.com/office/powerpoint/2010/main" val="326161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219BA-7985-5D9C-EA4F-466A49C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724F996-47B8-618B-7C0A-95B75BFC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54334" r="4455" b="366"/>
          <a:stretch>
            <a:fillRect/>
          </a:stretch>
        </p:blipFill>
        <p:spPr>
          <a:xfrm>
            <a:off x="2" y="1059881"/>
            <a:ext cx="3095623" cy="895893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D20778A-4A58-86D5-1D33-02ACF823D8F3}"/>
              </a:ext>
            </a:extLst>
          </p:cNvPr>
          <p:cNvSpPr/>
          <p:nvPr/>
        </p:nvSpPr>
        <p:spPr>
          <a:xfrm rot="10800000">
            <a:off x="-14" y="5065"/>
            <a:ext cx="3095625" cy="10076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DE72772-067F-47D8-1BA8-67B637C8C522}"/>
              </a:ext>
            </a:extLst>
          </p:cNvPr>
          <p:cNvSpPr/>
          <p:nvPr/>
        </p:nvSpPr>
        <p:spPr>
          <a:xfrm>
            <a:off x="1858195" y="333012"/>
            <a:ext cx="1237430" cy="1326181"/>
          </a:xfrm>
          <a:prstGeom prst="roundRect">
            <a:avLst>
              <a:gd name="adj" fmla="val 6665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24000">
                <a:schemeClr val="bg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52E4075-230C-DB80-2D7B-F54FEDEDECC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FC26728-646F-1EB5-085A-95C7EF288B98}"/>
              </a:ext>
            </a:extLst>
          </p:cNvPr>
          <p:cNvSpPr/>
          <p:nvPr/>
        </p:nvSpPr>
        <p:spPr>
          <a:xfrm>
            <a:off x="1898809" y="198883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1531C68-80E1-7726-9EC9-B7A09355FCA9}"/>
              </a:ext>
            </a:extLst>
          </p:cNvPr>
          <p:cNvSpPr/>
          <p:nvPr/>
        </p:nvSpPr>
        <p:spPr>
          <a:xfrm>
            <a:off x="112995" y="1769177"/>
            <a:ext cx="2948497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8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FA94D93-A741-1D88-6B68-9FFD3539F62B}"/>
              </a:ext>
            </a:extLst>
          </p:cNvPr>
          <p:cNvSpPr/>
          <p:nvPr/>
        </p:nvSpPr>
        <p:spPr>
          <a:xfrm>
            <a:off x="1857819" y="267498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en-US" altLang="ja-JP" sz="800" dirty="0">
              <a:solidFill>
                <a:schemeClr val="tx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977022D-A001-BFE7-229D-F71771B92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46838"/>
          <a:stretch>
            <a:fillRect/>
          </a:stretch>
        </p:blipFill>
        <p:spPr>
          <a:xfrm>
            <a:off x="220635" y="217467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98DEB7E-EF84-C2CD-D39B-0DBFC0B9738D}"/>
              </a:ext>
            </a:extLst>
          </p:cNvPr>
          <p:cNvSpPr txBox="1"/>
          <p:nvPr/>
        </p:nvSpPr>
        <p:spPr>
          <a:xfrm>
            <a:off x="32951" y="888887"/>
            <a:ext cx="1768020" cy="20005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7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7F91F41-DC17-E26B-BCE1-B5546E5DFC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0" b="1909"/>
          <a:stretch>
            <a:fillRect/>
          </a:stretch>
        </p:blipFill>
        <p:spPr>
          <a:xfrm>
            <a:off x="1907508" y="472627"/>
            <a:ext cx="1135946" cy="112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73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9E70-6AE2-C854-D0EF-DA381A25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6297FE4-27DE-2D12-E5D8-90B3B4DFE52E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E29511D-61D1-7E8D-A1CA-DBC23A23D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3095625" cy="1944687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64B56900-3F45-6D9D-58C9-7C170DB4D279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・紛失された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、あらかじめ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ご了承ください。</a:t>
            </a:r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BC229C0-1CF9-F0D1-8EDC-C3A664DFD407}"/>
              </a:ext>
            </a:extLst>
          </p:cNvPr>
          <p:cNvSpPr/>
          <p:nvPr/>
        </p:nvSpPr>
        <p:spPr>
          <a:xfrm>
            <a:off x="296296" y="541771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F89F187-69F6-ED8F-80C0-7301840E02A8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637D5A0-D644-77DA-88D3-5B2F5042B548}"/>
              </a:ext>
            </a:extLst>
          </p:cNvPr>
          <p:cNvSpPr/>
          <p:nvPr/>
        </p:nvSpPr>
        <p:spPr>
          <a:xfrm>
            <a:off x="112931" y="1301403"/>
            <a:ext cx="2869760" cy="302565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meishigawarini@auic.or.jp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32E37336-6B00-A34E-90CA-1BA015FB8CDD}"/>
              </a:ext>
            </a:extLst>
          </p:cNvPr>
          <p:cNvSpPr/>
          <p:nvPr/>
        </p:nvSpPr>
        <p:spPr>
          <a:xfrm>
            <a:off x="158380" y="1762710"/>
            <a:ext cx="2990327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「名刺代わりに」は、秋田大学発ベンチャー、</a:t>
            </a:r>
            <a:r>
              <a:rPr kumimoji="1" lang="en-US" altLang="ja-JP" sz="8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AUIC</a:t>
            </a:r>
            <a:r>
              <a:rPr kumimoji="1" lang="ja-JP" altLang="en-US" sz="8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が提供しています。</a:t>
            </a:r>
            <a:endParaRPr kumimoji="1" lang="en-US" altLang="ja-JP" sz="800" dirty="0">
              <a:ln w="0">
                <a:noFill/>
              </a:ln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DFB7D570-BB3D-97A1-57E1-7FA200A9F90E}"/>
              </a:ext>
            </a:extLst>
          </p:cNvPr>
          <p:cNvSpPr/>
          <p:nvPr/>
        </p:nvSpPr>
        <p:spPr>
          <a:xfrm>
            <a:off x="158380" y="263617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2030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ACC435FE-63D6-DEE0-4616-4538EAFE8F5A}"/>
              </a:ext>
            </a:extLst>
          </p:cNvPr>
          <p:cNvSpPr/>
          <p:nvPr/>
        </p:nvSpPr>
        <p:spPr>
          <a:xfrm>
            <a:off x="1060000" y="544614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2B33618-5ABE-6178-0846-4BF7B717C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2" y="1747944"/>
            <a:ext cx="146312" cy="14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92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1501</TotalTime>
  <Words>1257</Words>
  <Application>Microsoft Macintosh PowerPoint</Application>
  <PresentationFormat>ユーザー設定</PresentationFormat>
  <Paragraphs>162</Paragraphs>
  <Slides>30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9" baseType="lpstr">
      <vt:lpstr>UD デジタル 教科書体 NP</vt:lpstr>
      <vt:lpstr>UD デジタル 教科書体 NP-R</vt:lpstr>
      <vt:lpstr>Aptos</vt:lpstr>
      <vt:lpstr>Aptos Display</vt:lpstr>
      <vt:lpstr>Arial</vt:lpstr>
      <vt:lpstr>Meiryo UI</vt:lpstr>
      <vt:lpstr>メイリオ</vt:lpstr>
      <vt:lpstr>游ゴシック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参考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参考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Meiryo UI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yudaiito</cp:lastModifiedBy>
  <cp:revision>154</cp:revision>
  <cp:lastPrinted>2026-03-20T00:56:09Z</cp:lastPrinted>
  <dcterms:created xsi:type="dcterms:W3CDTF">2026-01-29T04:40:41Z</dcterms:created>
  <dcterms:modified xsi:type="dcterms:W3CDTF">2026-03-27T11:47:05Z</dcterms:modified>
</cp:coreProperties>
</file>