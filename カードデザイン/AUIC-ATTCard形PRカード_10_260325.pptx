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90" r:id="rId2"/>
    <p:sldId id="291" r:id="rId3"/>
    <p:sldId id="301" r:id="rId4"/>
    <p:sldId id="294" r:id="rId5"/>
    <p:sldId id="292" r:id="rId6"/>
    <p:sldId id="302" r:id="rId7"/>
    <p:sldId id="289" r:id="rId8"/>
    <p:sldId id="282" r:id="rId9"/>
    <p:sldId id="295" r:id="rId10"/>
    <p:sldId id="296" r:id="rId11"/>
    <p:sldId id="297" r:id="rId12"/>
    <p:sldId id="298" r:id="rId13"/>
    <p:sldId id="299" r:id="rId14"/>
    <p:sldId id="293" r:id="rId15"/>
    <p:sldId id="300" r:id="rId16"/>
  </p:sldIdLst>
  <p:sldSz cx="3095625" cy="1944688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2165"/>
    <a:srgbClr val="EDD67D"/>
    <a:srgbClr val="DDE8FF"/>
    <a:srgbClr val="F8F8F8"/>
    <a:srgbClr val="525252"/>
    <a:srgbClr val="ED7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28" autoAdjust="0"/>
    <p:restoredTop sz="84672" autoAdjust="0"/>
  </p:normalViewPr>
  <p:slideViewPr>
    <p:cSldViewPr snapToGrid="0">
      <p:cViewPr>
        <p:scale>
          <a:sx n="200" d="100"/>
          <a:sy n="200" d="100"/>
        </p:scale>
        <p:origin x="3018" y="2232"/>
      </p:cViewPr>
      <p:guideLst>
        <p:guide orient="horz" pos="612"/>
        <p:guide pos="9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534" y="3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/>
          <a:lstStyle>
            <a:lvl1pPr algn="r">
              <a:defRPr sz="1200"/>
            </a:lvl1pPr>
          </a:lstStyle>
          <a:p>
            <a:fld id="{DFB49DE1-FB4B-4CFB-9A42-CC282F575BDD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243013"/>
            <a:ext cx="53371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69" tIns="45285" rIns="90569" bIns="4528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1037" y="4783799"/>
            <a:ext cx="5445132" cy="3912728"/>
          </a:xfrm>
          <a:prstGeom prst="rect">
            <a:avLst/>
          </a:prstGeom>
        </p:spPr>
        <p:txBody>
          <a:bodyPr vert="horz" lIns="90569" tIns="45285" rIns="90569" bIns="4528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3" y="9441587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534" y="9441587"/>
            <a:ext cx="2950100" cy="497754"/>
          </a:xfrm>
          <a:prstGeom prst="rect">
            <a:avLst/>
          </a:prstGeom>
        </p:spPr>
        <p:txBody>
          <a:bodyPr vert="horz" lIns="90569" tIns="45285" rIns="90569" bIns="45285" rtlCol="0" anchor="b"/>
          <a:lstStyle>
            <a:lvl1pPr algn="r">
              <a:defRPr sz="1200"/>
            </a:lvl1pPr>
          </a:lstStyle>
          <a:p>
            <a:fld id="{C86A7DC6-4F49-4B31-B557-9BBC3851C1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52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1pPr>
    <a:lvl2pPr marL="12092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2pPr>
    <a:lvl3pPr marL="241859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3pPr>
    <a:lvl4pPr marL="36278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4pPr>
    <a:lvl5pPr marL="483718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5pPr>
    <a:lvl6pPr marL="604647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6pPr>
    <a:lvl7pPr marL="72557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7pPr>
    <a:lvl8pPr marL="846506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8pPr>
    <a:lvl9pPr marL="967435" algn="l" defTabSz="241859" rtl="0" eaLnBrk="1" latinLnBrk="0" hangingPunct="1">
      <a:defRPr kumimoji="1" sz="3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396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6A7DC6-4F49-4B31-B557-9BBC3851C10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133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6953" y="318263"/>
            <a:ext cx="2321719" cy="677040"/>
          </a:xfrm>
        </p:spPr>
        <p:txBody>
          <a:bodyPr anchor="b"/>
          <a:lstStyle>
            <a:lvl1pPr algn="ctr"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53" y="1021411"/>
            <a:ext cx="2321719" cy="469516"/>
          </a:xfrm>
        </p:spPr>
        <p:txBody>
          <a:bodyPr/>
          <a:lstStyle>
            <a:lvl1pPr marL="0" indent="0" algn="ctr">
              <a:buNone/>
              <a:defRPr sz="609"/>
            </a:lvl1pPr>
            <a:lvl2pPr marL="116083" indent="0" algn="ctr">
              <a:buNone/>
              <a:defRPr sz="508"/>
            </a:lvl2pPr>
            <a:lvl3pPr marL="232166" indent="0" algn="ctr">
              <a:buNone/>
              <a:defRPr sz="457"/>
            </a:lvl3pPr>
            <a:lvl4pPr marL="348249" indent="0" algn="ctr">
              <a:buNone/>
              <a:defRPr sz="406"/>
            </a:lvl4pPr>
            <a:lvl5pPr marL="464332" indent="0" algn="ctr">
              <a:buNone/>
              <a:defRPr sz="406"/>
            </a:lvl5pPr>
            <a:lvl6pPr marL="580415" indent="0" algn="ctr">
              <a:buNone/>
              <a:defRPr sz="406"/>
            </a:lvl6pPr>
            <a:lvl7pPr marL="696498" indent="0" algn="ctr">
              <a:buNone/>
              <a:defRPr sz="406"/>
            </a:lvl7pPr>
            <a:lvl8pPr marL="812582" indent="0" algn="ctr">
              <a:buNone/>
              <a:defRPr sz="406"/>
            </a:lvl8pPr>
            <a:lvl9pPr marL="928665" indent="0" algn="ctr">
              <a:buNone/>
              <a:defRPr sz="40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3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741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12" y="484822"/>
            <a:ext cx="2669977" cy="808936"/>
          </a:xfrm>
        </p:spPr>
        <p:txBody>
          <a:bodyPr anchor="b"/>
          <a:lstStyle>
            <a:lvl1pPr>
              <a:defRPr sz="152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12" y="1301411"/>
            <a:ext cx="2669977" cy="425400"/>
          </a:xfrm>
        </p:spPr>
        <p:txBody>
          <a:bodyPr/>
          <a:lstStyle>
            <a:lvl1pPr marL="0" indent="0">
              <a:buNone/>
              <a:defRPr sz="609">
                <a:solidFill>
                  <a:schemeClr val="tx1">
                    <a:tint val="82000"/>
                  </a:schemeClr>
                </a:solidFill>
              </a:defRPr>
            </a:lvl1pPr>
            <a:lvl2pPr marL="116083" indent="0">
              <a:buNone/>
              <a:defRPr sz="508">
                <a:solidFill>
                  <a:schemeClr val="tx1">
                    <a:tint val="82000"/>
                  </a:schemeClr>
                </a:solidFill>
              </a:defRPr>
            </a:lvl2pPr>
            <a:lvl3pPr marL="232166" indent="0">
              <a:buNone/>
              <a:defRPr sz="457">
                <a:solidFill>
                  <a:schemeClr val="tx1">
                    <a:tint val="82000"/>
                  </a:schemeClr>
                </a:solidFill>
              </a:defRPr>
            </a:lvl3pPr>
            <a:lvl4pPr marL="348249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4pPr>
            <a:lvl5pPr marL="46433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5pPr>
            <a:lvl6pPr marL="58041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6pPr>
            <a:lvl7pPr marL="696498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7pPr>
            <a:lvl8pPr marL="812582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8pPr>
            <a:lvl9pPr marL="928665" indent="0">
              <a:buNone/>
              <a:defRPr sz="40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719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24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160" y="517683"/>
            <a:ext cx="1315641" cy="123388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13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03537"/>
            <a:ext cx="2669977" cy="37588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28" y="476719"/>
            <a:ext cx="130959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28" y="710351"/>
            <a:ext cx="130959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160" y="476719"/>
            <a:ext cx="1316044" cy="233633"/>
          </a:xfrm>
        </p:spPr>
        <p:txBody>
          <a:bodyPr anchor="b"/>
          <a:lstStyle>
            <a:lvl1pPr marL="0" indent="0">
              <a:buNone/>
              <a:defRPr sz="609" b="1"/>
            </a:lvl1pPr>
            <a:lvl2pPr marL="116083" indent="0">
              <a:buNone/>
              <a:defRPr sz="508" b="1"/>
            </a:lvl2pPr>
            <a:lvl3pPr marL="232166" indent="0">
              <a:buNone/>
              <a:defRPr sz="457" b="1"/>
            </a:lvl3pPr>
            <a:lvl4pPr marL="348249" indent="0">
              <a:buNone/>
              <a:defRPr sz="406" b="1"/>
            </a:lvl4pPr>
            <a:lvl5pPr marL="464332" indent="0">
              <a:buNone/>
              <a:defRPr sz="406" b="1"/>
            </a:lvl5pPr>
            <a:lvl6pPr marL="580415" indent="0">
              <a:buNone/>
              <a:defRPr sz="406" b="1"/>
            </a:lvl6pPr>
            <a:lvl7pPr marL="696498" indent="0">
              <a:buNone/>
              <a:defRPr sz="406" b="1"/>
            </a:lvl7pPr>
            <a:lvl8pPr marL="812582" indent="0">
              <a:buNone/>
              <a:defRPr sz="406" b="1"/>
            </a:lvl8pPr>
            <a:lvl9pPr marL="928665" indent="0">
              <a:buNone/>
              <a:defRPr sz="40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160" y="710351"/>
            <a:ext cx="1316044" cy="10448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131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84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62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044" y="279999"/>
            <a:ext cx="1567160" cy="1381989"/>
          </a:xfrm>
        </p:spPr>
        <p:txBody>
          <a:bodyPr/>
          <a:lstStyle>
            <a:lvl1pPr>
              <a:defRPr sz="812"/>
            </a:lvl1pPr>
            <a:lvl2pPr>
              <a:defRPr sz="711"/>
            </a:lvl2pPr>
            <a:lvl3pPr>
              <a:defRPr sz="609"/>
            </a:lvl3pPr>
            <a:lvl4pPr>
              <a:defRPr sz="508"/>
            </a:lvl4pPr>
            <a:lvl5pPr>
              <a:defRPr sz="508"/>
            </a:lvl5pPr>
            <a:lvl6pPr>
              <a:defRPr sz="508"/>
            </a:lvl6pPr>
            <a:lvl7pPr>
              <a:defRPr sz="508"/>
            </a:lvl7pPr>
            <a:lvl8pPr>
              <a:defRPr sz="508"/>
            </a:lvl8pPr>
            <a:lvl9pPr>
              <a:defRPr sz="50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103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27" y="129646"/>
            <a:ext cx="998420" cy="453761"/>
          </a:xfrm>
        </p:spPr>
        <p:txBody>
          <a:bodyPr anchor="b"/>
          <a:lstStyle>
            <a:lvl1pPr>
              <a:defRPr sz="81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044" y="279999"/>
            <a:ext cx="1567160" cy="1381989"/>
          </a:xfrm>
        </p:spPr>
        <p:txBody>
          <a:bodyPr anchor="t"/>
          <a:lstStyle>
            <a:lvl1pPr marL="0" indent="0">
              <a:buNone/>
              <a:defRPr sz="812"/>
            </a:lvl1pPr>
            <a:lvl2pPr marL="116083" indent="0">
              <a:buNone/>
              <a:defRPr sz="711"/>
            </a:lvl2pPr>
            <a:lvl3pPr marL="232166" indent="0">
              <a:buNone/>
              <a:defRPr sz="609"/>
            </a:lvl3pPr>
            <a:lvl4pPr marL="348249" indent="0">
              <a:buNone/>
              <a:defRPr sz="508"/>
            </a:lvl4pPr>
            <a:lvl5pPr marL="464332" indent="0">
              <a:buNone/>
              <a:defRPr sz="508"/>
            </a:lvl5pPr>
            <a:lvl6pPr marL="580415" indent="0">
              <a:buNone/>
              <a:defRPr sz="508"/>
            </a:lvl6pPr>
            <a:lvl7pPr marL="696498" indent="0">
              <a:buNone/>
              <a:defRPr sz="508"/>
            </a:lvl7pPr>
            <a:lvl8pPr marL="812582" indent="0">
              <a:buNone/>
              <a:defRPr sz="508"/>
            </a:lvl8pPr>
            <a:lvl9pPr marL="928665" indent="0">
              <a:buNone/>
              <a:defRPr sz="50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27" y="583406"/>
            <a:ext cx="998420" cy="1080833"/>
          </a:xfrm>
        </p:spPr>
        <p:txBody>
          <a:bodyPr/>
          <a:lstStyle>
            <a:lvl1pPr marL="0" indent="0">
              <a:buNone/>
              <a:defRPr sz="406"/>
            </a:lvl1pPr>
            <a:lvl2pPr marL="116083" indent="0">
              <a:buNone/>
              <a:defRPr sz="355"/>
            </a:lvl2pPr>
            <a:lvl3pPr marL="232166" indent="0">
              <a:buNone/>
              <a:defRPr sz="305"/>
            </a:lvl3pPr>
            <a:lvl4pPr marL="348249" indent="0">
              <a:buNone/>
              <a:defRPr sz="254"/>
            </a:lvl4pPr>
            <a:lvl5pPr marL="464332" indent="0">
              <a:buNone/>
              <a:defRPr sz="254"/>
            </a:lvl5pPr>
            <a:lvl6pPr marL="580415" indent="0">
              <a:buNone/>
              <a:defRPr sz="254"/>
            </a:lvl6pPr>
            <a:lvl7pPr marL="696498" indent="0">
              <a:buNone/>
              <a:defRPr sz="254"/>
            </a:lvl7pPr>
            <a:lvl8pPr marL="812582" indent="0">
              <a:buNone/>
              <a:defRPr sz="254"/>
            </a:lvl8pPr>
            <a:lvl9pPr marL="928665" indent="0">
              <a:buNone/>
              <a:defRPr sz="2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7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306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307" y="103537"/>
            <a:ext cx="667494" cy="16480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24" y="103537"/>
            <a:ext cx="1963787" cy="16480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24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24" y="103537"/>
            <a:ext cx="2669977" cy="37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24" y="517683"/>
            <a:ext cx="2669977" cy="1233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24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943AC-2B44-49B1-8BF7-A9628131A8B9}" type="datetimeFigureOut">
              <a:rPr kumimoji="1" lang="ja-JP" altLang="en-US" smtClean="0"/>
              <a:t>2026/3/25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426" y="1802438"/>
            <a:ext cx="1044773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285" y="1802438"/>
            <a:ext cx="696516" cy="10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CBB8F-D787-4715-B4B0-C51A96B419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70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32166" rtl="0" eaLnBrk="1" latinLnBrk="0" hangingPunct="1">
        <a:lnSpc>
          <a:spcPct val="90000"/>
        </a:lnSpc>
        <a:spcBef>
          <a:spcPct val="0"/>
        </a:spcBef>
        <a:buNone/>
        <a:defRPr kumimoji="1" sz="11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042" indent="-58042" algn="l" defTabSz="232166" rtl="0" eaLnBrk="1" latinLnBrk="0" hangingPunct="1">
        <a:lnSpc>
          <a:spcPct val="90000"/>
        </a:lnSpc>
        <a:spcBef>
          <a:spcPts val="254"/>
        </a:spcBef>
        <a:buFont typeface="Arial" panose="020B0604020202020204" pitchFamily="34" charset="0"/>
        <a:buChar char="•"/>
        <a:defRPr kumimoji="1" sz="711" kern="1200">
          <a:solidFill>
            <a:schemeClr val="tx1"/>
          </a:solidFill>
          <a:latin typeface="+mn-lt"/>
          <a:ea typeface="+mn-ea"/>
          <a:cs typeface="+mn-cs"/>
        </a:defRPr>
      </a:lvl1pPr>
      <a:lvl2pPr marL="174125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609" kern="1200">
          <a:solidFill>
            <a:schemeClr val="tx1"/>
          </a:solidFill>
          <a:latin typeface="+mn-lt"/>
          <a:ea typeface="+mn-ea"/>
          <a:cs typeface="+mn-cs"/>
        </a:defRPr>
      </a:lvl2pPr>
      <a:lvl3pPr marL="290208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508" kern="1200">
          <a:solidFill>
            <a:schemeClr val="tx1"/>
          </a:solidFill>
          <a:latin typeface="+mn-lt"/>
          <a:ea typeface="+mn-ea"/>
          <a:cs typeface="+mn-cs"/>
        </a:defRPr>
      </a:lvl3pPr>
      <a:lvl4pPr marL="406291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522374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638457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754540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70623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86706" indent="-58042" algn="l" defTabSz="232166" rtl="0" eaLnBrk="1" latinLnBrk="0" hangingPunct="1">
        <a:lnSpc>
          <a:spcPct val="90000"/>
        </a:lnSpc>
        <a:spcBef>
          <a:spcPts val="127"/>
        </a:spcBef>
        <a:buFont typeface="Arial" panose="020B0604020202020204" pitchFamily="34" charset="0"/>
        <a:buChar char="•"/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1pPr>
      <a:lvl2pPr marL="116083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2pPr>
      <a:lvl3pPr marL="232166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3pPr>
      <a:lvl4pPr marL="348249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4pPr>
      <a:lvl5pPr marL="46433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5pPr>
      <a:lvl6pPr marL="58041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6pPr>
      <a:lvl7pPr marL="696498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7pPr>
      <a:lvl8pPr marL="812582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8pPr>
      <a:lvl9pPr marL="928665" algn="l" defTabSz="232166" rtl="0" eaLnBrk="1" latinLnBrk="0" hangingPunct="1">
        <a:defRPr kumimoji="1" sz="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FE5EC-D7B9-36E5-7432-42D30A2DC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92343FD-0EB9-08D3-FBC0-0C1AF2951523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81DCF857-8EF4-045F-ADE8-D865871F5FC7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FA6EE2EC-A8EF-405D-F735-86580F688EF8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B7DA2B74-79D6-F313-282A-7D2E92D4B4EF}"/>
                </a:ext>
              </a:extLst>
            </p:cNvPr>
            <p:cNvSpPr/>
            <p:nvPr/>
          </p:nvSpPr>
          <p:spPr>
            <a:xfrm>
              <a:off x="1844455" y="2805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kumimoji="1" lang="ja-JP" altLang="en-US" sz="14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😍の気持ち</a:t>
              </a:r>
              <a:endParaRPr kumimoji="1" lang="ja-JP" altLang="en-US" sz="14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CEFB9CFE-31BC-CAAB-63CA-950861A145E5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A1DCAF88-BE9F-2DEB-BC8E-5BC0C2623550}"/>
                </a:ext>
              </a:extLst>
            </p:cNvPr>
            <p:cNvSpPr/>
            <p:nvPr/>
          </p:nvSpPr>
          <p:spPr>
            <a:xfrm>
              <a:off x="1803463" y="58522"/>
              <a:ext cx="1235326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【</a:t>
              </a:r>
              <a:r>
                <a:rPr kumimoji="1" lang="ja-JP" altLang="en-US" sz="80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名刺代わりに</a:t>
              </a:r>
              <a:r>
                <a:rPr kumimoji="1" lang="en-US" altLang="ja-JP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】</a:t>
              </a:r>
            </a:p>
            <a:p>
              <a:pPr algn="ctr"/>
              <a:r>
                <a:rPr kumimoji="1" lang="en-US" altLang="ja-JP" sz="5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ASSET TRANFER TOKEN CARD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D49D5D0-2E10-639C-CCB0-FA253806E661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A00C1C43-B545-E4DB-1705-C22D9C663C4B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223C5ED4-C5DD-7ADB-DB57-E5351902D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  <p:pic>
        <p:nvPicPr>
          <p:cNvPr id="6" name="図 5">
            <a:extLst>
              <a:ext uri="{FF2B5EF4-FFF2-40B4-BE49-F238E27FC236}">
                <a16:creationId xmlns:a16="http://schemas.microsoft.com/office/drawing/2014/main" id="{013BA4B8-8C76-ED46-80E3-4BC9D30403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240" b="-138"/>
          <a:stretch>
            <a:fillRect/>
          </a:stretch>
        </p:blipFill>
        <p:spPr>
          <a:xfrm>
            <a:off x="0" y="-1"/>
            <a:ext cx="1732024" cy="52739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BD899C4-6B24-26CC-2CCA-9666928F9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38" y="600764"/>
            <a:ext cx="1504148" cy="111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2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A3011-6E5F-4783-D771-8CDD87063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CCC1FDE5-4CC8-50CA-14BD-5E05A2EB1261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E66419D-AC58-22D1-7567-64BD2942C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766" y="-9777"/>
            <a:ext cx="3216491" cy="1962794"/>
          </a:xfrm>
          <a:prstGeom prst="rect">
            <a:avLst/>
          </a:prstGeom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50DF22A2-F7B1-338D-C241-2FADFCBE62D2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・紛失された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</a:t>
            </a: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、あらかじめ</a:t>
            </a:r>
            <a:r>
              <a:rPr kumimoji="1" lang="ja-JP" altLang="en-US" sz="5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ご了承ください。</a:t>
            </a:r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0CB001B-D299-3D26-1BF1-9D58624A2085}"/>
              </a:ext>
            </a:extLst>
          </p:cNvPr>
          <p:cNvSpPr/>
          <p:nvPr/>
        </p:nvSpPr>
        <p:spPr>
          <a:xfrm>
            <a:off x="296296" y="568732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75F45D2-FD8A-550E-AB35-8C213DBF9756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0A15767-C3E7-82F4-47AB-0DD82FCB80D0}"/>
              </a:ext>
            </a:extLst>
          </p:cNvPr>
          <p:cNvSpPr/>
          <p:nvPr/>
        </p:nvSpPr>
        <p:spPr>
          <a:xfrm>
            <a:off x="120651" y="1408325"/>
            <a:ext cx="2869760" cy="302565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 err="1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attcard@auic.or.jp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69BF198E-2F79-3E15-F52D-758E1BC8FE02}"/>
              </a:ext>
            </a:extLst>
          </p:cNvPr>
          <p:cNvSpPr/>
          <p:nvPr/>
        </p:nvSpPr>
        <p:spPr>
          <a:xfrm>
            <a:off x="269861" y="1779606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ln w="0">
                  <a:noFill/>
                </a:ln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dirty="0">
                <a:ln w="0">
                  <a:noFill/>
                </a:ln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ln w="0">
                  <a:noFill/>
                </a:ln>
                <a:solidFill>
                  <a:schemeClr val="bg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が提供しています。</a:t>
            </a:r>
            <a:endParaRPr kumimoji="1" lang="en-US" altLang="ja-JP" sz="600" dirty="0">
              <a:ln w="0">
                <a:noFill/>
              </a:ln>
              <a:solidFill>
                <a:schemeClr val="bg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96A2507-E802-28F6-DE1A-0A0F70556E16}"/>
              </a:ext>
            </a:extLst>
          </p:cNvPr>
          <p:cNvSpPr/>
          <p:nvPr/>
        </p:nvSpPr>
        <p:spPr>
          <a:xfrm>
            <a:off x="158380" y="287429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2030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6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</a:t>
            </a:r>
            <a:r>
              <a:rPr kumimoji="1" lang="ja-JP" altLang="en-US" sz="60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71D0E5B9-B56A-E786-FDAE-ACE6EB7DF95D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86729A1-76BD-382C-5252-682A3BEBC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32" y="1793811"/>
            <a:ext cx="97255" cy="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4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64A7A-4BDD-02AE-5616-FFB6F7D8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43B2F579-198F-AC1F-0355-A0A0177EF9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66E71F23-095B-FFD8-F8CE-99A23CC29ACA}"/>
              </a:ext>
            </a:extLst>
          </p:cNvPr>
          <p:cNvSpPr/>
          <p:nvPr/>
        </p:nvSpPr>
        <p:spPr>
          <a:xfrm rot="10800000">
            <a:off x="1" y="-11088"/>
            <a:ext cx="3095622" cy="1966861"/>
          </a:xfrm>
          <a:prstGeom prst="roundRect">
            <a:avLst>
              <a:gd name="adj" fmla="val 0"/>
            </a:avLst>
          </a:prstGeom>
          <a:gradFill flip="none" rotWithShape="1">
            <a:gsLst>
              <a:gs pos="75000">
                <a:srgbClr val="FFFFFF"/>
              </a:gs>
              <a:gs pos="77000">
                <a:schemeClr val="bg1">
                  <a:alpha val="0"/>
                </a:schemeClr>
              </a:gs>
              <a:gs pos="30000">
                <a:srgbClr val="FFFFFF"/>
              </a:gs>
              <a:gs pos="28000">
                <a:schemeClr val="bg1">
                  <a:alpha val="0"/>
                </a:schemeClr>
              </a:gs>
            </a:gsLst>
            <a:lin ang="42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715732C7-D4C0-8C73-B721-1252E290F0F6}"/>
              </a:ext>
            </a:extLst>
          </p:cNvPr>
          <p:cNvSpPr/>
          <p:nvPr/>
        </p:nvSpPr>
        <p:spPr>
          <a:xfrm rot="20404139">
            <a:off x="160581" y="595576"/>
            <a:ext cx="1147201" cy="1178209"/>
          </a:xfrm>
          <a:prstGeom prst="roundRect">
            <a:avLst>
              <a:gd name="adj" fmla="val 6665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24000">
                <a:schemeClr val="bg1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933FBF3-EA9C-0929-8EAF-3F1AFF59C544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E6D3EC6-84B8-D57C-4C90-B510BFC37C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 rot="20365413">
            <a:off x="1399676" y="306587"/>
            <a:ext cx="1548181" cy="612404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52084BA-2306-4635-6044-31F6A5F041D1}"/>
              </a:ext>
            </a:extLst>
          </p:cNvPr>
          <p:cNvSpPr txBox="1"/>
          <p:nvPr/>
        </p:nvSpPr>
        <p:spPr>
          <a:xfrm rot="20405706">
            <a:off x="1443962" y="891576"/>
            <a:ext cx="1670112" cy="184666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rgbClr val="0A2165"/>
                </a:solidFill>
                <a:effectLst>
                  <a:outerShdw blurRad="381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49DA2D8-233C-FBAD-37C4-ED56A0DD58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30" b="1909"/>
          <a:stretch>
            <a:fillRect/>
          </a:stretch>
        </p:blipFill>
        <p:spPr>
          <a:xfrm rot="20360987">
            <a:off x="254326" y="556686"/>
            <a:ext cx="1193744" cy="1184652"/>
          </a:xfrm>
          <a:prstGeom prst="rect">
            <a:avLst/>
          </a:prstGeom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20575370-34B6-6391-A513-958A65AA565F}"/>
              </a:ext>
            </a:extLst>
          </p:cNvPr>
          <p:cNvSpPr/>
          <p:nvPr/>
        </p:nvSpPr>
        <p:spPr>
          <a:xfrm rot="20378676">
            <a:off x="141844" y="45357"/>
            <a:ext cx="617537" cy="495569"/>
          </a:xfrm>
          <a:prstGeom prst="roundRect">
            <a:avLst>
              <a:gd name="adj" fmla="val 6665"/>
            </a:avLst>
          </a:prstGeom>
          <a:noFill/>
          <a:ln>
            <a:noFill/>
          </a:ln>
          <a:effectLst>
            <a:outerShdw blurRad="88900" dist="76200" dir="60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36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</a:t>
            </a:r>
          </a:p>
        </p:txBody>
      </p:sp>
    </p:spTree>
    <p:extLst>
      <p:ext uri="{BB962C8B-B14F-4D97-AF65-F5344CB8AC3E}">
        <p14:creationId xmlns:p14="http://schemas.microsoft.com/office/powerpoint/2010/main" val="3233555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D156-FC15-C326-5CF0-1192C34E8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FC23072D-CB6F-E02B-1E8D-02CE57A6E7B3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2E9C5F5-179C-0293-485E-952B954ACE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2574" r="1184" b="923"/>
          <a:stretch>
            <a:fillRect/>
          </a:stretch>
        </p:blipFill>
        <p:spPr>
          <a:xfrm>
            <a:off x="-2" y="1"/>
            <a:ext cx="3095626" cy="1944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27EF410-4621-32FB-3820-DC76B7419E43}"/>
              </a:ext>
            </a:extLst>
          </p:cNvPr>
          <p:cNvSpPr/>
          <p:nvPr/>
        </p:nvSpPr>
        <p:spPr>
          <a:xfrm>
            <a:off x="-4" y="0"/>
            <a:ext cx="3095628" cy="19558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79000">
                <a:srgbClr val="0A2165">
                  <a:alpha val="0"/>
                </a:srgbClr>
              </a:gs>
              <a:gs pos="20000">
                <a:srgbClr val="0A2165">
                  <a:alpha val="0"/>
                </a:srgbClr>
              </a:gs>
              <a:gs pos="0">
                <a:srgbClr val="0A2165"/>
              </a:gs>
              <a:gs pos="100000">
                <a:srgbClr val="0A2165"/>
              </a:gs>
            </a:gsLst>
            <a:lin ang="5400000" scaled="0"/>
            <a:tileRect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endParaRPr kumimoji="1" lang="ja-JP" altLang="en-US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9C4ECBCE-0B31-1DC5-3C25-38B920CA4FB9}"/>
              </a:ext>
            </a:extLst>
          </p:cNvPr>
          <p:cNvSpPr/>
          <p:nvPr/>
        </p:nvSpPr>
        <p:spPr>
          <a:xfrm>
            <a:off x="208674" y="285516"/>
            <a:ext cx="2720550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本カードの再発行はできません。また、破損・紛失された場合、使用期限を過ぎた</a:t>
            </a:r>
            <a:br>
              <a:rPr kumimoji="1" lang="en-US" altLang="ja-JP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</a:br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場合などは、お品ものをご提供できなくなりますので、あらかじめご了承ください。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9BE42A4-D4B2-75AB-3560-C265ADFE2BEB}"/>
              </a:ext>
            </a:extLst>
          </p:cNvPr>
          <p:cNvSpPr/>
          <p:nvPr/>
        </p:nvSpPr>
        <p:spPr>
          <a:xfrm>
            <a:off x="288275" y="587658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603BA09-68E7-D3CF-8697-82ACB3A3E166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A4CEE51-62A5-8011-9ADD-1231B5C373BE}"/>
              </a:ext>
            </a:extLst>
          </p:cNvPr>
          <p:cNvSpPr/>
          <p:nvPr/>
        </p:nvSpPr>
        <p:spPr>
          <a:xfrm>
            <a:off x="208674" y="1173389"/>
            <a:ext cx="2720550" cy="469554"/>
          </a:xfrm>
          <a:prstGeom prst="roundRect">
            <a:avLst>
              <a:gd name="adj" fmla="val 17073"/>
            </a:avLst>
          </a:prstGeom>
          <a:solidFill>
            <a:schemeClr val="bg1"/>
          </a:solidFill>
          <a:ln w="6350"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[『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』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システムに関するお問い合わせ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一般社団法人秋田大学イノベーションアンドコンサルティング（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）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070-5070-3073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 err="1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attcard@auic.or.jp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8720A70F-A6E3-D01A-683B-00F967DF7B8B}"/>
              </a:ext>
            </a:extLst>
          </p:cNvPr>
          <p:cNvSpPr/>
          <p:nvPr/>
        </p:nvSpPr>
        <p:spPr>
          <a:xfrm>
            <a:off x="288275" y="1687662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>
            <a:outerShdw dir="120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AUIC</a:t>
            </a:r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が提供しています。</a:t>
            </a:r>
            <a:endParaRPr kumimoji="1" lang="en-US" altLang="ja-JP" sz="600" b="1" dirty="0">
              <a:ln w="1270" cap="rnd" cmpd="sng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outerShdw blurRad="38100" dist="63500" dir="4800000" algn="ctr" rotWithShape="0">
                  <a:schemeClr val="tx1"/>
                </a:outerShdw>
              </a:effectLst>
              <a:latin typeface="UD デジタル 教科書体 NP" panose="02020400000000000000" pitchFamily="18" charset="-128"/>
              <a:ea typeface="UD デジタル 教科書体 NP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25718DF2-690E-A07E-0553-0C66C464ED8A}"/>
              </a:ext>
            </a:extLst>
          </p:cNvPr>
          <p:cNvSpPr/>
          <p:nvPr/>
        </p:nvSpPr>
        <p:spPr>
          <a:xfrm>
            <a:off x="187536" y="305537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［使用期限：出会いの思い出は永遠に］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BB8DBFEF-C886-3CD9-680B-645039555D63}"/>
              </a:ext>
            </a:extLst>
          </p:cNvPr>
          <p:cNvSpPr/>
          <p:nvPr/>
        </p:nvSpPr>
        <p:spPr>
          <a:xfrm>
            <a:off x="1051979" y="584400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b="1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b="1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74F3CE9F-1736-A615-D738-F8CF7041BD20}"/>
              </a:ext>
            </a:extLst>
          </p:cNvPr>
          <p:cNvGrpSpPr/>
          <p:nvPr/>
        </p:nvGrpSpPr>
        <p:grpSpPr>
          <a:xfrm>
            <a:off x="291449" y="1698146"/>
            <a:ext cx="97256" cy="97256"/>
            <a:chOff x="269902" y="1678135"/>
            <a:chExt cx="97256" cy="9725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0FD623D2-A932-7D17-0BCD-6A2C0E64F4B2}"/>
                </a:ext>
              </a:extLst>
            </p:cNvPr>
            <p:cNvSpPr/>
            <p:nvPr/>
          </p:nvSpPr>
          <p:spPr>
            <a:xfrm>
              <a:off x="269903" y="1678136"/>
              <a:ext cx="97255" cy="97255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893FB142-31B8-9D39-E84E-3A8E79CEB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902" y="1678135"/>
              <a:ext cx="97255" cy="97255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EC7C928E-578F-3D99-C328-494528B8B2D6}"/>
              </a:ext>
            </a:extLst>
          </p:cNvPr>
          <p:cNvSpPr/>
          <p:nvPr/>
        </p:nvSpPr>
        <p:spPr>
          <a:xfrm>
            <a:off x="158304" y="131611"/>
            <a:ext cx="2821289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>
            <a:outerShdw dir="120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b="1" dirty="0">
                <a:ln w="1270" cap="rnd" cmpd="sng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63500" dir="4800000" algn="ctr" rotWithShape="0">
                    <a:schemeClr val="tx1"/>
                  </a:outerShdw>
                </a:effectLst>
                <a:latin typeface="UD デジタル 教科書体 NP" panose="02020400000000000000" pitchFamily="18" charset="-128"/>
                <a:ea typeface="UD デジタル 教科書体 NP" panose="02020400000000000000" pitchFamily="18" charset="-128"/>
              </a:rPr>
              <a:t>とけない、われない、かさばらない！　カードで送る新習慣＠名刺代わりに</a:t>
            </a:r>
          </a:p>
        </p:txBody>
      </p:sp>
    </p:spTree>
    <p:extLst>
      <p:ext uri="{BB962C8B-B14F-4D97-AF65-F5344CB8AC3E}">
        <p14:creationId xmlns:p14="http://schemas.microsoft.com/office/powerpoint/2010/main" val="283176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770F4-E164-EA2C-F67D-8AD67140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参考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C7B347-A1EF-EB28-5E45-3FD500163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06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0FF29-DF4E-FA5C-FF5A-358AEFF6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954359-B51C-FE91-CED4-C21AAD6F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参考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385FA7-20D0-72F2-C136-75F257AFA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752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2B67-2104-CC64-72AB-009C219D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E584D19E-A33E-1AE0-40C5-71F555C91F12}"/>
              </a:ext>
            </a:extLst>
          </p:cNvPr>
          <p:cNvGrpSpPr/>
          <p:nvPr/>
        </p:nvGrpSpPr>
        <p:grpSpPr>
          <a:xfrm>
            <a:off x="-2" y="-1"/>
            <a:ext cx="3095626" cy="1944689"/>
            <a:chOff x="-2" y="-1"/>
            <a:chExt cx="3095626" cy="194468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C4394BD5-4065-C5AE-FDE1-C7D7A1D2311D}"/>
                </a:ext>
              </a:extLst>
            </p:cNvPr>
            <p:cNvSpPr/>
            <p:nvPr/>
          </p:nvSpPr>
          <p:spPr>
            <a:xfrm>
              <a:off x="-2" y="-1"/>
              <a:ext cx="3095625" cy="194468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C773B568-B3D6-FAF7-4278-03B65AA83324}"/>
                </a:ext>
              </a:extLst>
            </p:cNvPr>
            <p:cNvSpPr/>
            <p:nvPr/>
          </p:nvSpPr>
          <p:spPr>
            <a:xfrm>
              <a:off x="-1" y="5074"/>
              <a:ext cx="3095625" cy="1939614"/>
            </a:xfrm>
            <a:prstGeom prst="roundRect">
              <a:avLst>
                <a:gd name="adj" fmla="val 13559"/>
              </a:avLst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2000" tIns="36000" rIns="72000" bIns="0" rtlCol="0" anchor="b">
              <a:noAutofit/>
            </a:bodyPr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8F57D301-21E5-5B8B-1793-663A0E25C55C}"/>
                </a:ext>
              </a:extLst>
            </p:cNvPr>
            <p:cNvGrpSpPr/>
            <p:nvPr/>
          </p:nvGrpSpPr>
          <p:grpSpPr>
            <a:xfrm>
              <a:off x="26424" y="35311"/>
              <a:ext cx="1781026" cy="1777008"/>
              <a:chOff x="4761" y="0"/>
              <a:chExt cx="1944000" cy="1944687"/>
            </a:xfrm>
          </p:grpSpPr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A356266D-B8E0-24F8-A58A-17BEA7001497}"/>
                  </a:ext>
                </a:extLst>
              </p:cNvPr>
              <p:cNvSpPr/>
              <p:nvPr/>
            </p:nvSpPr>
            <p:spPr>
              <a:xfrm>
                <a:off x="4761" y="0"/>
                <a:ext cx="1944000" cy="1944687"/>
              </a:xfrm>
              <a:prstGeom prst="roundRect">
                <a:avLst>
                  <a:gd name="adj" fmla="val 8828"/>
                </a:avLst>
              </a:prstGeom>
              <a:blipFill>
                <a:blip r:embed="rId2"/>
                <a:stretch>
                  <a:fillRect/>
                </a:stretch>
              </a:blipFill>
              <a:ln w="171450">
                <a:noFill/>
              </a:ln>
              <a:effectLst>
                <a:glow>
                  <a:schemeClr val="bg1"/>
                </a:glow>
                <a:outerShdw dist="12700" sx="1000" sy="1000" algn="ctr" rotWithShape="0">
                  <a:srgbClr val="000000"/>
                </a:outerShdw>
                <a:softEdge rad="1270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/>
              </a:p>
            </p:txBody>
          </p:sp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4432C75C-BC64-373F-4D11-ADDFA62EC4C7}"/>
                  </a:ext>
                </a:extLst>
              </p:cNvPr>
              <p:cNvGrpSpPr/>
              <p:nvPr/>
            </p:nvGrpSpPr>
            <p:grpSpPr>
              <a:xfrm>
                <a:off x="311866" y="138682"/>
                <a:ext cx="1329789" cy="1662236"/>
                <a:chOff x="324896" y="199586"/>
                <a:chExt cx="1294896" cy="1618620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882CCC63-3482-E9D7-914E-7C5251392B33}"/>
                    </a:ext>
                  </a:extLst>
                </p:cNvPr>
                <p:cNvSpPr/>
                <p:nvPr/>
              </p:nvSpPr>
              <p:spPr>
                <a:xfrm>
                  <a:off x="324896" y="199586"/>
                  <a:ext cx="1294896" cy="1618620"/>
                </a:xfrm>
                <a:prstGeom prst="roundRect">
                  <a:avLst>
                    <a:gd name="adj" fmla="val 17073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pic>
              <p:nvPicPr>
                <p:cNvPr id="21" name="図 20" descr="ロゴ が含まれている画像&#10;&#10;AI 生成コンテンツは誤りを含む可能性があります。">
                  <a:extLst>
                    <a:ext uri="{FF2B5EF4-FFF2-40B4-BE49-F238E27FC236}">
                      <a16:creationId xmlns:a16="http://schemas.microsoft.com/office/drawing/2014/main" id="{B796058B-89F0-9799-1E85-0E33B69AE4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225" t="9650" r="4370" b="12728"/>
                <a:stretch>
                  <a:fillRect/>
                </a:stretch>
              </p:blipFill>
              <p:spPr>
                <a:xfrm>
                  <a:off x="471089" y="268171"/>
                  <a:ext cx="1002507" cy="282809"/>
                </a:xfrm>
                <a:prstGeom prst="rect">
                  <a:avLst/>
                </a:prstGeom>
              </p:spPr>
            </p:pic>
          </p:grpSp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8C970144-9609-3024-3E60-C1066BBC7D64}"/>
                </a:ext>
              </a:extLst>
            </p:cNvPr>
            <p:cNvSpPr/>
            <p:nvPr/>
          </p:nvSpPr>
          <p:spPr>
            <a:xfrm>
              <a:off x="1844455" y="255162"/>
              <a:ext cx="1153343" cy="214457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ありがとう</a:t>
              </a:r>
              <a:endParaRPr kumimoji="1" lang="ja-JP" altLang="en-US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FEC586F6-793A-4C54-DA10-3B4A26BF0719}"/>
                </a:ext>
              </a:extLst>
            </p:cNvPr>
            <p:cNvSpPr/>
            <p:nvPr/>
          </p:nvSpPr>
          <p:spPr>
            <a:xfrm>
              <a:off x="215106" y="1793322"/>
              <a:ext cx="2654348" cy="120703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kumimoji="1" lang="ja-JP" altLang="en-US" sz="600" dirty="0">
                  <a:solidFill>
                    <a:schemeClr val="tx1"/>
                  </a:solidFill>
                  <a:latin typeface="UD デジタル 教科書体 NP-R" panose="020B0400000000000000" pitchFamily="18" charset="-128"/>
                  <a:ea typeface="UD デジタル 教科書体 NP-R" panose="020B0400000000000000" pitchFamily="18" charset="-128"/>
                </a:rPr>
                <a:t>とけない、われない、かさばらない！　カードで送る新習慣＠名刺代わりに</a:t>
              </a: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EFD014A6-A756-149E-E1CF-B1652474A8DD}"/>
                </a:ext>
              </a:extLst>
            </p:cNvPr>
            <p:cNvSpPr/>
            <p:nvPr/>
          </p:nvSpPr>
          <p:spPr>
            <a:xfrm>
              <a:off x="1927110" y="71103"/>
              <a:ext cx="988031" cy="181522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kumimoji="1" lang="ja-JP" altLang="en-US" sz="800" dirty="0">
                  <a:solidFill>
                    <a:schemeClr val="tx1"/>
                  </a:solidFill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秋田大学</a:t>
              </a:r>
              <a:endPara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C509106-D2CD-8961-4B07-A4C723F46777}"/>
              </a:ext>
            </a:extLst>
          </p:cNvPr>
          <p:cNvGrpSpPr/>
          <p:nvPr/>
        </p:nvGrpSpPr>
        <p:grpSpPr>
          <a:xfrm>
            <a:off x="1807449" y="499856"/>
            <a:ext cx="1240551" cy="1240551"/>
            <a:chOff x="1007265" y="2577396"/>
            <a:chExt cx="962823" cy="92850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C4A5E4F1-7C7C-6FA2-8A74-53EEB19C1658}"/>
                </a:ext>
              </a:extLst>
            </p:cNvPr>
            <p:cNvSpPr/>
            <p:nvPr/>
          </p:nvSpPr>
          <p:spPr>
            <a:xfrm>
              <a:off x="1007265" y="2577396"/>
              <a:ext cx="962823" cy="928507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7E6DFBA-8BD9-FD59-E499-1D11269B7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659" y="2598008"/>
              <a:ext cx="883492" cy="878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924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18B7-95B3-8DEF-89E7-D8EB11A4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BB553E1C-93E5-7741-5BE0-21B6F34BCC2A}"/>
              </a:ext>
            </a:extLst>
          </p:cNvPr>
          <p:cNvSpPr/>
          <p:nvPr/>
        </p:nvSpPr>
        <p:spPr>
          <a:xfrm>
            <a:off x="-1" y="0"/>
            <a:ext cx="3095625" cy="1944688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3B01305D-13E8-D326-DFB1-2D11528469B1}"/>
              </a:ext>
            </a:extLst>
          </p:cNvPr>
          <p:cNvSpPr/>
          <p:nvPr/>
        </p:nvSpPr>
        <p:spPr>
          <a:xfrm>
            <a:off x="52384" y="86414"/>
            <a:ext cx="2990852" cy="1165609"/>
          </a:xfrm>
          <a:prstGeom prst="roundRect">
            <a:avLst>
              <a:gd name="adj" fmla="val 14805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171450">
            <a:noFill/>
          </a:ln>
          <a:effectLst>
            <a:glow>
              <a:schemeClr val="bg1"/>
            </a:glow>
            <a:outerShdw dist="12700" sx="1000" sy="1000" algn="ctr" rotWithShape="0">
              <a:srgbClr val="000000"/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EFB68EC-218E-33D2-A980-B25E6D96C685}"/>
              </a:ext>
            </a:extLst>
          </p:cNvPr>
          <p:cNvSpPr/>
          <p:nvPr/>
        </p:nvSpPr>
        <p:spPr>
          <a:xfrm>
            <a:off x="234235" y="250086"/>
            <a:ext cx="2627152" cy="843154"/>
          </a:xfrm>
          <a:prstGeom prst="roundRect">
            <a:avLst>
              <a:gd name="adj" fmla="val 13559"/>
            </a:avLst>
          </a:prstGeom>
          <a:solidFill>
            <a:schemeClr val="bg1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本カードを破損・紛失された場合、または使用期限を過ぎた場合は、返礼品を</a:t>
            </a:r>
            <a:endParaRPr kumimoji="1" lang="en-US" altLang="ja-JP" sz="5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  <a:p>
            <a:pPr algn="ctr"/>
            <a:r>
              <a:rPr kumimoji="1" lang="ja-JP" altLang="en-US" sz="5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 ご提供できかねますので、あらかじめご了承くださいますようお願いいたします。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3B85B00-3FFD-3C66-2B1F-65E05DF0D111}"/>
              </a:ext>
            </a:extLst>
          </p:cNvPr>
          <p:cNvSpPr/>
          <p:nvPr/>
        </p:nvSpPr>
        <p:spPr>
          <a:xfrm>
            <a:off x="296296" y="568732"/>
            <a:ext cx="564212" cy="211760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PINCODE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E8840FA-8BA6-D492-7178-88D799CD79C0}"/>
              </a:ext>
            </a:extLst>
          </p:cNvPr>
          <p:cNvSpPr/>
          <p:nvPr/>
        </p:nvSpPr>
        <p:spPr>
          <a:xfrm>
            <a:off x="-1" y="-5087"/>
            <a:ext cx="3095625" cy="194977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4B6410A-4EAF-C2B7-3C90-53653C8DE213}"/>
              </a:ext>
            </a:extLst>
          </p:cNvPr>
          <p:cNvSpPr/>
          <p:nvPr/>
        </p:nvSpPr>
        <p:spPr>
          <a:xfrm>
            <a:off x="216692" y="1408325"/>
            <a:ext cx="2662238" cy="302565"/>
          </a:xfrm>
          <a:prstGeom prst="roundRect">
            <a:avLst>
              <a:gd name="adj" fmla="val 17073"/>
            </a:avLst>
          </a:prstGeom>
          <a:noFill/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[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返礼品に関するお問い合わせ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]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秋田大学総務企画部広報課</a:t>
            </a:r>
          </a:p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電話：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018-889-3266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　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e-mail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kikin@jimu.akita-u.ac.jp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8CE2EAB-21EF-E1A0-BF75-9518E545E6AA}"/>
              </a:ext>
            </a:extLst>
          </p:cNvPr>
          <p:cNvSpPr/>
          <p:nvPr/>
        </p:nvSpPr>
        <p:spPr>
          <a:xfrm>
            <a:off x="269861" y="1779606"/>
            <a:ext cx="2720550" cy="131546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「名刺代わりに」は、秋田大学発ベンチャー、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AUIC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が提供しています。</a:t>
            </a:r>
            <a:endParaRPr kumimoji="1" lang="en-US" altLang="ja-JP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27A6FE6-8304-E105-F4CC-BA0CC23DCBE0}"/>
              </a:ext>
            </a:extLst>
          </p:cNvPr>
          <p:cNvSpPr/>
          <p:nvPr/>
        </p:nvSpPr>
        <p:spPr>
          <a:xfrm>
            <a:off x="158380" y="287429"/>
            <a:ext cx="2720550" cy="164630"/>
          </a:xfrm>
          <a:prstGeom prst="roundRect">
            <a:avLst>
              <a:gd name="adj" fmla="val 17073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［使用期限：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2026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年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月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30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 日 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23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：</a:t>
            </a:r>
            <a:r>
              <a:rPr kumimoji="1" lang="en-US" altLang="ja-JP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59</a:t>
            </a:r>
            <a:r>
              <a:rPr kumimoji="1" lang="ja-JP" altLang="en-US" sz="600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まで］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01FA509-A0BD-AC34-663F-24EDF71C7E51}"/>
              </a:ext>
            </a:extLst>
          </p:cNvPr>
          <p:cNvSpPr/>
          <p:nvPr/>
        </p:nvSpPr>
        <p:spPr>
          <a:xfrm>
            <a:off x="1060000" y="571575"/>
            <a:ext cx="1429461" cy="215018"/>
          </a:xfrm>
          <a:prstGeom prst="roundRect">
            <a:avLst>
              <a:gd name="adj" fmla="val 66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12345678</a:t>
            </a:r>
            <a:endParaRPr kumimoji="1" lang="ja-JP" altLang="en-US" sz="8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574CC00-E4C4-66A6-082F-C1484247B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32" y="1793811"/>
            <a:ext cx="97255" cy="9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77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02D36-B11B-A8FB-75A9-A59CF77C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093A3DCB-8D52-30AA-5AD1-0A4C3AD1DD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273" r="4158" b="2474"/>
          <a:stretch>
            <a:fillRect/>
          </a:stretch>
        </p:blipFill>
        <p:spPr>
          <a:xfrm>
            <a:off x="12" y="895057"/>
            <a:ext cx="3095613" cy="1049631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B13E62B-44E1-8B79-DB50-BDB580695FAC}"/>
              </a:ext>
            </a:extLst>
          </p:cNvPr>
          <p:cNvSpPr/>
          <p:nvPr/>
        </p:nvSpPr>
        <p:spPr>
          <a:xfrm rot="10800000">
            <a:off x="-14" y="5065"/>
            <a:ext cx="3095625" cy="1123836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16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2728786-E7F7-9F6B-DF4C-3682DE3130D9}"/>
              </a:ext>
            </a:extLst>
          </p:cNvPr>
          <p:cNvGrpSpPr/>
          <p:nvPr/>
        </p:nvGrpSpPr>
        <p:grpSpPr>
          <a:xfrm>
            <a:off x="2029991" y="119637"/>
            <a:ext cx="814144" cy="834587"/>
            <a:chOff x="1007265" y="2604330"/>
            <a:chExt cx="962823" cy="951821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4C56CA58-BFFD-86CB-2032-152F7F0770FD}"/>
                </a:ext>
              </a:extLst>
            </p:cNvPr>
            <p:cNvSpPr/>
            <p:nvPr/>
          </p:nvSpPr>
          <p:spPr>
            <a:xfrm>
              <a:off x="1007265" y="2604330"/>
              <a:ext cx="962823" cy="951821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1CDCD3AF-EFC7-73AD-5586-858B78717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581794E-657C-84FE-8394-D5B90F540D42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DA2BBE50-AA65-A904-9BCA-D22F036F1B57}"/>
              </a:ext>
            </a:extLst>
          </p:cNvPr>
          <p:cNvSpPr/>
          <p:nvPr/>
        </p:nvSpPr>
        <p:spPr>
          <a:xfrm>
            <a:off x="971125" y="1210205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002B3EF-E8BE-ADCE-BBF2-193E177C0738}"/>
              </a:ext>
            </a:extLst>
          </p:cNvPr>
          <p:cNvSpPr/>
          <p:nvPr/>
        </p:nvSpPr>
        <p:spPr>
          <a:xfrm>
            <a:off x="220635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379142E-0BA8-AC04-F3CC-A8BB11C42983}"/>
              </a:ext>
            </a:extLst>
          </p:cNvPr>
          <p:cNvSpPr/>
          <p:nvPr/>
        </p:nvSpPr>
        <p:spPr>
          <a:xfrm>
            <a:off x="930134" y="1429151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endParaRPr kumimoji="1" lang="en-US" altLang="ja-JP" sz="800" dirty="0">
              <a:solidFill>
                <a:schemeClr val="bg1"/>
              </a:solidFill>
              <a:effectLst>
                <a:outerShdw blurRad="50800" dir="2700000" algn="tl" rotWithShape="0">
                  <a:prstClr val="black">
                    <a:alpha val="40000"/>
                  </a:prstClr>
                </a:outerShdw>
              </a:effectLst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F7CCE8A-0462-C8FB-C1AF-3E7F3E09A5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>
            <a:off x="336720" y="195333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6419780-1B67-DC5F-CF77-650A24B4C685}"/>
              </a:ext>
            </a:extLst>
          </p:cNvPr>
          <p:cNvSpPr txBox="1"/>
          <p:nvPr/>
        </p:nvSpPr>
        <p:spPr>
          <a:xfrm>
            <a:off x="185716" y="764163"/>
            <a:ext cx="1768020" cy="184666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401480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D5FA-EAF7-9E1C-3D52-208EF164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32ACD1C-3A5E-D0C8-FCF3-5A9774805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40" r="4158" b="2474"/>
          <a:stretch>
            <a:fillRect/>
          </a:stretch>
        </p:blipFill>
        <p:spPr>
          <a:xfrm>
            <a:off x="12" y="1012667"/>
            <a:ext cx="3095613" cy="932021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09E6B75-AE22-3794-0CA3-AA42B78EF14A}"/>
              </a:ext>
            </a:extLst>
          </p:cNvPr>
          <p:cNvSpPr/>
          <p:nvPr/>
        </p:nvSpPr>
        <p:spPr>
          <a:xfrm rot="10800000">
            <a:off x="-14" y="5065"/>
            <a:ext cx="3095625" cy="10076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16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E0193D8-63EF-6C7B-BF9B-EB476AC667BD}"/>
              </a:ext>
            </a:extLst>
          </p:cNvPr>
          <p:cNvGrpSpPr/>
          <p:nvPr/>
        </p:nvGrpSpPr>
        <p:grpSpPr>
          <a:xfrm>
            <a:off x="1858195" y="333012"/>
            <a:ext cx="1237430" cy="1326181"/>
            <a:chOff x="1007264" y="2559353"/>
            <a:chExt cx="964464" cy="99679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0B617C7A-360E-8EF9-C4BB-A75483D49B27}"/>
                </a:ext>
              </a:extLst>
            </p:cNvPr>
            <p:cNvSpPr/>
            <p:nvPr/>
          </p:nvSpPr>
          <p:spPr>
            <a:xfrm>
              <a:off x="1007264" y="2559353"/>
              <a:ext cx="964464" cy="996797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31608B95-90DE-1DDE-791D-ADD67DD12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44F7D49-6892-DE47-C039-E68770B8FAEF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CA14085-F548-9C3E-5E20-D62B317A2F4D}"/>
              </a:ext>
            </a:extLst>
          </p:cNvPr>
          <p:cNvSpPr/>
          <p:nvPr/>
        </p:nvSpPr>
        <p:spPr>
          <a:xfrm>
            <a:off x="1896899" y="71341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0188BA9E-0CBC-B2B4-78B4-20DC267A0C04}"/>
              </a:ext>
            </a:extLst>
          </p:cNvPr>
          <p:cNvSpPr/>
          <p:nvPr/>
        </p:nvSpPr>
        <p:spPr>
          <a:xfrm>
            <a:off x="220635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12B835-1315-5677-F468-B09D9EAD643D}"/>
              </a:ext>
            </a:extLst>
          </p:cNvPr>
          <p:cNvSpPr/>
          <p:nvPr/>
        </p:nvSpPr>
        <p:spPr>
          <a:xfrm>
            <a:off x="1857819" y="267498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32034C2-A06F-979B-46C6-8AE1A00A7F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>
            <a:off x="220635" y="217467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97CFDA-16E8-4626-986A-B5D96EC1036C}"/>
              </a:ext>
            </a:extLst>
          </p:cNvPr>
          <p:cNvSpPr txBox="1"/>
          <p:nvPr/>
        </p:nvSpPr>
        <p:spPr>
          <a:xfrm>
            <a:off x="32951" y="888887"/>
            <a:ext cx="1768020" cy="20005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7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3537560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77D9A-039C-BC61-E2B3-2EA12723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E26B644-6BEB-5CC0-BFD2-45BDE517E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240" r="4158" b="2474"/>
          <a:stretch>
            <a:fillRect/>
          </a:stretch>
        </p:blipFill>
        <p:spPr>
          <a:xfrm>
            <a:off x="12" y="1012667"/>
            <a:ext cx="3095613" cy="932021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793B47D6-B18B-4D90-D895-3432F016F5FA}"/>
              </a:ext>
            </a:extLst>
          </p:cNvPr>
          <p:cNvSpPr/>
          <p:nvPr/>
        </p:nvSpPr>
        <p:spPr>
          <a:xfrm rot="10800000">
            <a:off x="-16" y="5065"/>
            <a:ext cx="3095625" cy="1503898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8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5EDD50D-5516-60E9-5EA7-CDD1E3657AFE}"/>
              </a:ext>
            </a:extLst>
          </p:cNvPr>
          <p:cNvGrpSpPr/>
          <p:nvPr/>
        </p:nvGrpSpPr>
        <p:grpSpPr>
          <a:xfrm>
            <a:off x="1858194" y="0"/>
            <a:ext cx="1235325" cy="1326181"/>
            <a:chOff x="1007264" y="2559353"/>
            <a:chExt cx="962823" cy="996797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1FC298C8-ECAC-8B6D-693C-94522E560036}"/>
                </a:ext>
              </a:extLst>
            </p:cNvPr>
            <p:cNvSpPr/>
            <p:nvPr/>
          </p:nvSpPr>
          <p:spPr>
            <a:xfrm>
              <a:off x="1007264" y="2559353"/>
              <a:ext cx="962823" cy="996797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1F05E310-6114-9849-4D1C-8FC5A444F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72E9A38-580F-1047-27CB-5D5053D3DA9F}"/>
              </a:ext>
            </a:extLst>
          </p:cNvPr>
          <p:cNvSpPr/>
          <p:nvPr/>
        </p:nvSpPr>
        <p:spPr>
          <a:xfrm>
            <a:off x="-1" y="5074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3EDE3C2-9F11-A522-296C-2B42664E9733}"/>
              </a:ext>
            </a:extLst>
          </p:cNvPr>
          <p:cNvSpPr/>
          <p:nvPr/>
        </p:nvSpPr>
        <p:spPr>
          <a:xfrm>
            <a:off x="3808249" y="685426"/>
            <a:ext cx="1153343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D96A1F0-7C38-5D33-F28A-65A49A2DAB5F}"/>
              </a:ext>
            </a:extLst>
          </p:cNvPr>
          <p:cNvSpPr/>
          <p:nvPr/>
        </p:nvSpPr>
        <p:spPr>
          <a:xfrm>
            <a:off x="220635" y="1793322"/>
            <a:ext cx="2654348" cy="120703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kumimoji="1" lang="ja-JP" altLang="en-US" sz="600" dirty="0">
                <a:solidFill>
                  <a:schemeClr val="bg1"/>
                </a:solidFill>
                <a:effectLst>
                  <a:outerShdw blurRad="88900" dir="2700000" algn="tl" rotWithShape="0">
                    <a:schemeClr val="tx1"/>
                  </a:outerShdw>
                  <a:reflection endPos="0" dir="5400000" sy="-100000" algn="bl" rotWithShape="0"/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rPr>
              <a:t>とけない、われない、かさばらない！　カードで送る新習慣＠名刺代わりに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543796C-ED5F-13FE-44DD-6777A711DA82}"/>
              </a:ext>
            </a:extLst>
          </p:cNvPr>
          <p:cNvSpPr/>
          <p:nvPr/>
        </p:nvSpPr>
        <p:spPr>
          <a:xfrm>
            <a:off x="3769169" y="881583"/>
            <a:ext cx="1235326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603BD6D-EBBC-4898-D22E-1E2F739799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>
            <a:off x="188234" y="435724"/>
            <a:ext cx="1504148" cy="594987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0A37F03-B0EF-083E-236B-45659C187B46}"/>
              </a:ext>
            </a:extLst>
          </p:cNvPr>
          <p:cNvSpPr txBox="1"/>
          <p:nvPr/>
        </p:nvSpPr>
        <p:spPr>
          <a:xfrm>
            <a:off x="88069" y="1309851"/>
            <a:ext cx="1768020" cy="21544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800" dirty="0">
                <a:solidFill>
                  <a:srgbClr val="0A2165"/>
                </a:solidFill>
                <a:effectLst>
                  <a:reflection endPos="0" dir="5400000" sy="-100000" algn="bl" rotWithShape="0"/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1965687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26204-B5BC-712D-F3F6-4D947421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BAE736AC-77AB-9439-B4CD-1DC1EA6E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AB58033-673C-1C3D-3F8B-30EA4A4CB72B}"/>
              </a:ext>
            </a:extLst>
          </p:cNvPr>
          <p:cNvGrpSpPr/>
          <p:nvPr/>
        </p:nvGrpSpPr>
        <p:grpSpPr>
          <a:xfrm>
            <a:off x="1001269" y="248425"/>
            <a:ext cx="1093085" cy="1475085"/>
            <a:chOff x="1007265" y="2397514"/>
            <a:chExt cx="962823" cy="1252992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B35BED57-3700-6CA5-AED0-900891C297FA}"/>
                </a:ext>
              </a:extLst>
            </p:cNvPr>
            <p:cNvSpPr/>
            <p:nvPr/>
          </p:nvSpPr>
          <p:spPr>
            <a:xfrm>
              <a:off x="1007265" y="2397514"/>
              <a:ext cx="962823" cy="1252992"/>
            </a:xfrm>
            <a:prstGeom prst="roundRect">
              <a:avLst>
                <a:gd name="adj" fmla="val 6665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E76EAFC2-10C9-F88A-0EEF-81A3A86D2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8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EE217FC-62B1-B6F3-5B82-B9D893A93574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1B57C80C-6485-8D4F-FB80-00B54E2FBE9A}"/>
              </a:ext>
            </a:extLst>
          </p:cNvPr>
          <p:cNvSpPr/>
          <p:nvPr/>
        </p:nvSpPr>
        <p:spPr>
          <a:xfrm rot="24067">
            <a:off x="1040928" y="284901"/>
            <a:ext cx="1007655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DCB2729-1505-9664-C021-3A80C860A7D4}"/>
              </a:ext>
            </a:extLst>
          </p:cNvPr>
          <p:cNvSpPr/>
          <p:nvPr/>
        </p:nvSpPr>
        <p:spPr>
          <a:xfrm>
            <a:off x="2330761" y="1791386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endParaRPr kumimoji="1" lang="en-US" altLang="ja-JP" sz="800" dirty="0">
              <a:solidFill>
                <a:schemeClr val="bg1"/>
              </a:solidFill>
              <a:effectLst>
                <a:outerShdw blurRad="50800" dir="2700000" algn="tl" rotWithShape="0">
                  <a:prstClr val="black">
                    <a:alpha val="40000"/>
                  </a:prstClr>
                </a:outerShdw>
              </a:effectLst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A2B72BC-B4AE-E99C-F1E8-8C6116FCEE82}"/>
              </a:ext>
            </a:extLst>
          </p:cNvPr>
          <p:cNvSpPr txBox="1"/>
          <p:nvPr/>
        </p:nvSpPr>
        <p:spPr>
          <a:xfrm>
            <a:off x="709699" y="1570707"/>
            <a:ext cx="1670112" cy="169277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500" dirty="0">
                <a:solidFill>
                  <a:schemeClr val="bg1"/>
                </a:solidFill>
                <a:effectLst>
                  <a:outerShdw sx="101000" sy="1010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1771292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B58A-EA9E-6948-D8C1-F2FBC61DB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B975856-41F4-9B23-B31C-51F9BF75AC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FF3AE34-96D0-636D-6322-A595AE2E02DB}"/>
              </a:ext>
            </a:extLst>
          </p:cNvPr>
          <p:cNvSpPr/>
          <p:nvPr/>
        </p:nvSpPr>
        <p:spPr>
          <a:xfrm rot="10800000">
            <a:off x="1" y="-11088"/>
            <a:ext cx="3095622" cy="1966861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bg1"/>
              </a:gs>
              <a:gs pos="44000">
                <a:srgbClr val="FFFFFF"/>
              </a:gs>
              <a:gs pos="39000">
                <a:schemeClr val="bg1">
                  <a:alpha val="0"/>
                </a:schemeClr>
              </a:gs>
            </a:gsLst>
            <a:lin ang="42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0442C94-2198-829A-0327-6839532F4EE0}"/>
              </a:ext>
            </a:extLst>
          </p:cNvPr>
          <p:cNvGrpSpPr/>
          <p:nvPr/>
        </p:nvGrpSpPr>
        <p:grpSpPr>
          <a:xfrm rot="20354609">
            <a:off x="211231" y="304820"/>
            <a:ext cx="1093085" cy="1122631"/>
            <a:chOff x="1007265" y="2604330"/>
            <a:chExt cx="962823" cy="953604"/>
          </a:xfrm>
        </p:grpSpPr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18C20545-8AA4-C973-48FA-73DABC35BA0A}"/>
                </a:ext>
              </a:extLst>
            </p:cNvPr>
            <p:cNvSpPr/>
            <p:nvPr/>
          </p:nvSpPr>
          <p:spPr>
            <a:xfrm>
              <a:off x="1007265" y="2604330"/>
              <a:ext cx="962823" cy="953604"/>
            </a:xfrm>
            <a:prstGeom prst="roundRect">
              <a:avLst>
                <a:gd name="adj" fmla="val 6665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24000">
                  <a:schemeClr val="bg1"/>
                </a:gs>
                <a:gs pos="100000">
                  <a:schemeClr val="bg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図 14" descr="QR コード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3D5C7E9-E2D9-64F8-28AD-983F5175E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6930" y="2641649"/>
              <a:ext cx="883492" cy="878787"/>
            </a:xfrm>
            <a:prstGeom prst="rect">
              <a:avLst/>
            </a:prstGeom>
          </p:spPr>
        </p:pic>
      </p:grp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653319B-043D-25F4-B1DA-326175B9083D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3581B1BF-1462-E1E7-DB5E-B441F3AF2B49}"/>
              </a:ext>
            </a:extLst>
          </p:cNvPr>
          <p:cNvSpPr/>
          <p:nvPr/>
        </p:nvSpPr>
        <p:spPr>
          <a:xfrm rot="20378676">
            <a:off x="18536" y="159031"/>
            <a:ext cx="1007655" cy="214457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😍の気持ち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F07B1D5-9EFB-F59F-3AD5-7A62580689AD}"/>
              </a:ext>
            </a:extLst>
          </p:cNvPr>
          <p:cNvSpPr/>
          <p:nvPr/>
        </p:nvSpPr>
        <p:spPr>
          <a:xfrm>
            <a:off x="2290220" y="1774253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90D39BC-836C-3C26-1772-1E2651BCA7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 rot="20422190">
            <a:off x="1353789" y="246448"/>
            <a:ext cx="1381816" cy="546596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834DB71-B9B0-4B91-6EC9-77301177F251}"/>
              </a:ext>
            </a:extLst>
          </p:cNvPr>
          <p:cNvSpPr txBox="1"/>
          <p:nvPr/>
        </p:nvSpPr>
        <p:spPr>
          <a:xfrm rot="20405706">
            <a:off x="955032" y="1228172"/>
            <a:ext cx="1670112" cy="184666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chemeClr val="bg1"/>
                </a:solidFill>
                <a:effectLst>
                  <a:outerShdw sx="101000" sy="1010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</p:spTree>
    <p:extLst>
      <p:ext uri="{BB962C8B-B14F-4D97-AF65-F5344CB8AC3E}">
        <p14:creationId xmlns:p14="http://schemas.microsoft.com/office/powerpoint/2010/main" val="760208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1D5FA-EAF7-9E1C-3D52-208EF164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32ACD1C-3A5E-D0C8-FCF3-5A9774805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09E6B75-AE22-3794-0CA3-AA42B78EF14A}"/>
              </a:ext>
            </a:extLst>
          </p:cNvPr>
          <p:cNvSpPr/>
          <p:nvPr/>
        </p:nvSpPr>
        <p:spPr>
          <a:xfrm rot="10800000">
            <a:off x="1" y="-11088"/>
            <a:ext cx="3095622" cy="1966861"/>
          </a:xfrm>
          <a:prstGeom prst="roundRect">
            <a:avLst>
              <a:gd name="adj" fmla="val 0"/>
            </a:avLst>
          </a:prstGeom>
          <a:gradFill flip="none" rotWithShape="1">
            <a:gsLst>
              <a:gs pos="75000">
                <a:srgbClr val="FFFFFF"/>
              </a:gs>
              <a:gs pos="77000">
                <a:schemeClr val="bg1">
                  <a:alpha val="0"/>
                </a:schemeClr>
              </a:gs>
              <a:gs pos="31000">
                <a:srgbClr val="FFFFFF"/>
              </a:gs>
              <a:gs pos="29000">
                <a:schemeClr val="bg1">
                  <a:alpha val="0"/>
                </a:schemeClr>
              </a:gs>
            </a:gsLst>
            <a:lin ang="4200000" scaled="0"/>
            <a:tileRect/>
          </a:gradFill>
          <a:ln>
            <a:noFill/>
          </a:ln>
          <a:effectLst>
            <a:outerShdw dir="5400000" algn="ctr" rotWithShape="0">
              <a:schemeClr val="bg1"/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600" dirty="0">
              <a:solidFill>
                <a:schemeClr val="tx1"/>
              </a:solidFill>
              <a:effectLst>
                <a:outerShdw dist="50800" dir="5400000" algn="ctr" rotWithShape="0">
                  <a:srgbClr val="000000">
                    <a:alpha val="43137"/>
                  </a:srgbClr>
                </a:outerShdw>
              </a:effectLst>
              <a:latin typeface="UD デジタル 教科書体 NP-R" panose="020B0400000000000000" pitchFamily="18" charset="-128"/>
              <a:ea typeface="UD デジタル 教科書体 NP-R" panose="020B0400000000000000" pitchFamily="18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B617C7A-360E-8EF9-C4BB-A75483D49B27}"/>
              </a:ext>
            </a:extLst>
          </p:cNvPr>
          <p:cNvSpPr/>
          <p:nvPr/>
        </p:nvSpPr>
        <p:spPr>
          <a:xfrm rot="20404139">
            <a:off x="160581" y="595576"/>
            <a:ext cx="1147201" cy="1178209"/>
          </a:xfrm>
          <a:prstGeom prst="roundRect">
            <a:avLst>
              <a:gd name="adj" fmla="val 6665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24000">
                <a:schemeClr val="bg1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31608B95-90DE-1DDE-791D-ADD67DD12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04139">
            <a:off x="207804" y="641692"/>
            <a:ext cx="1052678" cy="1085770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B44F7D49-6892-DE47-C039-E68770B8FAEF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CA14085-F548-9C3E-5E20-D62B317A2F4D}"/>
              </a:ext>
            </a:extLst>
          </p:cNvPr>
          <p:cNvSpPr/>
          <p:nvPr/>
        </p:nvSpPr>
        <p:spPr>
          <a:xfrm rot="20378676">
            <a:off x="61030" y="3985"/>
            <a:ext cx="617537" cy="495569"/>
          </a:xfrm>
          <a:prstGeom prst="roundRect">
            <a:avLst>
              <a:gd name="adj" fmla="val 6665"/>
            </a:avLst>
          </a:prstGeom>
          <a:noFill/>
          <a:ln>
            <a:noFill/>
          </a:ln>
          <a:effectLst>
            <a:outerShdw blurRad="88900" dist="76200" dir="6000000" algn="t" rotWithShape="0">
              <a:prstClr val="black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kumimoji="1" lang="ja-JP" altLang="en-US" sz="3600" dirty="0">
                <a:solidFill>
                  <a:schemeClr val="tx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😍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32034C2-A06F-979B-46C6-8AE1A00A7F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46838"/>
          <a:stretch>
            <a:fillRect/>
          </a:stretch>
        </p:blipFill>
        <p:spPr>
          <a:xfrm rot="20365413">
            <a:off x="1310144" y="319752"/>
            <a:ext cx="1548181" cy="612404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97CFDA-16E8-4626-986A-B5D96EC1036C}"/>
              </a:ext>
            </a:extLst>
          </p:cNvPr>
          <p:cNvSpPr txBox="1"/>
          <p:nvPr/>
        </p:nvSpPr>
        <p:spPr>
          <a:xfrm rot="20405706">
            <a:off x="1354430" y="904741"/>
            <a:ext cx="1670112" cy="184666"/>
          </a:xfrm>
          <a:prstGeom prst="rect">
            <a:avLst/>
          </a:prstGeom>
          <a:noFill/>
          <a:ln>
            <a:noFill/>
          </a:ln>
          <a:effectLst>
            <a:outerShdw dir="5400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600" dirty="0">
                <a:solidFill>
                  <a:srgbClr val="0A2165"/>
                </a:solidFill>
                <a:effectLst>
                  <a:outerShdw blurRad="38100" algn="tl" rotWithShape="0">
                    <a:schemeClr val="tx1"/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ASSET TRANFER TOKEN CARD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612B835-1315-5677-F468-B09D9EAD643D}"/>
              </a:ext>
            </a:extLst>
          </p:cNvPr>
          <p:cNvSpPr/>
          <p:nvPr/>
        </p:nvSpPr>
        <p:spPr>
          <a:xfrm>
            <a:off x="2262085" y="1774253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384533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5685E-8D34-4435-D808-B6B2323D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6EC9FB0-0D0A-1EC6-0A60-32DD5CE83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" t="181" r="4455" b="366"/>
          <a:stretch>
            <a:fillRect/>
          </a:stretch>
        </p:blipFill>
        <p:spPr>
          <a:xfrm>
            <a:off x="2" y="-11085"/>
            <a:ext cx="3095623" cy="1966859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  <a:alpha val="36000"/>
                </a:schemeClr>
              </a:gs>
            </a:gsLst>
            <a:lin ang="5400000" scaled="1"/>
          </a:gradFill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084918A-A978-E0E5-3D77-3A014C72559A}"/>
              </a:ext>
            </a:extLst>
          </p:cNvPr>
          <p:cNvSpPr/>
          <p:nvPr/>
        </p:nvSpPr>
        <p:spPr>
          <a:xfrm>
            <a:off x="0" y="16161"/>
            <a:ext cx="3095625" cy="1939614"/>
          </a:xfrm>
          <a:prstGeom prst="roundRect">
            <a:avLst>
              <a:gd name="adj" fmla="val 13559"/>
            </a:avLst>
          </a:prstGeom>
          <a:noFill/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0" rtlCol="0" anchor="b">
            <a:noAutofit/>
          </a:bodyPr>
          <a:lstStyle/>
          <a:p>
            <a:pPr algn="ctr"/>
            <a:endParaRPr kumimoji="1" lang="ja-JP" altLang="en-US" sz="600" dirty="0">
              <a:solidFill>
                <a:schemeClr val="tx1"/>
              </a:solidFill>
              <a:latin typeface="UD デジタル 教科書体 NP-R" panose="02020400000000000000" pitchFamily="18" charset="-128"/>
              <a:ea typeface="UD デジタル 教科書体 NP-R" panose="02020400000000000000" pitchFamily="18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51CADBA-94EB-17AF-BD1F-33BBF0D5BFFC}"/>
              </a:ext>
            </a:extLst>
          </p:cNvPr>
          <p:cNvSpPr/>
          <p:nvPr/>
        </p:nvSpPr>
        <p:spPr>
          <a:xfrm>
            <a:off x="2292198" y="1796465"/>
            <a:ext cx="833538" cy="181522"/>
          </a:xfrm>
          <a:prstGeom prst="roundRect">
            <a:avLst>
              <a:gd name="adj" fmla="val 666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【</a:t>
            </a:r>
            <a:r>
              <a:rPr kumimoji="1" lang="ja-JP" altLang="en-US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名刺代わりに</a:t>
            </a:r>
            <a:r>
              <a:rPr kumimoji="1" lang="en-US" altLang="ja-JP" sz="800" dirty="0">
                <a:solidFill>
                  <a:schemeClr val="bg1"/>
                </a:solidFill>
                <a:effectLst>
                  <a:outerShdw blurRad="50800" dir="2700000" algn="tl" rotWithShape="0">
                    <a:prstClr val="black">
                      <a:alpha val="40000"/>
                    </a:prstClr>
                  </a:outerShdw>
                </a:effectLst>
                <a:latin typeface="UD デジタル 教科書体 NP-R" panose="02020400000000000000" pitchFamily="18" charset="-128"/>
                <a:ea typeface="UD デジタル 教科書体 NP-R" panose="02020400000000000000" pitchFamily="18" charset="-128"/>
              </a:rPr>
              <a:t>】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F82B082-DF07-031F-309E-FADCF61ECADA}"/>
              </a:ext>
            </a:extLst>
          </p:cNvPr>
          <p:cNvGrpSpPr/>
          <p:nvPr/>
        </p:nvGrpSpPr>
        <p:grpSpPr>
          <a:xfrm>
            <a:off x="1" y="-11088"/>
            <a:ext cx="3095622" cy="1966861"/>
            <a:chOff x="1" y="-11088"/>
            <a:chExt cx="3095622" cy="1966861"/>
          </a:xfrm>
        </p:grpSpPr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D172C7EB-9E5E-C8EF-B37C-BDB4904163E2}"/>
                </a:ext>
              </a:extLst>
            </p:cNvPr>
            <p:cNvSpPr/>
            <p:nvPr/>
          </p:nvSpPr>
          <p:spPr>
            <a:xfrm rot="10800000">
              <a:off x="1" y="-11088"/>
              <a:ext cx="3095622" cy="196686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75000">
                  <a:srgbClr val="FFFFFF"/>
                </a:gs>
                <a:gs pos="77000">
                  <a:schemeClr val="bg1">
                    <a:alpha val="0"/>
                  </a:schemeClr>
                </a:gs>
                <a:gs pos="31000">
                  <a:srgbClr val="FFFFFF"/>
                </a:gs>
                <a:gs pos="29000">
                  <a:schemeClr val="bg1">
                    <a:alpha val="0"/>
                  </a:schemeClr>
                </a:gs>
              </a:gsLst>
              <a:lin ang="4200000" scaled="0"/>
              <a:tileRect/>
            </a:gradFill>
            <a:ln>
              <a:noFill/>
            </a:ln>
            <a:effectLst>
              <a:outerShdw dir="5400000" algn="ctr" rotWithShape="0">
                <a:schemeClr val="bg1"/>
              </a:outerShdw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ja-JP" altLang="en-US" sz="600" dirty="0">
                <a:solidFill>
                  <a:schemeClr val="tx1"/>
                </a:solidFill>
                <a:effectLst>
                  <a:outerShdw dist="50800" dir="5400000" algn="ctr" rotWithShape="0">
                    <a:srgbClr val="000000">
                      <a:alpha val="43137"/>
                    </a:srgbClr>
                  </a:outerShdw>
                </a:effectLst>
                <a:latin typeface="UD デジタル 教科書体 NP-R" panose="020B0400000000000000" pitchFamily="18" charset="-128"/>
                <a:ea typeface="UD デジタル 教科書体 NP-R" panose="020B0400000000000000" pitchFamily="18" charset="-128"/>
              </a:endParaRPr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7DE08F0F-FCC5-03FD-AB94-85A878423091}"/>
                </a:ext>
              </a:extLst>
            </p:cNvPr>
            <p:cNvGrpSpPr/>
            <p:nvPr/>
          </p:nvGrpSpPr>
          <p:grpSpPr>
            <a:xfrm rot="20404139">
              <a:off x="160581" y="595576"/>
              <a:ext cx="1147201" cy="1178209"/>
              <a:chOff x="1007265" y="2604330"/>
              <a:chExt cx="962823" cy="953604"/>
            </a:xfrm>
          </p:grpSpPr>
          <p:sp>
            <p:nvSpPr>
              <p:cNvPr id="13" name="四角形: 角を丸くする 12">
                <a:extLst>
                  <a:ext uri="{FF2B5EF4-FFF2-40B4-BE49-F238E27FC236}">
                    <a16:creationId xmlns:a16="http://schemas.microsoft.com/office/drawing/2014/main" id="{E8A68365-1C7D-AC9A-3004-CA6199A150BB}"/>
                  </a:ext>
                </a:extLst>
              </p:cNvPr>
              <p:cNvSpPr/>
              <p:nvPr/>
            </p:nvSpPr>
            <p:spPr>
              <a:xfrm>
                <a:off x="1007265" y="2604330"/>
                <a:ext cx="962823" cy="953604"/>
              </a:xfrm>
              <a:prstGeom prst="roundRect">
                <a:avLst>
                  <a:gd name="adj" fmla="val 6665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24000">
                    <a:schemeClr val="bg1"/>
                  </a:gs>
                  <a:gs pos="100000">
                    <a:schemeClr val="bg1"/>
                  </a:gs>
                </a:gsLst>
                <a:lin ang="162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5" name="図 14" descr="QR コード&#10;&#10;AI 生成コンテンツは誤りを含む可能性があります。">
                <a:extLst>
                  <a:ext uri="{FF2B5EF4-FFF2-40B4-BE49-F238E27FC236}">
                    <a16:creationId xmlns:a16="http://schemas.microsoft.com/office/drawing/2014/main" id="{A14DA6EE-CC6B-37DC-05C7-239FBE2BC6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6930" y="2641649"/>
                <a:ext cx="883492" cy="878787"/>
              </a:xfrm>
              <a:prstGeom prst="rect">
                <a:avLst/>
              </a:prstGeom>
            </p:spPr>
          </p:pic>
        </p:grpSp>
        <p:sp>
          <p:nvSpPr>
            <p:cNvPr id="31" name="四角形: 角を丸くする 30">
              <a:extLst>
                <a:ext uri="{FF2B5EF4-FFF2-40B4-BE49-F238E27FC236}">
                  <a16:creationId xmlns:a16="http://schemas.microsoft.com/office/drawing/2014/main" id="{33550D30-FED0-4B5D-18BC-9B7C8BCCC7A2}"/>
                </a:ext>
              </a:extLst>
            </p:cNvPr>
            <p:cNvSpPr/>
            <p:nvPr/>
          </p:nvSpPr>
          <p:spPr>
            <a:xfrm rot="20378676">
              <a:off x="61030" y="3985"/>
              <a:ext cx="617537" cy="495569"/>
            </a:xfrm>
            <a:prstGeom prst="roundRect">
              <a:avLst>
                <a:gd name="adj" fmla="val 6665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r>
                <a:rPr kumimoji="1" lang="ja-JP" altLang="en-US" sz="3600" dirty="0">
                  <a:solidFill>
                    <a:schemeClr val="tx1"/>
                  </a:solidFill>
                  <a:effectLst>
                    <a:outerShdw blurRad="50800" dir="2700000" algn="tl" rotWithShape="0">
                      <a:prstClr val="black">
                        <a:alpha val="40000"/>
                      </a:prstClr>
                    </a:outerShdw>
                  </a:effectLst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😍</a:t>
              </a:r>
            </a:p>
          </p:txBody>
        </p:sp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6F4C55F6-2518-87CC-3C97-D2DCFB512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" b="46838"/>
            <a:stretch>
              <a:fillRect/>
            </a:stretch>
          </p:blipFill>
          <p:spPr>
            <a:xfrm rot="20365413">
              <a:off x="1310144" y="319752"/>
              <a:ext cx="1548181" cy="612404"/>
            </a:xfrm>
            <a:prstGeom prst="rect">
              <a:avLst/>
            </a:prstGeom>
            <a:noFill/>
            <a:effectLst>
              <a:softEdge rad="0"/>
            </a:effectLst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A4DE435-C0DD-28D7-9138-332BDD130F51}"/>
                </a:ext>
              </a:extLst>
            </p:cNvPr>
            <p:cNvSpPr txBox="1"/>
            <p:nvPr/>
          </p:nvSpPr>
          <p:spPr>
            <a:xfrm rot="20405706">
              <a:off x="1354430" y="904741"/>
              <a:ext cx="1670112" cy="184666"/>
            </a:xfrm>
            <a:prstGeom prst="rect">
              <a:avLst/>
            </a:prstGeom>
            <a:noFill/>
            <a:ln>
              <a:noFill/>
            </a:ln>
            <a:effectLst>
              <a:outerShdw dir="5400000" algn="ctr" rotWithShape="0">
                <a:schemeClr val="bg1"/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600" dirty="0">
                  <a:solidFill>
                    <a:srgbClr val="0A2165"/>
                  </a:solidFill>
                  <a:effectLst>
                    <a:outerShdw blurRad="38100" algn="tl" rotWithShape="0">
                      <a:schemeClr val="tx1"/>
                    </a:outerShdw>
                  </a:effectLst>
                  <a:latin typeface="UD デジタル 教科書体 NP-R" panose="02020400000000000000" pitchFamily="18" charset="-128"/>
                  <a:ea typeface="UD デジタル 教科書体 NP-R" panose="02020400000000000000" pitchFamily="18" charset="-128"/>
                </a:rPr>
                <a:t>ASSET TRANFER TOKEN CARD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6005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1405</TotalTime>
  <Words>455</Words>
  <Application>Microsoft Office PowerPoint</Application>
  <PresentationFormat>ユーザー設定</PresentationFormat>
  <Paragraphs>63</Paragraphs>
  <Slides>15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2" baseType="lpstr">
      <vt:lpstr>UD デジタル 教科書体 NP</vt:lpstr>
      <vt:lpstr>UD デジタル 教科書体 NP-R</vt:lpstr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参考</vt:lpstr>
      <vt:lpstr>参考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伊藤　悠大</dc:creator>
  <cp:lastModifiedBy>yudai itou</cp:lastModifiedBy>
  <cp:revision>146</cp:revision>
  <cp:lastPrinted>2026-03-20T00:56:09Z</cp:lastPrinted>
  <dcterms:created xsi:type="dcterms:W3CDTF">2026-01-29T04:40:41Z</dcterms:created>
  <dcterms:modified xsi:type="dcterms:W3CDTF">2026-03-25T07:41:38Z</dcterms:modified>
</cp:coreProperties>
</file>