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5"/>
  </p:notesMasterIdLst>
  <p:sldIdLst>
    <p:sldId id="272" r:id="rId2"/>
    <p:sldId id="278" r:id="rId3"/>
    <p:sldId id="267" r:id="rId4"/>
    <p:sldId id="277" r:id="rId5"/>
    <p:sldId id="258" r:id="rId6"/>
    <p:sldId id="259" r:id="rId7"/>
    <p:sldId id="271" r:id="rId8"/>
    <p:sldId id="273" r:id="rId9"/>
    <p:sldId id="269" r:id="rId10"/>
    <p:sldId id="270" r:id="rId11"/>
    <p:sldId id="279" r:id="rId12"/>
    <p:sldId id="280" r:id="rId13"/>
    <p:sldId id="291" r:id="rId14"/>
    <p:sldId id="292" r:id="rId15"/>
    <p:sldId id="281" r:id="rId16"/>
    <p:sldId id="282" r:id="rId17"/>
    <p:sldId id="283" r:id="rId18"/>
    <p:sldId id="286" r:id="rId19"/>
    <p:sldId id="290" r:id="rId20"/>
    <p:sldId id="289" r:id="rId21"/>
    <p:sldId id="284" r:id="rId22"/>
    <p:sldId id="288" r:id="rId23"/>
    <p:sldId id="287" r:id="rId24"/>
    <p:sldId id="264" r:id="rId25"/>
    <p:sldId id="274" r:id="rId26"/>
    <p:sldId id="260" r:id="rId27"/>
    <p:sldId id="261" r:id="rId28"/>
    <p:sldId id="268" r:id="rId29"/>
    <p:sldId id="275" r:id="rId30"/>
    <p:sldId id="265" r:id="rId31"/>
    <p:sldId id="276" r:id="rId32"/>
    <p:sldId id="262" r:id="rId33"/>
    <p:sldId id="263" r:id="rId34"/>
  </p:sldIdLst>
  <p:sldSz cx="3095625" cy="1944688"/>
  <p:notesSz cx="6735763" cy="98663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pos="97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7E4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36" autoAdjust="0"/>
    <p:restoredTop sz="94660"/>
  </p:normalViewPr>
  <p:slideViewPr>
    <p:cSldViewPr snapToGrid="0">
      <p:cViewPr>
        <p:scale>
          <a:sx n="300" d="100"/>
          <a:sy n="300" d="100"/>
        </p:scale>
        <p:origin x="1230" y="3564"/>
      </p:cViewPr>
      <p:guideLst>
        <p:guide orient="horz" pos="612"/>
        <p:guide pos="97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9141" cy="494097"/>
          </a:xfrm>
          <a:prstGeom prst="rect">
            <a:avLst/>
          </a:prstGeom>
        </p:spPr>
        <p:txBody>
          <a:bodyPr vert="horz" lIns="89788" tIns="44894" rIns="89788" bIns="44894"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072" y="2"/>
            <a:ext cx="2919141" cy="494097"/>
          </a:xfrm>
          <a:prstGeom prst="rect">
            <a:avLst/>
          </a:prstGeom>
        </p:spPr>
        <p:txBody>
          <a:bodyPr vert="horz" lIns="89788" tIns="44894" rIns="89788" bIns="44894" rtlCol="0"/>
          <a:lstStyle>
            <a:lvl1pPr algn="r">
              <a:defRPr sz="1200"/>
            </a:lvl1pPr>
          </a:lstStyle>
          <a:p>
            <a:fld id="{DFB49DE1-FB4B-4CFB-9A42-CC282F575BDD}" type="datetimeFigureOut">
              <a:rPr kumimoji="1" lang="ja-JP" altLang="en-US" smtClean="0"/>
              <a:t>2026/3/12</a:t>
            </a:fld>
            <a:endParaRPr kumimoji="1" lang="ja-JP" altLang="en-US"/>
          </a:p>
        </p:txBody>
      </p:sp>
      <p:sp>
        <p:nvSpPr>
          <p:cNvPr id="4" name="スライド イメージ プレースホルダー 3"/>
          <p:cNvSpPr>
            <a:spLocks noGrp="1" noRot="1" noChangeAspect="1"/>
          </p:cNvSpPr>
          <p:nvPr>
            <p:ph type="sldImg" idx="2"/>
          </p:nvPr>
        </p:nvSpPr>
        <p:spPr>
          <a:xfrm>
            <a:off x="719138" y="1233488"/>
            <a:ext cx="5297487" cy="3328987"/>
          </a:xfrm>
          <a:prstGeom prst="rect">
            <a:avLst/>
          </a:prstGeom>
          <a:noFill/>
          <a:ln w="12700">
            <a:solidFill>
              <a:prstClr val="black"/>
            </a:solidFill>
          </a:ln>
        </p:spPr>
        <p:txBody>
          <a:bodyPr vert="horz" lIns="89788" tIns="44894" rIns="89788" bIns="44894" rtlCol="0" anchor="ctr"/>
          <a:lstStyle/>
          <a:p>
            <a:endParaRPr lang="ja-JP" altLang="en-US"/>
          </a:p>
        </p:txBody>
      </p:sp>
      <p:sp>
        <p:nvSpPr>
          <p:cNvPr id="5" name="ノート プレースホルダー 4"/>
          <p:cNvSpPr>
            <a:spLocks noGrp="1"/>
          </p:cNvSpPr>
          <p:nvPr>
            <p:ph type="body" sz="quarter" idx="3"/>
          </p:nvPr>
        </p:nvSpPr>
        <p:spPr>
          <a:xfrm>
            <a:off x="673889" y="4748652"/>
            <a:ext cx="5387989" cy="3883981"/>
          </a:xfrm>
          <a:prstGeom prst="rect">
            <a:avLst/>
          </a:prstGeom>
        </p:spPr>
        <p:txBody>
          <a:bodyPr vert="horz" lIns="89788" tIns="44894" rIns="89788" bIns="44894"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2" y="9372218"/>
            <a:ext cx="2919141" cy="494097"/>
          </a:xfrm>
          <a:prstGeom prst="rect">
            <a:avLst/>
          </a:prstGeom>
        </p:spPr>
        <p:txBody>
          <a:bodyPr vert="horz" lIns="89788" tIns="44894" rIns="89788" bIns="44894"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072" y="9372218"/>
            <a:ext cx="2919141" cy="494097"/>
          </a:xfrm>
          <a:prstGeom prst="rect">
            <a:avLst/>
          </a:prstGeom>
        </p:spPr>
        <p:txBody>
          <a:bodyPr vert="horz" lIns="89788" tIns="44894" rIns="89788" bIns="44894" rtlCol="0" anchor="b"/>
          <a:lstStyle>
            <a:lvl1pPr algn="r">
              <a:defRPr sz="1200"/>
            </a:lvl1pPr>
          </a:lstStyle>
          <a:p>
            <a:fld id="{C86A7DC6-4F49-4B31-B557-9BBC3851C10A}" type="slidenum">
              <a:rPr kumimoji="1" lang="ja-JP" altLang="en-US" smtClean="0"/>
              <a:t>‹#›</a:t>
            </a:fld>
            <a:endParaRPr kumimoji="1" lang="ja-JP" altLang="en-US"/>
          </a:p>
        </p:txBody>
      </p:sp>
    </p:spTree>
    <p:extLst>
      <p:ext uri="{BB962C8B-B14F-4D97-AF65-F5344CB8AC3E}">
        <p14:creationId xmlns:p14="http://schemas.microsoft.com/office/powerpoint/2010/main" val="3380526975"/>
      </p:ext>
    </p:extLst>
  </p:cSld>
  <p:clrMap bg1="lt1" tx1="dk1" bg2="lt2" tx2="dk2" accent1="accent1" accent2="accent2" accent3="accent3" accent4="accent4" accent5="accent5" accent6="accent6" hlink="hlink" folHlink="folHlink"/>
  <p:notesStyle>
    <a:lvl1pPr marL="0" algn="l" defTabSz="241859" rtl="0" eaLnBrk="1" latinLnBrk="0" hangingPunct="1">
      <a:defRPr kumimoji="1" sz="317" kern="1200">
        <a:solidFill>
          <a:schemeClr val="tx1"/>
        </a:solidFill>
        <a:latin typeface="+mn-lt"/>
        <a:ea typeface="+mn-ea"/>
        <a:cs typeface="+mn-cs"/>
      </a:defRPr>
    </a:lvl1pPr>
    <a:lvl2pPr marL="120929" algn="l" defTabSz="241859" rtl="0" eaLnBrk="1" latinLnBrk="0" hangingPunct="1">
      <a:defRPr kumimoji="1" sz="317" kern="1200">
        <a:solidFill>
          <a:schemeClr val="tx1"/>
        </a:solidFill>
        <a:latin typeface="+mn-lt"/>
        <a:ea typeface="+mn-ea"/>
        <a:cs typeface="+mn-cs"/>
      </a:defRPr>
    </a:lvl2pPr>
    <a:lvl3pPr marL="241859" algn="l" defTabSz="241859" rtl="0" eaLnBrk="1" latinLnBrk="0" hangingPunct="1">
      <a:defRPr kumimoji="1" sz="317" kern="1200">
        <a:solidFill>
          <a:schemeClr val="tx1"/>
        </a:solidFill>
        <a:latin typeface="+mn-lt"/>
        <a:ea typeface="+mn-ea"/>
        <a:cs typeface="+mn-cs"/>
      </a:defRPr>
    </a:lvl3pPr>
    <a:lvl4pPr marL="362788" algn="l" defTabSz="241859" rtl="0" eaLnBrk="1" latinLnBrk="0" hangingPunct="1">
      <a:defRPr kumimoji="1" sz="317" kern="1200">
        <a:solidFill>
          <a:schemeClr val="tx1"/>
        </a:solidFill>
        <a:latin typeface="+mn-lt"/>
        <a:ea typeface="+mn-ea"/>
        <a:cs typeface="+mn-cs"/>
      </a:defRPr>
    </a:lvl4pPr>
    <a:lvl5pPr marL="483718" algn="l" defTabSz="241859" rtl="0" eaLnBrk="1" latinLnBrk="0" hangingPunct="1">
      <a:defRPr kumimoji="1" sz="317" kern="1200">
        <a:solidFill>
          <a:schemeClr val="tx1"/>
        </a:solidFill>
        <a:latin typeface="+mn-lt"/>
        <a:ea typeface="+mn-ea"/>
        <a:cs typeface="+mn-cs"/>
      </a:defRPr>
    </a:lvl5pPr>
    <a:lvl6pPr marL="604647" algn="l" defTabSz="241859" rtl="0" eaLnBrk="1" latinLnBrk="0" hangingPunct="1">
      <a:defRPr kumimoji="1" sz="317" kern="1200">
        <a:solidFill>
          <a:schemeClr val="tx1"/>
        </a:solidFill>
        <a:latin typeface="+mn-lt"/>
        <a:ea typeface="+mn-ea"/>
        <a:cs typeface="+mn-cs"/>
      </a:defRPr>
    </a:lvl6pPr>
    <a:lvl7pPr marL="725576" algn="l" defTabSz="241859" rtl="0" eaLnBrk="1" latinLnBrk="0" hangingPunct="1">
      <a:defRPr kumimoji="1" sz="317" kern="1200">
        <a:solidFill>
          <a:schemeClr val="tx1"/>
        </a:solidFill>
        <a:latin typeface="+mn-lt"/>
        <a:ea typeface="+mn-ea"/>
        <a:cs typeface="+mn-cs"/>
      </a:defRPr>
    </a:lvl7pPr>
    <a:lvl8pPr marL="846506" algn="l" defTabSz="241859" rtl="0" eaLnBrk="1" latinLnBrk="0" hangingPunct="1">
      <a:defRPr kumimoji="1" sz="317" kern="1200">
        <a:solidFill>
          <a:schemeClr val="tx1"/>
        </a:solidFill>
        <a:latin typeface="+mn-lt"/>
        <a:ea typeface="+mn-ea"/>
        <a:cs typeface="+mn-cs"/>
      </a:defRPr>
    </a:lvl8pPr>
    <a:lvl9pPr marL="967435" algn="l" defTabSz="241859" rtl="0" eaLnBrk="1" latinLnBrk="0" hangingPunct="1">
      <a:defRPr kumimoji="1" sz="317"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386953" y="318263"/>
            <a:ext cx="2321719" cy="677040"/>
          </a:xfrm>
        </p:spPr>
        <p:txBody>
          <a:bodyPr anchor="b"/>
          <a:lstStyle>
            <a:lvl1pPr algn="ctr">
              <a:defRPr sz="1523"/>
            </a:lvl1pPr>
          </a:lstStyle>
          <a:p>
            <a:r>
              <a:rPr lang="ja-JP" altLang="en-US"/>
              <a:t>マスター タイトルの書式設定</a:t>
            </a:r>
            <a:endParaRPr lang="en-US" dirty="0"/>
          </a:p>
        </p:txBody>
      </p:sp>
      <p:sp>
        <p:nvSpPr>
          <p:cNvPr id="3" name="Subtitle 2"/>
          <p:cNvSpPr>
            <a:spLocks noGrp="1"/>
          </p:cNvSpPr>
          <p:nvPr>
            <p:ph type="subTitle" idx="1"/>
          </p:nvPr>
        </p:nvSpPr>
        <p:spPr>
          <a:xfrm>
            <a:off x="386953" y="1021411"/>
            <a:ext cx="2321719" cy="469516"/>
          </a:xfrm>
        </p:spPr>
        <p:txBody>
          <a:bodyPr/>
          <a:lstStyle>
            <a:lvl1pPr marL="0" indent="0" algn="ctr">
              <a:buNone/>
              <a:defRPr sz="609"/>
            </a:lvl1pPr>
            <a:lvl2pPr marL="116083" indent="0" algn="ctr">
              <a:buNone/>
              <a:defRPr sz="508"/>
            </a:lvl2pPr>
            <a:lvl3pPr marL="232166" indent="0" algn="ctr">
              <a:buNone/>
              <a:defRPr sz="457"/>
            </a:lvl3pPr>
            <a:lvl4pPr marL="348249" indent="0" algn="ctr">
              <a:buNone/>
              <a:defRPr sz="406"/>
            </a:lvl4pPr>
            <a:lvl5pPr marL="464332" indent="0" algn="ctr">
              <a:buNone/>
              <a:defRPr sz="406"/>
            </a:lvl5pPr>
            <a:lvl6pPr marL="580415" indent="0" algn="ctr">
              <a:buNone/>
              <a:defRPr sz="406"/>
            </a:lvl6pPr>
            <a:lvl7pPr marL="696498" indent="0" algn="ctr">
              <a:buNone/>
              <a:defRPr sz="406"/>
            </a:lvl7pPr>
            <a:lvl8pPr marL="812582" indent="0" algn="ctr">
              <a:buNone/>
              <a:defRPr sz="406"/>
            </a:lvl8pPr>
            <a:lvl9pPr marL="928665" indent="0" algn="ctr">
              <a:buNone/>
              <a:defRPr sz="406"/>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2295316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7457413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211212" y="484822"/>
            <a:ext cx="2669977" cy="808936"/>
          </a:xfrm>
        </p:spPr>
        <p:txBody>
          <a:bodyPr anchor="b"/>
          <a:lstStyle>
            <a:lvl1pPr>
              <a:defRPr sz="1523"/>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11212" y="1301411"/>
            <a:ext cx="2669977" cy="425400"/>
          </a:xfrm>
        </p:spPr>
        <p:txBody>
          <a:bodyPr/>
          <a:lstStyle>
            <a:lvl1pPr marL="0" indent="0">
              <a:buNone/>
              <a:defRPr sz="609">
                <a:solidFill>
                  <a:schemeClr val="tx1">
                    <a:tint val="82000"/>
                  </a:schemeClr>
                </a:solidFill>
              </a:defRPr>
            </a:lvl1pPr>
            <a:lvl2pPr marL="116083" indent="0">
              <a:buNone/>
              <a:defRPr sz="508">
                <a:solidFill>
                  <a:schemeClr val="tx1">
                    <a:tint val="82000"/>
                  </a:schemeClr>
                </a:solidFill>
              </a:defRPr>
            </a:lvl2pPr>
            <a:lvl3pPr marL="232166" indent="0">
              <a:buNone/>
              <a:defRPr sz="457">
                <a:solidFill>
                  <a:schemeClr val="tx1">
                    <a:tint val="82000"/>
                  </a:schemeClr>
                </a:solidFill>
              </a:defRPr>
            </a:lvl3pPr>
            <a:lvl4pPr marL="348249" indent="0">
              <a:buNone/>
              <a:defRPr sz="406">
                <a:solidFill>
                  <a:schemeClr val="tx1">
                    <a:tint val="82000"/>
                  </a:schemeClr>
                </a:solidFill>
              </a:defRPr>
            </a:lvl4pPr>
            <a:lvl5pPr marL="464332" indent="0">
              <a:buNone/>
              <a:defRPr sz="406">
                <a:solidFill>
                  <a:schemeClr val="tx1">
                    <a:tint val="82000"/>
                  </a:schemeClr>
                </a:solidFill>
              </a:defRPr>
            </a:lvl5pPr>
            <a:lvl6pPr marL="580415" indent="0">
              <a:buNone/>
              <a:defRPr sz="406">
                <a:solidFill>
                  <a:schemeClr val="tx1">
                    <a:tint val="82000"/>
                  </a:schemeClr>
                </a:solidFill>
              </a:defRPr>
            </a:lvl6pPr>
            <a:lvl7pPr marL="696498" indent="0">
              <a:buNone/>
              <a:defRPr sz="406">
                <a:solidFill>
                  <a:schemeClr val="tx1">
                    <a:tint val="82000"/>
                  </a:schemeClr>
                </a:solidFill>
              </a:defRPr>
            </a:lvl7pPr>
            <a:lvl8pPr marL="812582" indent="0">
              <a:buNone/>
              <a:defRPr sz="406">
                <a:solidFill>
                  <a:schemeClr val="tx1">
                    <a:tint val="82000"/>
                  </a:schemeClr>
                </a:solidFill>
              </a:defRPr>
            </a:lvl8pPr>
            <a:lvl9pPr marL="928665" indent="0">
              <a:buNone/>
              <a:defRPr sz="406">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7471996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212824" y="517683"/>
            <a:ext cx="1315641" cy="123388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1567160" y="517683"/>
            <a:ext cx="1315641" cy="123388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1609130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213227" y="103537"/>
            <a:ext cx="2669977" cy="37588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213228" y="476719"/>
            <a:ext cx="1309594" cy="233633"/>
          </a:xfrm>
        </p:spPr>
        <p:txBody>
          <a:bodyPr anchor="b"/>
          <a:lstStyle>
            <a:lvl1pPr marL="0" indent="0">
              <a:buNone/>
              <a:defRPr sz="609" b="1"/>
            </a:lvl1pPr>
            <a:lvl2pPr marL="116083" indent="0">
              <a:buNone/>
              <a:defRPr sz="508" b="1"/>
            </a:lvl2pPr>
            <a:lvl3pPr marL="232166" indent="0">
              <a:buNone/>
              <a:defRPr sz="457" b="1"/>
            </a:lvl3pPr>
            <a:lvl4pPr marL="348249" indent="0">
              <a:buNone/>
              <a:defRPr sz="406" b="1"/>
            </a:lvl4pPr>
            <a:lvl5pPr marL="464332" indent="0">
              <a:buNone/>
              <a:defRPr sz="406" b="1"/>
            </a:lvl5pPr>
            <a:lvl6pPr marL="580415" indent="0">
              <a:buNone/>
              <a:defRPr sz="406" b="1"/>
            </a:lvl6pPr>
            <a:lvl7pPr marL="696498" indent="0">
              <a:buNone/>
              <a:defRPr sz="406" b="1"/>
            </a:lvl7pPr>
            <a:lvl8pPr marL="812582" indent="0">
              <a:buNone/>
              <a:defRPr sz="406" b="1"/>
            </a:lvl8pPr>
            <a:lvl9pPr marL="928665" indent="0">
              <a:buNone/>
              <a:defRPr sz="406" b="1"/>
            </a:lvl9pPr>
          </a:lstStyle>
          <a:p>
            <a:pPr lvl="0"/>
            <a:r>
              <a:rPr lang="ja-JP" altLang="en-US"/>
              <a:t>マスター テキストの書式設定</a:t>
            </a:r>
          </a:p>
        </p:txBody>
      </p:sp>
      <p:sp>
        <p:nvSpPr>
          <p:cNvPr id="4" name="Content Placeholder 3"/>
          <p:cNvSpPr>
            <a:spLocks noGrp="1"/>
          </p:cNvSpPr>
          <p:nvPr>
            <p:ph sz="half" idx="2"/>
          </p:nvPr>
        </p:nvSpPr>
        <p:spPr>
          <a:xfrm>
            <a:off x="213228" y="710351"/>
            <a:ext cx="1309594" cy="10448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1567160" y="476719"/>
            <a:ext cx="1316044" cy="233633"/>
          </a:xfrm>
        </p:spPr>
        <p:txBody>
          <a:bodyPr anchor="b"/>
          <a:lstStyle>
            <a:lvl1pPr marL="0" indent="0">
              <a:buNone/>
              <a:defRPr sz="609" b="1"/>
            </a:lvl1pPr>
            <a:lvl2pPr marL="116083" indent="0">
              <a:buNone/>
              <a:defRPr sz="508" b="1"/>
            </a:lvl2pPr>
            <a:lvl3pPr marL="232166" indent="0">
              <a:buNone/>
              <a:defRPr sz="457" b="1"/>
            </a:lvl3pPr>
            <a:lvl4pPr marL="348249" indent="0">
              <a:buNone/>
              <a:defRPr sz="406" b="1"/>
            </a:lvl4pPr>
            <a:lvl5pPr marL="464332" indent="0">
              <a:buNone/>
              <a:defRPr sz="406" b="1"/>
            </a:lvl5pPr>
            <a:lvl6pPr marL="580415" indent="0">
              <a:buNone/>
              <a:defRPr sz="406" b="1"/>
            </a:lvl6pPr>
            <a:lvl7pPr marL="696498" indent="0">
              <a:buNone/>
              <a:defRPr sz="406" b="1"/>
            </a:lvl7pPr>
            <a:lvl8pPr marL="812582" indent="0">
              <a:buNone/>
              <a:defRPr sz="406" b="1"/>
            </a:lvl8pPr>
            <a:lvl9pPr marL="928665" indent="0">
              <a:buNone/>
              <a:defRPr sz="406" b="1"/>
            </a:lvl9pPr>
          </a:lstStyle>
          <a:p>
            <a:pPr lvl="0"/>
            <a:r>
              <a:rPr lang="ja-JP" altLang="en-US"/>
              <a:t>マスター テキストの書式設定</a:t>
            </a:r>
          </a:p>
        </p:txBody>
      </p:sp>
      <p:sp>
        <p:nvSpPr>
          <p:cNvPr id="6" name="Content Placeholder 5"/>
          <p:cNvSpPr>
            <a:spLocks noGrp="1"/>
          </p:cNvSpPr>
          <p:nvPr>
            <p:ph sz="quarter" idx="4"/>
          </p:nvPr>
        </p:nvSpPr>
        <p:spPr>
          <a:xfrm>
            <a:off x="1567160" y="710351"/>
            <a:ext cx="1316044" cy="10448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1926131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721844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4178622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13227" y="129646"/>
            <a:ext cx="998420" cy="453761"/>
          </a:xfrm>
        </p:spPr>
        <p:txBody>
          <a:bodyPr anchor="b"/>
          <a:lstStyle>
            <a:lvl1pPr>
              <a:defRPr sz="812"/>
            </a:lvl1pPr>
          </a:lstStyle>
          <a:p>
            <a:r>
              <a:rPr lang="ja-JP" altLang="en-US"/>
              <a:t>マスター タイトルの書式設定</a:t>
            </a:r>
            <a:endParaRPr lang="en-US" dirty="0"/>
          </a:p>
        </p:txBody>
      </p:sp>
      <p:sp>
        <p:nvSpPr>
          <p:cNvPr id="3" name="Content Placeholder 2"/>
          <p:cNvSpPr>
            <a:spLocks noGrp="1"/>
          </p:cNvSpPr>
          <p:nvPr>
            <p:ph idx="1"/>
          </p:nvPr>
        </p:nvSpPr>
        <p:spPr>
          <a:xfrm>
            <a:off x="1316044" y="279999"/>
            <a:ext cx="1567160" cy="1381989"/>
          </a:xfrm>
        </p:spPr>
        <p:txBody>
          <a:bodyPr/>
          <a:lstStyle>
            <a:lvl1pPr>
              <a:defRPr sz="812"/>
            </a:lvl1pPr>
            <a:lvl2pPr>
              <a:defRPr sz="711"/>
            </a:lvl2pPr>
            <a:lvl3pPr>
              <a:defRPr sz="609"/>
            </a:lvl3pPr>
            <a:lvl4pPr>
              <a:defRPr sz="508"/>
            </a:lvl4pPr>
            <a:lvl5pPr>
              <a:defRPr sz="508"/>
            </a:lvl5pPr>
            <a:lvl6pPr>
              <a:defRPr sz="508"/>
            </a:lvl6pPr>
            <a:lvl7pPr>
              <a:defRPr sz="508"/>
            </a:lvl7pPr>
            <a:lvl8pPr>
              <a:defRPr sz="508"/>
            </a:lvl8pPr>
            <a:lvl9pPr>
              <a:defRPr sz="508"/>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213227" y="583406"/>
            <a:ext cx="998420" cy="1080833"/>
          </a:xfrm>
        </p:spPr>
        <p:txBody>
          <a:bodyPr/>
          <a:lstStyle>
            <a:lvl1pPr marL="0" indent="0">
              <a:buNone/>
              <a:defRPr sz="406"/>
            </a:lvl1pPr>
            <a:lvl2pPr marL="116083" indent="0">
              <a:buNone/>
              <a:defRPr sz="355"/>
            </a:lvl2pPr>
            <a:lvl3pPr marL="232166" indent="0">
              <a:buNone/>
              <a:defRPr sz="305"/>
            </a:lvl3pPr>
            <a:lvl4pPr marL="348249" indent="0">
              <a:buNone/>
              <a:defRPr sz="254"/>
            </a:lvl4pPr>
            <a:lvl5pPr marL="464332" indent="0">
              <a:buNone/>
              <a:defRPr sz="254"/>
            </a:lvl5pPr>
            <a:lvl6pPr marL="580415" indent="0">
              <a:buNone/>
              <a:defRPr sz="254"/>
            </a:lvl6pPr>
            <a:lvl7pPr marL="696498" indent="0">
              <a:buNone/>
              <a:defRPr sz="254"/>
            </a:lvl7pPr>
            <a:lvl8pPr marL="812582" indent="0">
              <a:buNone/>
              <a:defRPr sz="254"/>
            </a:lvl8pPr>
            <a:lvl9pPr marL="928665" indent="0">
              <a:buNone/>
              <a:defRPr sz="254"/>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26610368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213227" y="129646"/>
            <a:ext cx="998420" cy="453761"/>
          </a:xfrm>
        </p:spPr>
        <p:txBody>
          <a:bodyPr anchor="b"/>
          <a:lstStyle>
            <a:lvl1pPr>
              <a:defRPr sz="812"/>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1316044" y="279999"/>
            <a:ext cx="1567160" cy="1381989"/>
          </a:xfrm>
        </p:spPr>
        <p:txBody>
          <a:bodyPr anchor="t"/>
          <a:lstStyle>
            <a:lvl1pPr marL="0" indent="0">
              <a:buNone/>
              <a:defRPr sz="812"/>
            </a:lvl1pPr>
            <a:lvl2pPr marL="116083" indent="0">
              <a:buNone/>
              <a:defRPr sz="711"/>
            </a:lvl2pPr>
            <a:lvl3pPr marL="232166" indent="0">
              <a:buNone/>
              <a:defRPr sz="609"/>
            </a:lvl3pPr>
            <a:lvl4pPr marL="348249" indent="0">
              <a:buNone/>
              <a:defRPr sz="508"/>
            </a:lvl4pPr>
            <a:lvl5pPr marL="464332" indent="0">
              <a:buNone/>
              <a:defRPr sz="508"/>
            </a:lvl5pPr>
            <a:lvl6pPr marL="580415" indent="0">
              <a:buNone/>
              <a:defRPr sz="508"/>
            </a:lvl6pPr>
            <a:lvl7pPr marL="696498" indent="0">
              <a:buNone/>
              <a:defRPr sz="508"/>
            </a:lvl7pPr>
            <a:lvl8pPr marL="812582" indent="0">
              <a:buNone/>
              <a:defRPr sz="508"/>
            </a:lvl8pPr>
            <a:lvl9pPr marL="928665" indent="0">
              <a:buNone/>
              <a:defRPr sz="508"/>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213227" y="583406"/>
            <a:ext cx="998420" cy="1080833"/>
          </a:xfrm>
        </p:spPr>
        <p:txBody>
          <a:bodyPr/>
          <a:lstStyle>
            <a:lvl1pPr marL="0" indent="0">
              <a:buNone/>
              <a:defRPr sz="406"/>
            </a:lvl1pPr>
            <a:lvl2pPr marL="116083" indent="0">
              <a:buNone/>
              <a:defRPr sz="355"/>
            </a:lvl2pPr>
            <a:lvl3pPr marL="232166" indent="0">
              <a:buNone/>
              <a:defRPr sz="305"/>
            </a:lvl3pPr>
            <a:lvl4pPr marL="348249" indent="0">
              <a:buNone/>
              <a:defRPr sz="254"/>
            </a:lvl4pPr>
            <a:lvl5pPr marL="464332" indent="0">
              <a:buNone/>
              <a:defRPr sz="254"/>
            </a:lvl5pPr>
            <a:lvl6pPr marL="580415" indent="0">
              <a:buNone/>
              <a:defRPr sz="254"/>
            </a:lvl6pPr>
            <a:lvl7pPr marL="696498" indent="0">
              <a:buNone/>
              <a:defRPr sz="254"/>
            </a:lvl7pPr>
            <a:lvl8pPr marL="812582" indent="0">
              <a:buNone/>
              <a:defRPr sz="254"/>
            </a:lvl8pPr>
            <a:lvl9pPr marL="928665" indent="0">
              <a:buNone/>
              <a:defRPr sz="254"/>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36277616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4043069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215307" y="103537"/>
            <a:ext cx="667494" cy="1648033"/>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212824" y="103537"/>
            <a:ext cx="1963787" cy="1648033"/>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2026/3/12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10412441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2824" y="103537"/>
            <a:ext cx="2669977" cy="37588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212824" y="517683"/>
            <a:ext cx="2669977" cy="1233887"/>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12824" y="1802438"/>
            <a:ext cx="696516" cy="103537"/>
          </a:xfrm>
          <a:prstGeom prst="rect">
            <a:avLst/>
          </a:prstGeom>
        </p:spPr>
        <p:txBody>
          <a:bodyPr vert="horz" lIns="91440" tIns="45720" rIns="91440" bIns="45720" rtlCol="0" anchor="ctr"/>
          <a:lstStyle>
            <a:lvl1pPr algn="l">
              <a:defRPr sz="305">
                <a:solidFill>
                  <a:schemeClr val="tx1">
                    <a:tint val="82000"/>
                  </a:schemeClr>
                </a:solidFill>
              </a:defRPr>
            </a:lvl1pPr>
          </a:lstStyle>
          <a:p>
            <a:fld id="{EDC943AC-2B44-49B1-8BF7-A9628131A8B9}" type="datetimeFigureOut">
              <a:rPr kumimoji="1" lang="ja-JP" altLang="en-US" smtClean="0"/>
              <a:t>2026/3/12</a:t>
            </a:fld>
            <a:endParaRPr kumimoji="1" lang="ja-JP" altLang="en-US"/>
          </a:p>
        </p:txBody>
      </p:sp>
      <p:sp>
        <p:nvSpPr>
          <p:cNvPr id="5" name="Footer Placeholder 4"/>
          <p:cNvSpPr>
            <a:spLocks noGrp="1"/>
          </p:cNvSpPr>
          <p:nvPr>
            <p:ph type="ftr" sz="quarter" idx="3"/>
          </p:nvPr>
        </p:nvSpPr>
        <p:spPr>
          <a:xfrm>
            <a:off x="1025426" y="1802438"/>
            <a:ext cx="1044773" cy="103537"/>
          </a:xfrm>
          <a:prstGeom prst="rect">
            <a:avLst/>
          </a:prstGeom>
        </p:spPr>
        <p:txBody>
          <a:bodyPr vert="horz" lIns="91440" tIns="45720" rIns="91440" bIns="45720" rtlCol="0" anchor="ctr"/>
          <a:lstStyle>
            <a:lvl1pPr algn="ctr">
              <a:defRPr sz="305">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2186285" y="1802438"/>
            <a:ext cx="696516" cy="103537"/>
          </a:xfrm>
          <a:prstGeom prst="rect">
            <a:avLst/>
          </a:prstGeom>
        </p:spPr>
        <p:txBody>
          <a:bodyPr vert="horz" lIns="91440" tIns="45720" rIns="91440" bIns="45720" rtlCol="0" anchor="ctr"/>
          <a:lstStyle>
            <a:lvl1pPr algn="r">
              <a:defRPr sz="305">
                <a:solidFill>
                  <a:schemeClr val="tx1">
                    <a:tint val="82000"/>
                  </a:schemeClr>
                </a:solidFill>
              </a:defRPr>
            </a:lvl1p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8437015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32166" rtl="0" eaLnBrk="1" latinLnBrk="0" hangingPunct="1">
        <a:lnSpc>
          <a:spcPct val="90000"/>
        </a:lnSpc>
        <a:spcBef>
          <a:spcPct val="0"/>
        </a:spcBef>
        <a:buNone/>
        <a:defRPr kumimoji="1" sz="1117" kern="1200">
          <a:solidFill>
            <a:schemeClr val="tx1"/>
          </a:solidFill>
          <a:latin typeface="+mj-lt"/>
          <a:ea typeface="+mj-ea"/>
          <a:cs typeface="+mj-cs"/>
        </a:defRPr>
      </a:lvl1pPr>
    </p:titleStyle>
    <p:bodyStyle>
      <a:lvl1pPr marL="58042" indent="-58042" algn="l" defTabSz="232166" rtl="0" eaLnBrk="1" latinLnBrk="0" hangingPunct="1">
        <a:lnSpc>
          <a:spcPct val="90000"/>
        </a:lnSpc>
        <a:spcBef>
          <a:spcPts val="254"/>
        </a:spcBef>
        <a:buFont typeface="Arial" panose="020B0604020202020204" pitchFamily="34" charset="0"/>
        <a:buChar char="•"/>
        <a:defRPr kumimoji="1" sz="711" kern="1200">
          <a:solidFill>
            <a:schemeClr val="tx1"/>
          </a:solidFill>
          <a:latin typeface="+mn-lt"/>
          <a:ea typeface="+mn-ea"/>
          <a:cs typeface="+mn-cs"/>
        </a:defRPr>
      </a:lvl1pPr>
      <a:lvl2pPr marL="174125" indent="-58042" algn="l" defTabSz="232166" rtl="0" eaLnBrk="1" latinLnBrk="0" hangingPunct="1">
        <a:lnSpc>
          <a:spcPct val="90000"/>
        </a:lnSpc>
        <a:spcBef>
          <a:spcPts val="127"/>
        </a:spcBef>
        <a:buFont typeface="Arial" panose="020B0604020202020204" pitchFamily="34" charset="0"/>
        <a:buChar char="•"/>
        <a:defRPr kumimoji="1" sz="609" kern="1200">
          <a:solidFill>
            <a:schemeClr val="tx1"/>
          </a:solidFill>
          <a:latin typeface="+mn-lt"/>
          <a:ea typeface="+mn-ea"/>
          <a:cs typeface="+mn-cs"/>
        </a:defRPr>
      </a:lvl2pPr>
      <a:lvl3pPr marL="290208" indent="-58042" algn="l" defTabSz="232166" rtl="0" eaLnBrk="1" latinLnBrk="0" hangingPunct="1">
        <a:lnSpc>
          <a:spcPct val="90000"/>
        </a:lnSpc>
        <a:spcBef>
          <a:spcPts val="127"/>
        </a:spcBef>
        <a:buFont typeface="Arial" panose="020B0604020202020204" pitchFamily="34" charset="0"/>
        <a:buChar char="•"/>
        <a:defRPr kumimoji="1" sz="508" kern="1200">
          <a:solidFill>
            <a:schemeClr val="tx1"/>
          </a:solidFill>
          <a:latin typeface="+mn-lt"/>
          <a:ea typeface="+mn-ea"/>
          <a:cs typeface="+mn-cs"/>
        </a:defRPr>
      </a:lvl3pPr>
      <a:lvl4pPr marL="406291"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4pPr>
      <a:lvl5pPr marL="522374"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5pPr>
      <a:lvl6pPr marL="638457"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6pPr>
      <a:lvl7pPr marL="754540"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7pPr>
      <a:lvl8pPr marL="870623"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8pPr>
      <a:lvl9pPr marL="986706"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9pPr>
    </p:bodyStyle>
    <p:otherStyle>
      <a:defPPr>
        <a:defRPr lang="en-US"/>
      </a:defPPr>
      <a:lvl1pPr marL="0" algn="l" defTabSz="232166" rtl="0" eaLnBrk="1" latinLnBrk="0" hangingPunct="1">
        <a:defRPr kumimoji="1" sz="457" kern="1200">
          <a:solidFill>
            <a:schemeClr val="tx1"/>
          </a:solidFill>
          <a:latin typeface="+mn-lt"/>
          <a:ea typeface="+mn-ea"/>
          <a:cs typeface="+mn-cs"/>
        </a:defRPr>
      </a:lvl1pPr>
      <a:lvl2pPr marL="116083" algn="l" defTabSz="232166" rtl="0" eaLnBrk="1" latinLnBrk="0" hangingPunct="1">
        <a:defRPr kumimoji="1" sz="457" kern="1200">
          <a:solidFill>
            <a:schemeClr val="tx1"/>
          </a:solidFill>
          <a:latin typeface="+mn-lt"/>
          <a:ea typeface="+mn-ea"/>
          <a:cs typeface="+mn-cs"/>
        </a:defRPr>
      </a:lvl2pPr>
      <a:lvl3pPr marL="232166" algn="l" defTabSz="232166" rtl="0" eaLnBrk="1" latinLnBrk="0" hangingPunct="1">
        <a:defRPr kumimoji="1" sz="457" kern="1200">
          <a:solidFill>
            <a:schemeClr val="tx1"/>
          </a:solidFill>
          <a:latin typeface="+mn-lt"/>
          <a:ea typeface="+mn-ea"/>
          <a:cs typeface="+mn-cs"/>
        </a:defRPr>
      </a:lvl3pPr>
      <a:lvl4pPr marL="348249" algn="l" defTabSz="232166" rtl="0" eaLnBrk="1" latinLnBrk="0" hangingPunct="1">
        <a:defRPr kumimoji="1" sz="457" kern="1200">
          <a:solidFill>
            <a:schemeClr val="tx1"/>
          </a:solidFill>
          <a:latin typeface="+mn-lt"/>
          <a:ea typeface="+mn-ea"/>
          <a:cs typeface="+mn-cs"/>
        </a:defRPr>
      </a:lvl4pPr>
      <a:lvl5pPr marL="464332" algn="l" defTabSz="232166" rtl="0" eaLnBrk="1" latinLnBrk="0" hangingPunct="1">
        <a:defRPr kumimoji="1" sz="457" kern="1200">
          <a:solidFill>
            <a:schemeClr val="tx1"/>
          </a:solidFill>
          <a:latin typeface="+mn-lt"/>
          <a:ea typeface="+mn-ea"/>
          <a:cs typeface="+mn-cs"/>
        </a:defRPr>
      </a:lvl5pPr>
      <a:lvl6pPr marL="580415" algn="l" defTabSz="232166" rtl="0" eaLnBrk="1" latinLnBrk="0" hangingPunct="1">
        <a:defRPr kumimoji="1" sz="457" kern="1200">
          <a:solidFill>
            <a:schemeClr val="tx1"/>
          </a:solidFill>
          <a:latin typeface="+mn-lt"/>
          <a:ea typeface="+mn-ea"/>
          <a:cs typeface="+mn-cs"/>
        </a:defRPr>
      </a:lvl6pPr>
      <a:lvl7pPr marL="696498" algn="l" defTabSz="232166" rtl="0" eaLnBrk="1" latinLnBrk="0" hangingPunct="1">
        <a:defRPr kumimoji="1" sz="457" kern="1200">
          <a:solidFill>
            <a:schemeClr val="tx1"/>
          </a:solidFill>
          <a:latin typeface="+mn-lt"/>
          <a:ea typeface="+mn-ea"/>
          <a:cs typeface="+mn-cs"/>
        </a:defRPr>
      </a:lvl7pPr>
      <a:lvl8pPr marL="812582" algn="l" defTabSz="232166" rtl="0" eaLnBrk="1" latinLnBrk="0" hangingPunct="1">
        <a:defRPr kumimoji="1" sz="457" kern="1200">
          <a:solidFill>
            <a:schemeClr val="tx1"/>
          </a:solidFill>
          <a:latin typeface="+mn-lt"/>
          <a:ea typeface="+mn-ea"/>
          <a:cs typeface="+mn-cs"/>
        </a:defRPr>
      </a:lvl8pPr>
      <a:lvl9pPr marL="928665" algn="l" defTabSz="232166" rtl="0" eaLnBrk="1" latinLnBrk="0" hangingPunct="1">
        <a:defRPr kumimoji="1" sz="45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5.jp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jp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9C9B33-702A-D020-4CDC-49449C17DF31}"/>
              </a:ext>
            </a:extLst>
          </p:cNvPr>
          <p:cNvSpPr>
            <a:spLocks noGrp="1"/>
          </p:cNvSpPr>
          <p:nvPr>
            <p:ph type="title"/>
          </p:nvPr>
        </p:nvSpPr>
        <p:spPr/>
        <p:txBody>
          <a:bodyPr/>
          <a:lstStyle/>
          <a:p>
            <a:r>
              <a:rPr kumimoji="1" lang="ja-JP" altLang="en-US" dirty="0"/>
              <a:t>デザイン案一覧</a:t>
            </a:r>
          </a:p>
        </p:txBody>
      </p:sp>
      <p:sp>
        <p:nvSpPr>
          <p:cNvPr id="3" name="コンテンツ プレースホルダー 2">
            <a:extLst>
              <a:ext uri="{FF2B5EF4-FFF2-40B4-BE49-F238E27FC236}">
                <a16:creationId xmlns:a16="http://schemas.microsoft.com/office/drawing/2014/main" id="{9D292EDD-C313-2C70-0484-191FB11E24D9}"/>
              </a:ext>
            </a:extLst>
          </p:cNvPr>
          <p:cNvSpPr>
            <a:spLocks noGrp="1"/>
          </p:cNvSpPr>
          <p:nvPr>
            <p:ph idx="1"/>
          </p:nvPr>
        </p:nvSpPr>
        <p:spPr>
          <a:xfrm>
            <a:off x="212824" y="517683"/>
            <a:ext cx="2781201" cy="1233887"/>
          </a:xfrm>
        </p:spPr>
        <p:txBody>
          <a:bodyPr/>
          <a:lstStyle/>
          <a:p>
            <a:endParaRPr lang="en-US" altLang="ja-JP" dirty="0"/>
          </a:p>
          <a:p>
            <a:r>
              <a:rPr kumimoji="1" lang="ja-JP" altLang="en-US" dirty="0"/>
              <a:t>自由なスペース　：</a:t>
            </a:r>
            <a:endParaRPr kumimoji="1" lang="en-US" altLang="ja-JP" dirty="0"/>
          </a:p>
          <a:p>
            <a:endParaRPr lang="en-US" altLang="ja-JP" dirty="0"/>
          </a:p>
          <a:p>
            <a:r>
              <a:rPr lang="ja-JP" altLang="en-US" dirty="0"/>
              <a:t>現在のシステムでは、事前に商品を登録して商品棚に並べて置くような状況は想定できていないが、いずれ対応可能と考える</a:t>
            </a:r>
            <a:endParaRPr lang="en-US" altLang="ja-JP" dirty="0"/>
          </a:p>
          <a:p>
            <a:r>
              <a:rPr lang="en-US" altLang="ja-JP" dirty="0"/>
              <a:t>PIN</a:t>
            </a:r>
            <a:r>
              <a:rPr lang="ja-JP" altLang="en-US" dirty="0"/>
              <a:t>コードはパスワード扱いのため、店内のお客さんの手が届く場所にカードを置く場合は、会計時に手動で</a:t>
            </a:r>
            <a:r>
              <a:rPr lang="en-US" altLang="ja-JP" dirty="0"/>
              <a:t>PIN</a:t>
            </a:r>
            <a:r>
              <a:rPr lang="ja-JP" altLang="en-US" dirty="0"/>
              <a:t>を設定する、</a:t>
            </a:r>
            <a:r>
              <a:rPr lang="en-US" altLang="ja-JP" dirty="0"/>
              <a:t>PIN</a:t>
            </a:r>
            <a:r>
              <a:rPr lang="ja-JP" altLang="en-US" dirty="0"/>
              <a:t>の部分をラッピング用台紙で隠すなどが必要になる</a:t>
            </a:r>
            <a:endParaRPr kumimoji="1" lang="ja-JP" altLang="en-US" dirty="0"/>
          </a:p>
        </p:txBody>
      </p:sp>
      <p:sp>
        <p:nvSpPr>
          <p:cNvPr id="5" name="四角形: 角を丸くする 4">
            <a:extLst>
              <a:ext uri="{FF2B5EF4-FFF2-40B4-BE49-F238E27FC236}">
                <a16:creationId xmlns:a16="http://schemas.microsoft.com/office/drawing/2014/main" id="{4CD963D3-2290-EE22-BAC4-455EC08F33E4}"/>
              </a:ext>
            </a:extLst>
          </p:cNvPr>
          <p:cNvSpPr/>
          <p:nvPr/>
        </p:nvSpPr>
        <p:spPr>
          <a:xfrm>
            <a:off x="1173126" y="657368"/>
            <a:ext cx="276261" cy="178451"/>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6929925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8C9C43-5DC7-31C2-A994-763C055AB616}"/>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65FA504F-09CA-E162-0C42-EA9EFC50E167}"/>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1216084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a:extLst>
            <a:ext uri="{FF2B5EF4-FFF2-40B4-BE49-F238E27FC236}">
              <a16:creationId xmlns:a16="http://schemas.microsoft.com/office/drawing/2014/main" id="{1EB3B9B9-DCCB-7AEE-164A-D58F8E76D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A4FC245-C416-9517-285F-BCE6A929BA9F}"/>
              </a:ext>
            </a:extLst>
          </p:cNvPr>
          <p:cNvSpPr>
            <a:spLocks noGrp="1"/>
          </p:cNvSpPr>
          <p:nvPr>
            <p:ph type="title"/>
          </p:nvPr>
        </p:nvSpPr>
        <p:spPr/>
        <p:txBody>
          <a:bodyPr>
            <a:normAutofit/>
          </a:bodyPr>
          <a:lstStyle/>
          <a:p>
            <a:r>
              <a:rPr kumimoji="1" lang="en-US" altLang="ja-JP" sz="2000" dirty="0"/>
              <a:t>A.</a:t>
            </a:r>
            <a:r>
              <a:rPr kumimoji="1" lang="ja-JP" altLang="en-US" dirty="0"/>
              <a:t>特定の商品用，カード単体</a:t>
            </a:r>
          </a:p>
        </p:txBody>
      </p:sp>
      <p:sp>
        <p:nvSpPr>
          <p:cNvPr id="3" name="コンテンツ プレースホルダー 2">
            <a:extLst>
              <a:ext uri="{FF2B5EF4-FFF2-40B4-BE49-F238E27FC236}">
                <a16:creationId xmlns:a16="http://schemas.microsoft.com/office/drawing/2014/main" id="{6C942CE4-9518-9B88-2F48-22C7CCD64053}"/>
              </a:ext>
            </a:extLst>
          </p:cNvPr>
          <p:cNvSpPr>
            <a:spLocks noGrp="1"/>
          </p:cNvSpPr>
          <p:nvPr>
            <p:ph idx="1"/>
          </p:nvPr>
        </p:nvSpPr>
        <p:spPr/>
        <p:txBody>
          <a:bodyPr/>
          <a:lstStyle/>
          <a:p>
            <a:r>
              <a:rPr kumimoji="1" lang="ja-JP" altLang="en-US" dirty="0"/>
              <a:t>金券に必要な情報あり</a:t>
            </a:r>
            <a:endParaRPr kumimoji="1" lang="en-US" altLang="ja-JP" dirty="0"/>
          </a:p>
        </p:txBody>
      </p:sp>
    </p:spTree>
    <p:extLst>
      <p:ext uri="{BB962C8B-B14F-4D97-AF65-F5344CB8AC3E}">
        <p14:creationId xmlns:p14="http://schemas.microsoft.com/office/powerpoint/2010/main" val="2821491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3F27CB-1AE0-6DD4-424A-B9D0A0106A4F}"/>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83118053-D8C1-F865-BE71-0375D8AE9831}"/>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065961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F9F62B3F-A404-CFEA-E6FF-3831B87474EC}"/>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F108EF66-5633-7046-0E2E-125F15452F8D}"/>
              </a:ext>
            </a:extLst>
          </p:cNvPr>
          <p:cNvGrpSpPr/>
          <p:nvPr/>
        </p:nvGrpSpPr>
        <p:grpSpPr>
          <a:xfrm>
            <a:off x="311866" y="141225"/>
            <a:ext cx="1329789" cy="1662236"/>
            <a:chOff x="324896" y="199586"/>
            <a:chExt cx="1294896" cy="1618620"/>
          </a:xfrm>
        </p:grpSpPr>
        <p:sp>
          <p:nvSpPr>
            <p:cNvPr id="14" name="四角形: 角を丸くする 13">
              <a:extLst>
                <a:ext uri="{FF2B5EF4-FFF2-40B4-BE49-F238E27FC236}">
                  <a16:creationId xmlns:a16="http://schemas.microsoft.com/office/drawing/2014/main" id="{E0B2B637-EEDD-E07E-4CFD-F544DBD6FC22}"/>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29C75C1C-C006-B21B-10AC-9074F1785E28}"/>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grpSp>
        <p:nvGrpSpPr>
          <p:cNvPr id="27" name="グループ化 26">
            <a:extLst>
              <a:ext uri="{FF2B5EF4-FFF2-40B4-BE49-F238E27FC236}">
                <a16:creationId xmlns:a16="http://schemas.microsoft.com/office/drawing/2014/main" id="{4D6CF419-9905-400A-ABBD-D37DCC5F0B6A}"/>
              </a:ext>
            </a:extLst>
          </p:cNvPr>
          <p:cNvGrpSpPr/>
          <p:nvPr/>
        </p:nvGrpSpPr>
        <p:grpSpPr>
          <a:xfrm>
            <a:off x="1953527" y="739997"/>
            <a:ext cx="1008000" cy="1008000"/>
            <a:chOff x="1007265" y="2577396"/>
            <a:chExt cx="962823" cy="928507"/>
          </a:xfrm>
        </p:grpSpPr>
        <p:sp>
          <p:nvSpPr>
            <p:cNvPr id="18" name="四角形: 角を丸くする 17">
              <a:extLst>
                <a:ext uri="{FF2B5EF4-FFF2-40B4-BE49-F238E27FC236}">
                  <a16:creationId xmlns:a16="http://schemas.microsoft.com/office/drawing/2014/main" id="{81301E57-D456-482D-643C-692F2352B9BD}"/>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図 23" descr="QR コード&#10;&#10;AI 生成コンテンツは誤りを含む可能性があります。">
              <a:extLst>
                <a:ext uri="{FF2B5EF4-FFF2-40B4-BE49-F238E27FC236}">
                  <a16:creationId xmlns:a16="http://schemas.microsoft.com/office/drawing/2014/main" id="{DA1FF810-C8DE-F324-9CD7-EA3981AC46BB}"/>
                </a:ext>
              </a:extLst>
            </p:cNvPr>
            <p:cNvPicPr>
              <a:picLocks noChangeAspect="1"/>
            </p:cNvPicPr>
            <p:nvPr/>
          </p:nvPicPr>
          <p:blipFill>
            <a:blip r:embed="rId5"/>
            <a:stretch>
              <a:fillRect/>
            </a:stretch>
          </p:blipFill>
          <p:spPr>
            <a:xfrm>
              <a:off x="1042659" y="2598008"/>
              <a:ext cx="883492" cy="878787"/>
            </a:xfrm>
            <a:prstGeom prst="rect">
              <a:avLst/>
            </a:prstGeom>
          </p:spPr>
        </p:pic>
      </p:grpSp>
      <p:sp>
        <p:nvSpPr>
          <p:cNvPr id="29" name="四角形: 角を丸くする 28">
            <a:extLst>
              <a:ext uri="{FF2B5EF4-FFF2-40B4-BE49-F238E27FC236}">
                <a16:creationId xmlns:a16="http://schemas.microsoft.com/office/drawing/2014/main" id="{922DD23E-2774-0582-01B6-1C2C7519BB00}"/>
              </a:ext>
            </a:extLst>
          </p:cNvPr>
          <p:cNvSpPr/>
          <p:nvPr/>
        </p:nvSpPr>
        <p:spPr>
          <a:xfrm>
            <a:off x="2114641" y="1747997"/>
            <a:ext cx="676828" cy="1210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69880384-A5D4-A336-C649-89310BD0FF28}"/>
              </a:ext>
            </a:extLst>
          </p:cNvPr>
          <p:cNvSpPr/>
          <p:nvPr/>
        </p:nvSpPr>
        <p:spPr>
          <a:xfrm>
            <a:off x="1977883" y="141225"/>
            <a:ext cx="924946"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DCA205C6-EA5C-CB1F-8758-A27B6C28E343}"/>
              </a:ext>
            </a:extLst>
          </p:cNvPr>
          <p:cNvSpPr/>
          <p:nvPr/>
        </p:nvSpPr>
        <p:spPr>
          <a:xfrm>
            <a:off x="2037626" y="381464"/>
            <a:ext cx="805455" cy="2715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枚入り</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3504565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E0528EEC-C986-9A69-A543-1986F56D3FDF}"/>
              </a:ext>
            </a:extLst>
          </p:cNvPr>
          <p:cNvSpPr/>
          <p:nvPr/>
        </p:nvSpPr>
        <p:spPr>
          <a:xfrm>
            <a:off x="57150" y="621170"/>
            <a:ext cx="2990852" cy="76734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3BA41058-E053-247C-A6E7-097D13677145}"/>
              </a:ext>
            </a:extLst>
          </p:cNvPr>
          <p:cNvSpPr/>
          <p:nvPr/>
        </p:nvSpPr>
        <p:spPr>
          <a:xfrm>
            <a:off x="170287" y="738274"/>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2CD2E87-CDFD-66D6-A87B-1D02F44F6960}"/>
              </a:ext>
            </a:extLst>
          </p:cNvPr>
          <p:cNvSpPr/>
          <p:nvPr/>
        </p:nvSpPr>
        <p:spPr>
          <a:xfrm>
            <a:off x="945357" y="1487506"/>
            <a:ext cx="2102644" cy="37642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発行者　：秋田大学イノベーションアンドコンサルティング</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010−8502</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秋⽥市手形学園町</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1−1</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info@auic.or.jp</a:t>
            </a:r>
          </a:p>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有効期限：表紙</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QR</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コードを参照</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最大発行後</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1</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年</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t>
            </a:r>
          </a:p>
        </p:txBody>
      </p:sp>
      <p:grpSp>
        <p:nvGrpSpPr>
          <p:cNvPr id="13" name="グループ化 12">
            <a:extLst>
              <a:ext uri="{FF2B5EF4-FFF2-40B4-BE49-F238E27FC236}">
                <a16:creationId xmlns:a16="http://schemas.microsoft.com/office/drawing/2014/main" id="{AB34BDA7-2830-7C49-4F5B-6A233C7B047B}"/>
              </a:ext>
            </a:extLst>
          </p:cNvPr>
          <p:cNvGrpSpPr/>
          <p:nvPr/>
        </p:nvGrpSpPr>
        <p:grpSpPr>
          <a:xfrm>
            <a:off x="170288" y="809615"/>
            <a:ext cx="2720550" cy="390450"/>
            <a:chOff x="425450" y="774699"/>
            <a:chExt cx="2996650" cy="390450"/>
          </a:xfrm>
        </p:grpSpPr>
        <p:sp>
          <p:nvSpPr>
            <p:cNvPr id="10" name="四角形: 角を丸くする 9">
              <a:extLst>
                <a:ext uri="{FF2B5EF4-FFF2-40B4-BE49-F238E27FC236}">
                  <a16:creationId xmlns:a16="http://schemas.microsoft.com/office/drawing/2014/main" id="{4D332D25-A235-FE87-2637-1B077B57148F}"/>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38C30C3B-2AA8-B69B-8BFA-0D0AE9EF76AE}"/>
                </a:ext>
              </a:extLst>
            </p:cNvPr>
            <p:cNvSpPr/>
            <p:nvPr/>
          </p:nvSpPr>
          <p:spPr>
            <a:xfrm>
              <a:off x="1385933" y="874669"/>
              <a:ext cx="1460872"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3EC024ED-D251-00C1-F8EB-0E38313948B1}"/>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8" name="テキスト ボックス 7">
            <a:extLst>
              <a:ext uri="{FF2B5EF4-FFF2-40B4-BE49-F238E27FC236}">
                <a16:creationId xmlns:a16="http://schemas.microsoft.com/office/drawing/2014/main" id="{F4F80330-A7BC-5DCC-3526-C44416EC8457}"/>
              </a:ext>
            </a:extLst>
          </p:cNvPr>
          <p:cNvSpPr txBox="1"/>
          <p:nvPr/>
        </p:nvSpPr>
        <p:spPr>
          <a:xfrm>
            <a:off x="158750" y="107712"/>
            <a:ext cx="2819401" cy="477054"/>
          </a:xfrm>
          <a:prstGeom prst="rect">
            <a:avLst/>
          </a:prstGeom>
          <a:noFill/>
          <a:effectLst>
            <a:softEdge rad="25400"/>
          </a:effectLst>
        </p:spPr>
        <p:txBody>
          <a:bodyPr wrap="square">
            <a:spAutoFit/>
          </a:bodyPr>
          <a:lstStyle/>
          <a:p>
            <a:pPr algn="ctr"/>
            <a:r>
              <a:rPr lang="ja-JP" altLang="en-US" sz="900" b="1" dirty="0">
                <a:latin typeface="UD デジタル 教科書体 NP-R" panose="02020400000000000000" pitchFamily="18" charset="-128"/>
                <a:ea typeface="UD デジタル 教科書体 NP-R" panose="02020400000000000000" pitchFamily="18" charset="-128"/>
              </a:rPr>
              <a:t> </a:t>
            </a:r>
            <a:r>
              <a:rPr lang="en-US" altLang="ja-JP" sz="900" b="1" dirty="0">
                <a:latin typeface="UD デジタル 教科書体 NP-R" panose="02020400000000000000" pitchFamily="18" charset="-128"/>
                <a:ea typeface="UD デジタル 教科書体 NP-R" panose="02020400000000000000" pitchFamily="18" charset="-128"/>
              </a:rPr>
              <a:t>“</a:t>
            </a:r>
            <a:r>
              <a:rPr lang="ja-JP" altLang="en-US" sz="800" b="1" dirty="0">
                <a:latin typeface="UD デジタル 教科書体 NP-R" panose="02020400000000000000" pitchFamily="18" charset="-128"/>
                <a:ea typeface="UD デジタル 教科書体 NP-R" panose="02020400000000000000" pitchFamily="18" charset="-128"/>
              </a:rPr>
              <a:t>名刺代わりに。</a:t>
            </a:r>
            <a:r>
              <a:rPr lang="en-US" altLang="ja-JP" sz="800" b="1" dirty="0">
                <a:latin typeface="UD デジタル 教科書体 NP-R" panose="02020400000000000000" pitchFamily="18" charset="-128"/>
                <a:ea typeface="UD デジタル 教科書体 NP-R" panose="02020400000000000000" pitchFamily="18" charset="-128"/>
              </a:rPr>
              <a:t>”</a:t>
            </a:r>
            <a:r>
              <a:rPr lang="ja-JP" altLang="en-US" sz="800" b="1" i="0" dirty="0">
                <a:effectLst/>
                <a:latin typeface="UD デジタル 教科書体 NP-R" panose="02020400000000000000" pitchFamily="18" charset="-128"/>
                <a:ea typeface="UD デジタル 教科書体 NP-R" panose="02020400000000000000" pitchFamily="18" charset="-128"/>
              </a:rPr>
              <a:t>は、出会いにちょっとした贈りものを添えるデジタルギフトサービス。 ギフトの送り先は</a:t>
            </a:r>
            <a:r>
              <a:rPr lang="en-US" altLang="ja-JP" sz="800" b="1" i="0" dirty="0">
                <a:effectLst/>
                <a:latin typeface="UD デジタル 教科書体 NP-R" panose="02020400000000000000" pitchFamily="18" charset="-128"/>
                <a:ea typeface="UD デジタル 教科書体 NP-R" panose="02020400000000000000" pitchFamily="18" charset="-128"/>
              </a:rPr>
              <a:t>QR</a:t>
            </a:r>
            <a:r>
              <a:rPr lang="ja-JP" altLang="en-US" sz="800" b="1" i="0" dirty="0">
                <a:effectLst/>
                <a:latin typeface="UD デジタル 教科書体 NP-R" panose="02020400000000000000" pitchFamily="18" charset="-128"/>
                <a:ea typeface="UD デジタル 教科書体 NP-R" panose="02020400000000000000" pitchFamily="18" charset="-128"/>
              </a:rPr>
              <a:t>コードから指定できます。</a:t>
            </a:r>
            <a:endParaRPr lang="ja-JP" altLang="en-US" sz="900" b="1" dirty="0">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417902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a:extLst>
            <a:ext uri="{FF2B5EF4-FFF2-40B4-BE49-F238E27FC236}">
              <a16:creationId xmlns:a16="http://schemas.microsoft.com/office/drawing/2014/main" id="{29766E1C-CE8C-F01F-7470-B14A8621E3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4F1090-EBD8-EC21-9B88-9EE0F545EFDB}"/>
              </a:ext>
            </a:extLst>
          </p:cNvPr>
          <p:cNvSpPr>
            <a:spLocks noGrp="1"/>
          </p:cNvSpPr>
          <p:nvPr>
            <p:ph type="title"/>
          </p:nvPr>
        </p:nvSpPr>
        <p:spPr/>
        <p:txBody>
          <a:bodyPr>
            <a:normAutofit/>
          </a:bodyPr>
          <a:lstStyle/>
          <a:p>
            <a:r>
              <a:rPr kumimoji="1" lang="en-US" altLang="ja-JP" sz="2000" dirty="0"/>
              <a:t>B.</a:t>
            </a:r>
            <a:r>
              <a:rPr lang="ja-JP" altLang="en-US" dirty="0"/>
              <a:t>特定の商品用，カード単体</a:t>
            </a:r>
            <a:endParaRPr kumimoji="1" lang="ja-JP" altLang="en-US" dirty="0"/>
          </a:p>
        </p:txBody>
      </p:sp>
      <p:sp>
        <p:nvSpPr>
          <p:cNvPr id="3" name="コンテンツ プレースホルダー 2">
            <a:extLst>
              <a:ext uri="{FF2B5EF4-FFF2-40B4-BE49-F238E27FC236}">
                <a16:creationId xmlns:a16="http://schemas.microsoft.com/office/drawing/2014/main" id="{2F97560A-D897-E616-DC35-5393DCD4F3B3}"/>
              </a:ext>
            </a:extLst>
          </p:cNvPr>
          <p:cNvSpPr>
            <a:spLocks noGrp="1"/>
          </p:cNvSpPr>
          <p:nvPr>
            <p:ph idx="1"/>
          </p:nvPr>
        </p:nvSpPr>
        <p:spPr/>
        <p:txBody>
          <a:bodyPr/>
          <a:lstStyle/>
          <a:p>
            <a:r>
              <a:rPr lang="ja-JP" altLang="en-US" dirty="0"/>
              <a:t>メモ欄あり</a:t>
            </a:r>
            <a:endParaRPr lang="en-US" altLang="ja-JP" dirty="0"/>
          </a:p>
          <a:p>
            <a:r>
              <a:rPr lang="ja-JP" altLang="en-US" dirty="0"/>
              <a:t>金券に必要な情報不足</a:t>
            </a:r>
            <a:r>
              <a:rPr lang="en-US" altLang="ja-JP" dirty="0"/>
              <a:t>(</a:t>
            </a:r>
            <a:r>
              <a:rPr lang="ja-JP" altLang="en-US" dirty="0"/>
              <a:t>発行者・問い合わせ先</a:t>
            </a:r>
            <a:r>
              <a:rPr lang="en-US" altLang="ja-JP" dirty="0"/>
              <a:t>)</a:t>
            </a:r>
          </a:p>
          <a:p>
            <a:endParaRPr kumimoji="1" lang="ja-JP" altLang="en-US" dirty="0"/>
          </a:p>
        </p:txBody>
      </p:sp>
    </p:spTree>
    <p:extLst>
      <p:ext uri="{BB962C8B-B14F-4D97-AF65-F5344CB8AC3E}">
        <p14:creationId xmlns:p14="http://schemas.microsoft.com/office/powerpoint/2010/main" val="19014164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382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8BDF1-7068-A934-7347-DD22468CF46E}"/>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27DC594D-F29D-FF95-2C67-7B5B888F0B6E}"/>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E4B9CD20-E266-0E6F-FD30-7F2D78360473}"/>
              </a:ext>
            </a:extLst>
          </p:cNvPr>
          <p:cNvGrpSpPr/>
          <p:nvPr/>
        </p:nvGrpSpPr>
        <p:grpSpPr>
          <a:xfrm>
            <a:off x="311866" y="141225"/>
            <a:ext cx="1329789" cy="1662236"/>
            <a:chOff x="324896" y="199586"/>
            <a:chExt cx="1294896" cy="1618620"/>
          </a:xfrm>
        </p:grpSpPr>
        <p:sp>
          <p:nvSpPr>
            <p:cNvPr id="14" name="四角形: 角を丸くする 13">
              <a:extLst>
                <a:ext uri="{FF2B5EF4-FFF2-40B4-BE49-F238E27FC236}">
                  <a16:creationId xmlns:a16="http://schemas.microsoft.com/office/drawing/2014/main" id="{E8AE50BA-9693-02D4-4D02-BC5F2567AF6E}"/>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5C964CDD-F284-813B-3932-DB75E7FE119E}"/>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grpSp>
        <p:nvGrpSpPr>
          <p:cNvPr id="27" name="グループ化 26">
            <a:extLst>
              <a:ext uri="{FF2B5EF4-FFF2-40B4-BE49-F238E27FC236}">
                <a16:creationId xmlns:a16="http://schemas.microsoft.com/office/drawing/2014/main" id="{FC87011E-A712-9B69-0C62-724429E9C618}"/>
              </a:ext>
            </a:extLst>
          </p:cNvPr>
          <p:cNvGrpSpPr/>
          <p:nvPr/>
        </p:nvGrpSpPr>
        <p:grpSpPr>
          <a:xfrm>
            <a:off x="1953527" y="739997"/>
            <a:ext cx="1008000" cy="1008000"/>
            <a:chOff x="1007265" y="2577396"/>
            <a:chExt cx="962823" cy="928507"/>
          </a:xfrm>
        </p:grpSpPr>
        <p:sp>
          <p:nvSpPr>
            <p:cNvPr id="18" name="四角形: 角を丸くする 17">
              <a:extLst>
                <a:ext uri="{FF2B5EF4-FFF2-40B4-BE49-F238E27FC236}">
                  <a16:creationId xmlns:a16="http://schemas.microsoft.com/office/drawing/2014/main" id="{A9024CC5-FC23-DAAE-D1E9-18AAC326951E}"/>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図 23" descr="QR コード&#10;&#10;AI 生成コンテンツは誤りを含む可能性があります。">
              <a:extLst>
                <a:ext uri="{FF2B5EF4-FFF2-40B4-BE49-F238E27FC236}">
                  <a16:creationId xmlns:a16="http://schemas.microsoft.com/office/drawing/2014/main" id="{D9D2A906-182F-5D6F-F18E-748748604D4C}"/>
                </a:ext>
              </a:extLst>
            </p:cNvPr>
            <p:cNvPicPr>
              <a:picLocks noChangeAspect="1"/>
            </p:cNvPicPr>
            <p:nvPr/>
          </p:nvPicPr>
          <p:blipFill>
            <a:blip r:embed="rId5"/>
            <a:stretch>
              <a:fillRect/>
            </a:stretch>
          </p:blipFill>
          <p:spPr>
            <a:xfrm>
              <a:off x="1042659" y="2598008"/>
              <a:ext cx="883492" cy="878787"/>
            </a:xfrm>
            <a:prstGeom prst="rect">
              <a:avLst/>
            </a:prstGeom>
          </p:spPr>
        </p:pic>
      </p:grpSp>
      <p:sp>
        <p:nvSpPr>
          <p:cNvPr id="29" name="四角形: 角を丸くする 28">
            <a:extLst>
              <a:ext uri="{FF2B5EF4-FFF2-40B4-BE49-F238E27FC236}">
                <a16:creationId xmlns:a16="http://schemas.microsoft.com/office/drawing/2014/main" id="{FCA2DD52-CC78-24F8-D639-1CC3AF84891D}"/>
              </a:ext>
            </a:extLst>
          </p:cNvPr>
          <p:cNvSpPr/>
          <p:nvPr/>
        </p:nvSpPr>
        <p:spPr>
          <a:xfrm>
            <a:off x="2114641" y="1747997"/>
            <a:ext cx="676828" cy="1210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A6DBBE0D-B035-E5D8-6160-731A46B3699B}"/>
              </a:ext>
            </a:extLst>
          </p:cNvPr>
          <p:cNvSpPr/>
          <p:nvPr/>
        </p:nvSpPr>
        <p:spPr>
          <a:xfrm>
            <a:off x="1977883" y="141225"/>
            <a:ext cx="924946"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337A57FA-1A8D-78E1-4A54-E0568FE92CF4}"/>
              </a:ext>
            </a:extLst>
          </p:cNvPr>
          <p:cNvSpPr/>
          <p:nvPr/>
        </p:nvSpPr>
        <p:spPr>
          <a:xfrm>
            <a:off x="2037626" y="381464"/>
            <a:ext cx="805455" cy="2715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枚入り</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1408932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4E414-B264-69F1-7D02-82212AD607C8}"/>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5CCEA16E-662A-87CB-20F3-40F73D29482E}"/>
              </a:ext>
            </a:extLst>
          </p:cNvPr>
          <p:cNvSpPr/>
          <p:nvPr/>
        </p:nvSpPr>
        <p:spPr>
          <a:xfrm>
            <a:off x="57150" y="106805"/>
            <a:ext cx="2990852" cy="767340"/>
          </a:xfrm>
          <a:prstGeom prst="roundRect">
            <a:avLst>
              <a:gd name="adj" fmla="val 14805"/>
            </a:avLst>
          </a:prstGeom>
          <a:blipFill dpi="0" rotWithShape="0">
            <a:blip r:embed="rId2"/>
            <a:srcRect/>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p>
        </p:txBody>
      </p:sp>
      <p:sp>
        <p:nvSpPr>
          <p:cNvPr id="14" name="四角形: 角を丸くする 13">
            <a:extLst>
              <a:ext uri="{FF2B5EF4-FFF2-40B4-BE49-F238E27FC236}">
                <a16:creationId xmlns:a16="http://schemas.microsoft.com/office/drawing/2014/main" id="{4877DEAC-8752-381A-8B42-30C26722887D}"/>
              </a:ext>
            </a:extLst>
          </p:cNvPr>
          <p:cNvSpPr/>
          <p:nvPr/>
        </p:nvSpPr>
        <p:spPr>
          <a:xfrm>
            <a:off x="170287" y="223909"/>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3C35BB89-8B70-B6B4-3075-017E55B505A7}"/>
              </a:ext>
            </a:extLst>
          </p:cNvPr>
          <p:cNvGrpSpPr/>
          <p:nvPr/>
        </p:nvGrpSpPr>
        <p:grpSpPr>
          <a:xfrm>
            <a:off x="170288" y="295250"/>
            <a:ext cx="2720550" cy="390450"/>
            <a:chOff x="425450" y="774699"/>
            <a:chExt cx="2996650" cy="390450"/>
          </a:xfrm>
        </p:grpSpPr>
        <p:sp>
          <p:nvSpPr>
            <p:cNvPr id="10" name="四角形: 角を丸くする 9">
              <a:extLst>
                <a:ext uri="{FF2B5EF4-FFF2-40B4-BE49-F238E27FC236}">
                  <a16:creationId xmlns:a16="http://schemas.microsoft.com/office/drawing/2014/main" id="{98D76C1A-6ED4-806D-6084-DF7E2DAAECD3}"/>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E5C72B7A-7051-A73F-A345-42356D7D5F5F}"/>
                </a:ext>
              </a:extLst>
            </p:cNvPr>
            <p:cNvSpPr/>
            <p:nvPr/>
          </p:nvSpPr>
          <p:spPr>
            <a:xfrm>
              <a:off x="1385933" y="874669"/>
              <a:ext cx="1574532"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96E434FF-4514-372C-988C-38023DDD153C}"/>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0C507CD9-6864-4949-BCD5-4F76BB9E8FD3}"/>
              </a:ext>
            </a:extLst>
          </p:cNvPr>
          <p:cNvGrpSpPr/>
          <p:nvPr/>
        </p:nvGrpSpPr>
        <p:grpSpPr>
          <a:xfrm>
            <a:off x="0" y="945486"/>
            <a:ext cx="3095625" cy="999202"/>
            <a:chOff x="414338" y="352425"/>
            <a:chExt cx="2247899" cy="1233488"/>
          </a:xfrm>
        </p:grpSpPr>
        <p:sp>
          <p:nvSpPr>
            <p:cNvPr id="3" name="四角形: 角を丸くする 2">
              <a:extLst>
                <a:ext uri="{FF2B5EF4-FFF2-40B4-BE49-F238E27FC236}">
                  <a16:creationId xmlns:a16="http://schemas.microsoft.com/office/drawing/2014/main" id="{03A5C833-8C4A-6005-B3A3-8727E532746E}"/>
                </a:ext>
              </a:extLst>
            </p:cNvPr>
            <p:cNvSpPr/>
            <p:nvPr/>
          </p:nvSpPr>
          <p:spPr>
            <a:xfrm>
              <a:off x="414338" y="352425"/>
              <a:ext cx="2247899" cy="123348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7" name="直線コネクタ 6">
              <a:extLst>
                <a:ext uri="{FF2B5EF4-FFF2-40B4-BE49-F238E27FC236}">
                  <a16:creationId xmlns:a16="http://schemas.microsoft.com/office/drawing/2014/main" id="{C5A49290-C073-5D51-0F62-10BE828F4C1D}"/>
                </a:ext>
              </a:extLst>
            </p:cNvPr>
            <p:cNvCxnSpPr>
              <a:cxnSpLocks/>
            </p:cNvCxnSpPr>
            <p:nvPr/>
          </p:nvCxnSpPr>
          <p:spPr>
            <a:xfrm>
              <a:off x="709613" y="598020"/>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1" name="直線コネクタ 10">
              <a:extLst>
                <a:ext uri="{FF2B5EF4-FFF2-40B4-BE49-F238E27FC236}">
                  <a16:creationId xmlns:a16="http://schemas.microsoft.com/office/drawing/2014/main" id="{48401FC7-EFA9-E77E-B77A-5B38B4EDD5F0}"/>
                </a:ext>
              </a:extLst>
            </p:cNvPr>
            <p:cNvCxnSpPr>
              <a:cxnSpLocks/>
            </p:cNvCxnSpPr>
            <p:nvPr/>
          </p:nvCxnSpPr>
          <p:spPr>
            <a:xfrm>
              <a:off x="709613" y="914621"/>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2" name="直線コネクタ 11">
              <a:extLst>
                <a:ext uri="{FF2B5EF4-FFF2-40B4-BE49-F238E27FC236}">
                  <a16:creationId xmlns:a16="http://schemas.microsoft.com/office/drawing/2014/main" id="{89636613-4CAA-8AD8-46DD-FBB4BF1E6A17}"/>
                </a:ext>
              </a:extLst>
            </p:cNvPr>
            <p:cNvCxnSpPr>
              <a:cxnSpLocks/>
            </p:cNvCxnSpPr>
            <p:nvPr/>
          </p:nvCxnSpPr>
          <p:spPr>
            <a:xfrm>
              <a:off x="709613" y="1231223"/>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Tree>
    <p:extLst>
      <p:ext uri="{BB962C8B-B14F-4D97-AF65-F5344CB8AC3E}">
        <p14:creationId xmlns:p14="http://schemas.microsoft.com/office/powerpoint/2010/main" val="236400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0850F-9E31-C918-9C11-5B367762D922}"/>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787FD4B5-2C2F-73B1-EE3C-12C5F724A8CD}"/>
              </a:ext>
            </a:extLst>
          </p:cNvPr>
          <p:cNvSpPr/>
          <p:nvPr/>
        </p:nvSpPr>
        <p:spPr>
          <a:xfrm>
            <a:off x="4761" y="0"/>
            <a:ext cx="1944000" cy="1944687"/>
          </a:xfrm>
          <a:prstGeom prst="roundRect">
            <a:avLst>
              <a:gd name="adj" fmla="val 8828"/>
            </a:avLst>
          </a:prstGeom>
          <a:blipFill>
            <a:blip r:embed="rId2">
              <a:alphaModFix/>
            </a:blip>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540C9471-8E8E-902E-C6A2-BEBAC60D704E}"/>
              </a:ext>
            </a:extLst>
          </p:cNvPr>
          <p:cNvGrpSpPr/>
          <p:nvPr/>
        </p:nvGrpSpPr>
        <p:grpSpPr>
          <a:xfrm>
            <a:off x="311866" y="138682"/>
            <a:ext cx="1329789" cy="1662236"/>
            <a:chOff x="324896" y="199586"/>
            <a:chExt cx="1294896" cy="1618620"/>
          </a:xfrm>
        </p:grpSpPr>
        <p:sp>
          <p:nvSpPr>
            <p:cNvPr id="14" name="四角形: 角を丸くする 13">
              <a:extLst>
                <a:ext uri="{FF2B5EF4-FFF2-40B4-BE49-F238E27FC236}">
                  <a16:creationId xmlns:a16="http://schemas.microsoft.com/office/drawing/2014/main" id="{ECE4FDDA-C716-CAA9-19A1-F19DB0C2A7A4}"/>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4394CAFB-020B-C08D-E066-3F311704ADFA}"/>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sp>
        <p:nvSpPr>
          <p:cNvPr id="29" name="四角形: 角を丸くする 28">
            <a:extLst>
              <a:ext uri="{FF2B5EF4-FFF2-40B4-BE49-F238E27FC236}">
                <a16:creationId xmlns:a16="http://schemas.microsoft.com/office/drawing/2014/main" id="{68A81614-4FEC-9D47-53FC-E723D6D69A1F}"/>
              </a:ext>
            </a:extLst>
          </p:cNvPr>
          <p:cNvSpPr/>
          <p:nvPr/>
        </p:nvSpPr>
        <p:spPr>
          <a:xfrm>
            <a:off x="2114641" y="1747997"/>
            <a:ext cx="676828" cy="1210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F6F17309-EE18-8E2D-F21A-9E15EF21D3C0}"/>
              </a:ext>
            </a:extLst>
          </p:cNvPr>
          <p:cNvSpPr/>
          <p:nvPr/>
        </p:nvSpPr>
        <p:spPr>
          <a:xfrm>
            <a:off x="1977883" y="141225"/>
            <a:ext cx="924946" cy="215018"/>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55BA8D45-9106-763A-1835-22C630C8003A}"/>
              </a:ext>
            </a:extLst>
          </p:cNvPr>
          <p:cNvSpPr/>
          <p:nvPr/>
        </p:nvSpPr>
        <p:spPr>
          <a:xfrm>
            <a:off x="2037626" y="381464"/>
            <a:ext cx="805455" cy="2715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銀の鼎庵</a:t>
            </a:r>
          </a:p>
        </p:txBody>
      </p:sp>
      <p:sp>
        <p:nvSpPr>
          <p:cNvPr id="2" name="四角形: 角を丸くする 1">
            <a:extLst>
              <a:ext uri="{FF2B5EF4-FFF2-40B4-BE49-F238E27FC236}">
                <a16:creationId xmlns:a16="http://schemas.microsoft.com/office/drawing/2014/main" id="{18B0FF7D-82DE-5606-6284-AA99A7C6253F}"/>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Tree>
    <p:extLst>
      <p:ext uri="{BB962C8B-B14F-4D97-AF65-F5344CB8AC3E}">
        <p14:creationId xmlns:p14="http://schemas.microsoft.com/office/powerpoint/2010/main" val="41729125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C8B9A-2ED8-D748-A24A-DD1C58A77520}"/>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87EF834C-93C9-17F2-CA72-64D87E6EC501}"/>
              </a:ext>
            </a:extLst>
          </p:cNvPr>
          <p:cNvSpPr/>
          <p:nvPr/>
        </p:nvSpPr>
        <p:spPr>
          <a:xfrm>
            <a:off x="57150" y="106805"/>
            <a:ext cx="2990852" cy="767340"/>
          </a:xfrm>
          <a:prstGeom prst="roundRect">
            <a:avLst>
              <a:gd name="adj" fmla="val 14805"/>
            </a:avLst>
          </a:prstGeom>
          <a:blipFill dpi="0" rotWithShape="1">
            <a:blip r:embed="rId2"/>
            <a:srcRect/>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2DC0F186-BD01-C1EB-326B-02F7A7D13AE2}"/>
              </a:ext>
            </a:extLst>
          </p:cNvPr>
          <p:cNvSpPr/>
          <p:nvPr/>
        </p:nvSpPr>
        <p:spPr>
          <a:xfrm>
            <a:off x="161482" y="227084"/>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494C82D4-F556-A64B-4CD2-D48CE73282FB}"/>
              </a:ext>
            </a:extLst>
          </p:cNvPr>
          <p:cNvGrpSpPr/>
          <p:nvPr/>
        </p:nvGrpSpPr>
        <p:grpSpPr>
          <a:xfrm>
            <a:off x="170288" y="295250"/>
            <a:ext cx="2720550" cy="390450"/>
            <a:chOff x="425450" y="774699"/>
            <a:chExt cx="2996650" cy="390450"/>
          </a:xfrm>
        </p:grpSpPr>
        <p:sp>
          <p:nvSpPr>
            <p:cNvPr id="10" name="四角形: 角を丸くする 9">
              <a:extLst>
                <a:ext uri="{FF2B5EF4-FFF2-40B4-BE49-F238E27FC236}">
                  <a16:creationId xmlns:a16="http://schemas.microsoft.com/office/drawing/2014/main" id="{8F621CF7-CBF1-5590-FF3D-FB525B63AB38}"/>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FEB45EEF-ED2F-447B-B78A-2D144817C8FA}"/>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EB40C7A9-0C8A-7611-2DD8-1B25B3428304}"/>
              </a:ext>
            </a:extLst>
          </p:cNvPr>
          <p:cNvGrpSpPr/>
          <p:nvPr/>
        </p:nvGrpSpPr>
        <p:grpSpPr>
          <a:xfrm>
            <a:off x="0" y="945486"/>
            <a:ext cx="3095625" cy="999202"/>
            <a:chOff x="414338" y="352425"/>
            <a:chExt cx="2247899" cy="1233488"/>
          </a:xfrm>
          <a:noFill/>
        </p:grpSpPr>
        <p:sp>
          <p:nvSpPr>
            <p:cNvPr id="3" name="四角形: 角を丸くする 2">
              <a:extLst>
                <a:ext uri="{FF2B5EF4-FFF2-40B4-BE49-F238E27FC236}">
                  <a16:creationId xmlns:a16="http://schemas.microsoft.com/office/drawing/2014/main" id="{D89BF091-AAB0-9CD4-EB22-855E7E49D46B}"/>
                </a:ext>
              </a:extLst>
            </p:cNvPr>
            <p:cNvSpPr/>
            <p:nvPr/>
          </p:nvSpPr>
          <p:spPr>
            <a:xfrm>
              <a:off x="414338" y="352425"/>
              <a:ext cx="2247899" cy="1233488"/>
            </a:xfrm>
            <a:prstGeom prst="roundRect">
              <a:avLst>
                <a:gd name="adj" fmla="val 666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7" name="直線コネクタ 6">
              <a:extLst>
                <a:ext uri="{FF2B5EF4-FFF2-40B4-BE49-F238E27FC236}">
                  <a16:creationId xmlns:a16="http://schemas.microsoft.com/office/drawing/2014/main" id="{E273791A-E63C-9B59-6DE1-4F731B9A0141}"/>
                </a:ext>
              </a:extLst>
            </p:cNvPr>
            <p:cNvCxnSpPr>
              <a:cxnSpLocks/>
            </p:cNvCxnSpPr>
            <p:nvPr/>
          </p:nvCxnSpPr>
          <p:spPr>
            <a:xfrm>
              <a:off x="709613" y="598020"/>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1" name="直線コネクタ 10">
              <a:extLst>
                <a:ext uri="{FF2B5EF4-FFF2-40B4-BE49-F238E27FC236}">
                  <a16:creationId xmlns:a16="http://schemas.microsoft.com/office/drawing/2014/main" id="{EF6EE810-3CC5-D04E-49F4-6B44616EC21B}"/>
                </a:ext>
              </a:extLst>
            </p:cNvPr>
            <p:cNvCxnSpPr>
              <a:cxnSpLocks/>
            </p:cNvCxnSpPr>
            <p:nvPr/>
          </p:nvCxnSpPr>
          <p:spPr>
            <a:xfrm>
              <a:off x="709613" y="914621"/>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2" name="直線コネクタ 11">
              <a:extLst>
                <a:ext uri="{FF2B5EF4-FFF2-40B4-BE49-F238E27FC236}">
                  <a16:creationId xmlns:a16="http://schemas.microsoft.com/office/drawing/2014/main" id="{3FE5F215-04FD-69F6-2EB3-1FEE0E2C1475}"/>
                </a:ext>
              </a:extLst>
            </p:cNvPr>
            <p:cNvCxnSpPr>
              <a:cxnSpLocks/>
            </p:cNvCxnSpPr>
            <p:nvPr/>
          </p:nvCxnSpPr>
          <p:spPr>
            <a:xfrm>
              <a:off x="709613" y="1231223"/>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
        <p:nvSpPr>
          <p:cNvPr id="6" name="四角形: 角を丸くする 5">
            <a:extLst>
              <a:ext uri="{FF2B5EF4-FFF2-40B4-BE49-F238E27FC236}">
                <a16:creationId xmlns:a16="http://schemas.microsoft.com/office/drawing/2014/main" id="{DF37CAA2-9E56-9240-A1EA-094E31899087}"/>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Tree>
    <p:extLst>
      <p:ext uri="{BB962C8B-B14F-4D97-AF65-F5344CB8AC3E}">
        <p14:creationId xmlns:p14="http://schemas.microsoft.com/office/powerpoint/2010/main" val="1216554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638B8-8D7D-B972-AE94-748C27834629}"/>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10CF7447-3D66-B339-9A11-3116EF689A6A}"/>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DE24A179-1F2A-C1D7-05E1-9BB072EB57AC}"/>
              </a:ext>
            </a:extLst>
          </p:cNvPr>
          <p:cNvGrpSpPr/>
          <p:nvPr/>
        </p:nvGrpSpPr>
        <p:grpSpPr>
          <a:xfrm>
            <a:off x="311866" y="138682"/>
            <a:ext cx="1329789" cy="1662236"/>
            <a:chOff x="324896" y="199586"/>
            <a:chExt cx="1294896" cy="1618620"/>
          </a:xfrm>
        </p:grpSpPr>
        <p:sp>
          <p:nvSpPr>
            <p:cNvPr id="14" name="四角形: 角を丸くする 13">
              <a:extLst>
                <a:ext uri="{FF2B5EF4-FFF2-40B4-BE49-F238E27FC236}">
                  <a16:creationId xmlns:a16="http://schemas.microsoft.com/office/drawing/2014/main" id="{A9AE4136-B913-76E7-47D4-852AFC169F57}"/>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569C78D8-0EB3-537C-BA17-814D8269038C}"/>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sp>
        <p:nvSpPr>
          <p:cNvPr id="29" name="四角形: 角を丸くする 28">
            <a:extLst>
              <a:ext uri="{FF2B5EF4-FFF2-40B4-BE49-F238E27FC236}">
                <a16:creationId xmlns:a16="http://schemas.microsoft.com/office/drawing/2014/main" id="{B3C06362-E30A-8B3D-C32F-8B6451DB7D5C}"/>
              </a:ext>
            </a:extLst>
          </p:cNvPr>
          <p:cNvSpPr/>
          <p:nvPr/>
        </p:nvSpPr>
        <p:spPr>
          <a:xfrm>
            <a:off x="2241277" y="1740408"/>
            <a:ext cx="473344" cy="1210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75B1F69A-74E7-82D8-6EF7-6B1DD5128252}"/>
              </a:ext>
            </a:extLst>
          </p:cNvPr>
          <p:cNvSpPr/>
          <p:nvPr/>
        </p:nvSpPr>
        <p:spPr>
          <a:xfrm>
            <a:off x="2015979" y="141225"/>
            <a:ext cx="924946" cy="215018"/>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D5B5973E-9FC2-A5CF-3D1A-C98B1583D82D}"/>
              </a:ext>
            </a:extLst>
          </p:cNvPr>
          <p:cNvSpPr/>
          <p:nvPr/>
        </p:nvSpPr>
        <p:spPr>
          <a:xfrm>
            <a:off x="2075722" y="381464"/>
            <a:ext cx="805455" cy="2715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銀の鼎庵</a:t>
            </a:r>
          </a:p>
        </p:txBody>
      </p:sp>
      <p:sp>
        <p:nvSpPr>
          <p:cNvPr id="2" name="四角形: 角を丸くする 1">
            <a:extLst>
              <a:ext uri="{FF2B5EF4-FFF2-40B4-BE49-F238E27FC236}">
                <a16:creationId xmlns:a16="http://schemas.microsoft.com/office/drawing/2014/main" id="{5770D425-D97D-816A-9865-D314F2621123}"/>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Tree>
    <p:extLst>
      <p:ext uri="{BB962C8B-B14F-4D97-AF65-F5344CB8AC3E}">
        <p14:creationId xmlns:p14="http://schemas.microsoft.com/office/powerpoint/2010/main" val="36804460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B18B7-95B3-8DEF-89E7-D8EB11A4D469}"/>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3B01305D-13E8-D326-DFB1-2D11528469B1}"/>
              </a:ext>
            </a:extLst>
          </p:cNvPr>
          <p:cNvSpPr/>
          <p:nvPr/>
        </p:nvSpPr>
        <p:spPr>
          <a:xfrm>
            <a:off x="57150" y="106805"/>
            <a:ext cx="2990852" cy="767340"/>
          </a:xfrm>
          <a:prstGeom prst="roundRect">
            <a:avLst>
              <a:gd name="adj" fmla="val 14805"/>
            </a:avLst>
          </a:prstGeom>
          <a:blipFill dpi="0" rotWithShape="1">
            <a:blip r:embed="rId2"/>
            <a:srcRect/>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1AE9F2F4-DA3C-33EC-BDC0-21E82BFF9E28}"/>
              </a:ext>
            </a:extLst>
          </p:cNvPr>
          <p:cNvSpPr/>
          <p:nvPr/>
        </p:nvSpPr>
        <p:spPr>
          <a:xfrm>
            <a:off x="161482" y="227084"/>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45A573A0-CD2C-BAA4-1C48-2F0DCF126775}"/>
              </a:ext>
            </a:extLst>
          </p:cNvPr>
          <p:cNvGrpSpPr/>
          <p:nvPr/>
        </p:nvGrpSpPr>
        <p:grpSpPr>
          <a:xfrm>
            <a:off x="170288" y="295250"/>
            <a:ext cx="2720550" cy="390450"/>
            <a:chOff x="425450" y="774699"/>
            <a:chExt cx="2996650" cy="390450"/>
          </a:xfrm>
        </p:grpSpPr>
        <p:sp>
          <p:nvSpPr>
            <p:cNvPr id="10" name="四角形: 角を丸くする 9">
              <a:extLst>
                <a:ext uri="{FF2B5EF4-FFF2-40B4-BE49-F238E27FC236}">
                  <a16:creationId xmlns:a16="http://schemas.microsoft.com/office/drawing/2014/main" id="{73CAC9B6-945E-51A2-0F23-EEC3DC21FA23}"/>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13B85B00-3FFD-3C66-2B1F-65E05DF0D111}"/>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F598325E-04B7-49DA-34AE-2C297D981172}"/>
              </a:ext>
            </a:extLst>
          </p:cNvPr>
          <p:cNvGrpSpPr/>
          <p:nvPr/>
        </p:nvGrpSpPr>
        <p:grpSpPr>
          <a:xfrm>
            <a:off x="0" y="945486"/>
            <a:ext cx="3095625" cy="999202"/>
            <a:chOff x="414338" y="352425"/>
            <a:chExt cx="2247899" cy="1233488"/>
          </a:xfrm>
          <a:noFill/>
        </p:grpSpPr>
        <p:sp>
          <p:nvSpPr>
            <p:cNvPr id="3" name="四角形: 角を丸くする 2">
              <a:extLst>
                <a:ext uri="{FF2B5EF4-FFF2-40B4-BE49-F238E27FC236}">
                  <a16:creationId xmlns:a16="http://schemas.microsoft.com/office/drawing/2014/main" id="{113A5490-125D-5391-59C3-40B9411865E2}"/>
                </a:ext>
              </a:extLst>
            </p:cNvPr>
            <p:cNvSpPr/>
            <p:nvPr/>
          </p:nvSpPr>
          <p:spPr>
            <a:xfrm>
              <a:off x="414338" y="352425"/>
              <a:ext cx="2247899" cy="1233488"/>
            </a:xfrm>
            <a:prstGeom prst="roundRect">
              <a:avLst>
                <a:gd name="adj" fmla="val 666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7" name="直線コネクタ 6">
              <a:extLst>
                <a:ext uri="{FF2B5EF4-FFF2-40B4-BE49-F238E27FC236}">
                  <a16:creationId xmlns:a16="http://schemas.microsoft.com/office/drawing/2014/main" id="{0BF0DCB8-0214-547A-B0BA-2940E24ED5C8}"/>
                </a:ext>
              </a:extLst>
            </p:cNvPr>
            <p:cNvCxnSpPr>
              <a:cxnSpLocks/>
            </p:cNvCxnSpPr>
            <p:nvPr/>
          </p:nvCxnSpPr>
          <p:spPr>
            <a:xfrm>
              <a:off x="709613" y="598020"/>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1" name="直線コネクタ 10">
              <a:extLst>
                <a:ext uri="{FF2B5EF4-FFF2-40B4-BE49-F238E27FC236}">
                  <a16:creationId xmlns:a16="http://schemas.microsoft.com/office/drawing/2014/main" id="{13A65D62-21E5-E90F-BF20-B8AC6AF4CA20}"/>
                </a:ext>
              </a:extLst>
            </p:cNvPr>
            <p:cNvCxnSpPr>
              <a:cxnSpLocks/>
            </p:cNvCxnSpPr>
            <p:nvPr/>
          </p:nvCxnSpPr>
          <p:spPr>
            <a:xfrm>
              <a:off x="709613" y="914621"/>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2" name="直線コネクタ 11">
              <a:extLst>
                <a:ext uri="{FF2B5EF4-FFF2-40B4-BE49-F238E27FC236}">
                  <a16:creationId xmlns:a16="http://schemas.microsoft.com/office/drawing/2014/main" id="{0754394C-F33D-96DD-4E93-E942CF184B2A}"/>
                </a:ext>
              </a:extLst>
            </p:cNvPr>
            <p:cNvCxnSpPr>
              <a:cxnSpLocks/>
            </p:cNvCxnSpPr>
            <p:nvPr/>
          </p:nvCxnSpPr>
          <p:spPr>
            <a:xfrm>
              <a:off x="709613" y="1231223"/>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
        <p:nvSpPr>
          <p:cNvPr id="6" name="四角形: 角を丸くする 5">
            <a:extLst>
              <a:ext uri="{FF2B5EF4-FFF2-40B4-BE49-F238E27FC236}">
                <a16:creationId xmlns:a16="http://schemas.microsoft.com/office/drawing/2014/main" id="{3E8840FA-8BA6-D492-7178-88D799CD79C0}"/>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Tree>
    <p:extLst>
      <p:ext uri="{BB962C8B-B14F-4D97-AF65-F5344CB8AC3E}">
        <p14:creationId xmlns:p14="http://schemas.microsoft.com/office/powerpoint/2010/main" val="1447314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638B8-8D7D-B972-AE94-748C27834629}"/>
            </a:ext>
          </a:extLst>
        </p:cNvPr>
        <p:cNvGrpSpPr/>
        <p:nvPr/>
      </p:nvGrpSpPr>
      <p:grpSpPr>
        <a:xfrm>
          <a:off x="0" y="0"/>
          <a:ext cx="0" cy="0"/>
          <a:chOff x="0" y="0"/>
          <a:chExt cx="0" cy="0"/>
        </a:xfrm>
      </p:grpSpPr>
      <p:sp>
        <p:nvSpPr>
          <p:cNvPr id="11" name="四角形: 角を丸くする 10">
            <a:extLst>
              <a:ext uri="{FF2B5EF4-FFF2-40B4-BE49-F238E27FC236}">
                <a16:creationId xmlns:a16="http://schemas.microsoft.com/office/drawing/2014/main" id="{0C2C9DC7-2686-13B9-FB76-3634492DC36B}"/>
              </a:ext>
            </a:extLst>
          </p:cNvPr>
          <p:cNvSpPr/>
          <p:nvPr/>
        </p:nvSpPr>
        <p:spPr>
          <a:xfrm>
            <a:off x="-1" y="0"/>
            <a:ext cx="3095625" cy="1944687"/>
          </a:xfrm>
          <a:prstGeom prst="roundRect">
            <a:avLst>
              <a:gd name="adj" fmla="val 13559"/>
            </a:avLst>
          </a:prstGeom>
          <a:solidFill>
            <a:schemeClr val="bg1"/>
          </a:soli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0" rtlCol="0" anchor="b">
            <a:noAutofit/>
          </a:bodyPr>
          <a:lstStyle/>
          <a:p>
            <a:pPr algn="ctr"/>
            <a:endPar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endParaRPr>
          </a:p>
        </p:txBody>
      </p:sp>
      <p:grpSp>
        <p:nvGrpSpPr>
          <p:cNvPr id="3" name="グループ化 2">
            <a:extLst>
              <a:ext uri="{FF2B5EF4-FFF2-40B4-BE49-F238E27FC236}">
                <a16:creationId xmlns:a16="http://schemas.microsoft.com/office/drawing/2014/main" id="{48DEEB54-78CB-630F-C70B-4D6F8753FB08}"/>
              </a:ext>
            </a:extLst>
          </p:cNvPr>
          <p:cNvGrpSpPr/>
          <p:nvPr/>
        </p:nvGrpSpPr>
        <p:grpSpPr>
          <a:xfrm>
            <a:off x="50016" y="99596"/>
            <a:ext cx="1739793" cy="1740408"/>
            <a:chOff x="4761" y="0"/>
            <a:chExt cx="1944000" cy="1944687"/>
          </a:xfrm>
        </p:grpSpPr>
        <p:sp>
          <p:nvSpPr>
            <p:cNvPr id="7" name="四角形: 角を丸くする 6">
              <a:extLst>
                <a:ext uri="{FF2B5EF4-FFF2-40B4-BE49-F238E27FC236}">
                  <a16:creationId xmlns:a16="http://schemas.microsoft.com/office/drawing/2014/main" id="{10CF7447-3D66-B339-9A11-3116EF689A6A}"/>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DE24A179-1F2A-C1D7-05E1-9BB072EB57AC}"/>
                </a:ext>
              </a:extLst>
            </p:cNvPr>
            <p:cNvGrpSpPr/>
            <p:nvPr/>
          </p:nvGrpSpPr>
          <p:grpSpPr>
            <a:xfrm>
              <a:off x="311866" y="138682"/>
              <a:ext cx="1329789" cy="1662236"/>
              <a:chOff x="324896" y="199586"/>
              <a:chExt cx="1294896" cy="1618620"/>
            </a:xfrm>
          </p:grpSpPr>
          <p:sp>
            <p:nvSpPr>
              <p:cNvPr id="14" name="四角形: 角を丸くする 13">
                <a:extLst>
                  <a:ext uri="{FF2B5EF4-FFF2-40B4-BE49-F238E27FC236}">
                    <a16:creationId xmlns:a16="http://schemas.microsoft.com/office/drawing/2014/main" id="{A9AE4136-B913-76E7-47D4-852AFC169F57}"/>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569C78D8-0EB3-537C-BA17-814D8269038C}"/>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grpSp>
      <p:sp>
        <p:nvSpPr>
          <p:cNvPr id="31" name="四角形: 角を丸くする 30">
            <a:extLst>
              <a:ext uri="{FF2B5EF4-FFF2-40B4-BE49-F238E27FC236}">
                <a16:creationId xmlns:a16="http://schemas.microsoft.com/office/drawing/2014/main" id="{75B1F69A-74E7-82D8-6EF7-6B1DD5128252}"/>
              </a:ext>
            </a:extLst>
          </p:cNvPr>
          <p:cNvSpPr/>
          <p:nvPr/>
        </p:nvSpPr>
        <p:spPr>
          <a:xfrm>
            <a:off x="1740747" y="256350"/>
            <a:ext cx="1354878" cy="215018"/>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zh-TW" altLang="en-US" dirty="0">
                <a:solidFill>
                  <a:schemeClr val="tx1"/>
                </a:solidFill>
                <a:latin typeface="UD デジタル 教科書体 NP-R" panose="02020400000000000000" pitchFamily="18" charset="-128"/>
                <a:ea typeface="UD デジタル 教科書体 NP-R" panose="02020400000000000000" pitchFamily="18" charset="-128"/>
              </a:rPr>
              <a:t>「学長煎餅」</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D5B5973E-9FC2-A5CF-3D1A-C98B1583D82D}"/>
              </a:ext>
            </a:extLst>
          </p:cNvPr>
          <p:cNvSpPr/>
          <p:nvPr/>
        </p:nvSpPr>
        <p:spPr>
          <a:xfrm>
            <a:off x="1924171" y="416834"/>
            <a:ext cx="988031" cy="2715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金銀詰替せ</a:t>
            </a: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a:t>
            </a:r>
          </a:p>
        </p:txBody>
      </p:sp>
      <p:sp>
        <p:nvSpPr>
          <p:cNvPr id="2" name="四角形: 角を丸くする 1">
            <a:extLst>
              <a:ext uri="{FF2B5EF4-FFF2-40B4-BE49-F238E27FC236}">
                <a16:creationId xmlns:a16="http://schemas.microsoft.com/office/drawing/2014/main" id="{5770D425-D97D-816A-9865-D314F2621123}"/>
              </a:ext>
            </a:extLst>
          </p:cNvPr>
          <p:cNvSpPr/>
          <p:nvPr/>
        </p:nvSpPr>
        <p:spPr>
          <a:xfrm>
            <a:off x="-11724"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
        <p:nvSpPr>
          <p:cNvPr id="4" name="四角形: 角を丸くする 3">
            <a:extLst>
              <a:ext uri="{FF2B5EF4-FFF2-40B4-BE49-F238E27FC236}">
                <a16:creationId xmlns:a16="http://schemas.microsoft.com/office/drawing/2014/main" id="{C428A9B9-9DA8-6BFD-08C4-D55F28E42CA0}"/>
              </a:ext>
            </a:extLst>
          </p:cNvPr>
          <p:cNvSpPr/>
          <p:nvPr/>
        </p:nvSpPr>
        <p:spPr>
          <a:xfrm>
            <a:off x="215106" y="1793006"/>
            <a:ext cx="2654348" cy="1210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とけない、われない、かさばらない！　カードで送る新習慣＠名刺代わりに</a:t>
            </a:r>
          </a:p>
        </p:txBody>
      </p:sp>
      <p:grpSp>
        <p:nvGrpSpPr>
          <p:cNvPr id="6" name="グループ化 5">
            <a:extLst>
              <a:ext uri="{FF2B5EF4-FFF2-40B4-BE49-F238E27FC236}">
                <a16:creationId xmlns:a16="http://schemas.microsoft.com/office/drawing/2014/main" id="{EF245AB2-EEFC-E284-5AE8-75133D5967C5}"/>
              </a:ext>
            </a:extLst>
          </p:cNvPr>
          <p:cNvGrpSpPr/>
          <p:nvPr/>
        </p:nvGrpSpPr>
        <p:grpSpPr>
          <a:xfrm>
            <a:off x="1857899" y="638294"/>
            <a:ext cx="1124050" cy="1124050"/>
            <a:chOff x="1007265" y="2577396"/>
            <a:chExt cx="962823" cy="928507"/>
          </a:xfrm>
        </p:grpSpPr>
        <p:sp>
          <p:nvSpPr>
            <p:cNvPr id="8" name="四角形: 角を丸くする 7">
              <a:extLst>
                <a:ext uri="{FF2B5EF4-FFF2-40B4-BE49-F238E27FC236}">
                  <a16:creationId xmlns:a16="http://schemas.microsoft.com/office/drawing/2014/main" id="{2C0293F5-25A2-BAAD-C36A-F8BD7527D984}"/>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図 8" descr="QR コード&#10;&#10;AI 生成コンテンツは誤りを含む可能性があります。">
              <a:extLst>
                <a:ext uri="{FF2B5EF4-FFF2-40B4-BE49-F238E27FC236}">
                  <a16:creationId xmlns:a16="http://schemas.microsoft.com/office/drawing/2014/main" id="{E1ADE3E5-BA39-5AEE-8BD7-DDD260354942}"/>
                </a:ext>
              </a:extLst>
            </p:cNvPr>
            <p:cNvPicPr>
              <a:picLocks noChangeAspect="1"/>
            </p:cNvPicPr>
            <p:nvPr/>
          </p:nvPicPr>
          <p:blipFill>
            <a:blip r:embed="rId5"/>
            <a:stretch>
              <a:fillRect/>
            </a:stretch>
          </p:blipFill>
          <p:spPr>
            <a:xfrm>
              <a:off x="1042659" y="2598008"/>
              <a:ext cx="883492" cy="878787"/>
            </a:xfrm>
            <a:prstGeom prst="rect">
              <a:avLst/>
            </a:prstGeom>
          </p:spPr>
        </p:pic>
      </p:grpSp>
      <p:sp>
        <p:nvSpPr>
          <p:cNvPr id="10" name="四角形: 角を丸くする 9">
            <a:extLst>
              <a:ext uri="{FF2B5EF4-FFF2-40B4-BE49-F238E27FC236}">
                <a16:creationId xmlns:a16="http://schemas.microsoft.com/office/drawing/2014/main" id="{A632D3BE-975C-57AE-94DC-B6F7FC911B67}"/>
              </a:ext>
            </a:extLst>
          </p:cNvPr>
          <p:cNvSpPr/>
          <p:nvPr/>
        </p:nvSpPr>
        <p:spPr>
          <a:xfrm>
            <a:off x="1924171" y="37747"/>
            <a:ext cx="988031" cy="2715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秋田大学オリジナル</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1838074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B18B7-95B3-8DEF-89E7-D8EB11A4D469}"/>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BB553E1C-93E5-7741-5BE0-21B6F34BCC2A}"/>
              </a:ext>
            </a:extLst>
          </p:cNvPr>
          <p:cNvSpPr/>
          <p:nvPr/>
        </p:nvSpPr>
        <p:spPr>
          <a:xfrm>
            <a:off x="-1" y="0"/>
            <a:ext cx="3095625" cy="1944687"/>
          </a:xfrm>
          <a:prstGeom prst="roundRect">
            <a:avLst>
              <a:gd name="adj" fmla="val 13559"/>
            </a:avLst>
          </a:prstGeom>
          <a:solidFill>
            <a:schemeClr val="bg1"/>
          </a:soli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0" rtlCol="0" anchor="b">
            <a:noAutofit/>
          </a:bodyPr>
          <a:lstStyle/>
          <a:p>
            <a:pPr algn="ctr"/>
            <a:endPar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9" name="四角形: 角を丸くする 8">
            <a:extLst>
              <a:ext uri="{FF2B5EF4-FFF2-40B4-BE49-F238E27FC236}">
                <a16:creationId xmlns:a16="http://schemas.microsoft.com/office/drawing/2014/main" id="{3B01305D-13E8-D326-DFB1-2D11528469B1}"/>
              </a:ext>
            </a:extLst>
          </p:cNvPr>
          <p:cNvSpPr/>
          <p:nvPr/>
        </p:nvSpPr>
        <p:spPr>
          <a:xfrm>
            <a:off x="57150" y="90488"/>
            <a:ext cx="2990852" cy="1165609"/>
          </a:xfrm>
          <a:prstGeom prst="roundRect">
            <a:avLst>
              <a:gd name="adj" fmla="val 14805"/>
            </a:avLst>
          </a:prstGeom>
          <a:blipFill dpi="0" rotWithShape="1">
            <a:blip r:embed="rId2"/>
            <a:srcRect/>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四角形: 角を丸くする 15">
            <a:extLst>
              <a:ext uri="{FF2B5EF4-FFF2-40B4-BE49-F238E27FC236}">
                <a16:creationId xmlns:a16="http://schemas.microsoft.com/office/drawing/2014/main" id="{8EFB68EC-218E-33D2-A980-B25E6D96C685}"/>
              </a:ext>
            </a:extLst>
          </p:cNvPr>
          <p:cNvSpPr/>
          <p:nvPr/>
        </p:nvSpPr>
        <p:spPr>
          <a:xfrm>
            <a:off x="204787" y="200497"/>
            <a:ext cx="2662238" cy="913626"/>
          </a:xfrm>
          <a:prstGeom prst="roundRect">
            <a:avLst>
              <a:gd name="adj" fmla="val 13559"/>
            </a:avLst>
          </a:prstGeom>
          <a:solidFill>
            <a:schemeClr val="bg1"/>
          </a:soli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0" rtlCol="0" anchor="b">
            <a:noAutofit/>
          </a:bodyPr>
          <a:lstStyle/>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本カードを破損・紛失された場合、または利用期限を過ぎた場合は、</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いかなる場合であっても商品をご提供できかねますので、</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あらかじめご了承くださいますようお願いいたします。</a:t>
            </a:r>
          </a:p>
        </p:txBody>
      </p:sp>
      <p:sp>
        <p:nvSpPr>
          <p:cNvPr id="5" name="四角形: 角を丸くする 4">
            <a:extLst>
              <a:ext uri="{FF2B5EF4-FFF2-40B4-BE49-F238E27FC236}">
                <a16:creationId xmlns:a16="http://schemas.microsoft.com/office/drawing/2014/main" id="{13B85B00-3FFD-3C66-2B1F-65E05DF0D111}"/>
              </a:ext>
            </a:extLst>
          </p:cNvPr>
          <p:cNvSpPr/>
          <p:nvPr/>
        </p:nvSpPr>
        <p:spPr>
          <a:xfrm>
            <a:off x="284203" y="433133"/>
            <a:ext cx="564212" cy="211760"/>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sp>
        <p:nvSpPr>
          <p:cNvPr id="6" name="四角形: 角を丸くする 5">
            <a:extLst>
              <a:ext uri="{FF2B5EF4-FFF2-40B4-BE49-F238E27FC236}">
                <a16:creationId xmlns:a16="http://schemas.microsoft.com/office/drawing/2014/main" id="{3E8840FA-8BA6-D492-7178-88D799CD79C0}"/>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
        <p:nvSpPr>
          <p:cNvPr id="18" name="四角形: 角を丸くする 17">
            <a:extLst>
              <a:ext uri="{FF2B5EF4-FFF2-40B4-BE49-F238E27FC236}">
                <a16:creationId xmlns:a16="http://schemas.microsoft.com/office/drawing/2014/main" id="{44B6410A-4EAF-C2B7-3C90-53653C8DE213}"/>
              </a:ext>
            </a:extLst>
          </p:cNvPr>
          <p:cNvSpPr/>
          <p:nvPr/>
        </p:nvSpPr>
        <p:spPr>
          <a:xfrm>
            <a:off x="204787" y="1345045"/>
            <a:ext cx="2662238" cy="302565"/>
          </a:xfrm>
          <a:prstGeom prst="roundRect">
            <a:avLst>
              <a:gd name="adj" fmla="val 17073"/>
            </a:avLst>
          </a:prstGeom>
          <a:no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返礼品に関するお問い合わせ</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t>
            </a:r>
          </a:p>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秋田大学総務企画課広報課</a:t>
            </a:r>
          </a:p>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電話：</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018-889-3018</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e-mail</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kouhou@jimu.akita-u.ac.jp</a:t>
            </a:r>
          </a:p>
        </p:txBody>
      </p:sp>
      <p:sp>
        <p:nvSpPr>
          <p:cNvPr id="19" name="四角形: 角を丸くする 18">
            <a:extLst>
              <a:ext uri="{FF2B5EF4-FFF2-40B4-BE49-F238E27FC236}">
                <a16:creationId xmlns:a16="http://schemas.microsoft.com/office/drawing/2014/main" id="{28CE2EAB-21EF-E1A0-BF75-9518E545E6AA}"/>
              </a:ext>
            </a:extLst>
          </p:cNvPr>
          <p:cNvSpPr/>
          <p:nvPr/>
        </p:nvSpPr>
        <p:spPr>
          <a:xfrm>
            <a:off x="204787" y="1744191"/>
            <a:ext cx="2720550" cy="131546"/>
          </a:xfrm>
          <a:prstGeom prst="roundRect">
            <a:avLst>
              <a:gd name="adj" fmla="val 17073"/>
            </a:avLst>
          </a:prstGeom>
          <a:no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「名刺代わりに」は、秋田大学発ベンチャー、</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AUIC</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が提供しています。</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25" name="四角形: 角を丸くする 24">
            <a:extLst>
              <a:ext uri="{FF2B5EF4-FFF2-40B4-BE49-F238E27FC236}">
                <a16:creationId xmlns:a16="http://schemas.microsoft.com/office/drawing/2014/main" id="{727A6FE6-8304-E105-F4CC-BA0CC23DCBE0}"/>
              </a:ext>
            </a:extLst>
          </p:cNvPr>
          <p:cNvSpPr/>
          <p:nvPr/>
        </p:nvSpPr>
        <p:spPr>
          <a:xfrm>
            <a:off x="170288" y="200497"/>
            <a:ext cx="2720550" cy="164630"/>
          </a:xfrm>
          <a:prstGeom prst="roundRect">
            <a:avLst>
              <a:gd name="adj" fmla="val 17073"/>
            </a:avLst>
          </a:prstGeom>
          <a:no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［使用期限：</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20</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年     月     日 </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23</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59</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まで］</a:t>
            </a:r>
          </a:p>
        </p:txBody>
      </p:sp>
      <p:sp>
        <p:nvSpPr>
          <p:cNvPr id="26" name="四角形: 角を丸くする 25">
            <a:extLst>
              <a:ext uri="{FF2B5EF4-FFF2-40B4-BE49-F238E27FC236}">
                <a16:creationId xmlns:a16="http://schemas.microsoft.com/office/drawing/2014/main" id="{501FA509-A0BD-AC34-663F-24EDF71C7E51}"/>
              </a:ext>
            </a:extLst>
          </p:cNvPr>
          <p:cNvSpPr/>
          <p:nvPr/>
        </p:nvSpPr>
        <p:spPr>
          <a:xfrm>
            <a:off x="1042276" y="442292"/>
            <a:ext cx="1429461"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20727794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E482-CD52-F8FD-98E2-9E055AACFAE8}"/>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CCA3E01C-C76E-593A-E731-B86B3B2C5FC5}"/>
              </a:ext>
            </a:extLst>
          </p:cNvPr>
          <p:cNvSpPr/>
          <p:nvPr/>
        </p:nvSpPr>
        <p:spPr>
          <a:xfrm>
            <a:off x="-1" y="0"/>
            <a:ext cx="3095625" cy="1944688"/>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F52F5980-A7AD-CF72-0B46-0775AF3BED24}"/>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pic>
        <p:nvPicPr>
          <p:cNvPr id="8" name="図 7" descr="QR コード が含まれている画像&#10;&#10;AI 生成コンテンツは誤りを含む可能性があります。">
            <a:extLst>
              <a:ext uri="{FF2B5EF4-FFF2-40B4-BE49-F238E27FC236}">
                <a16:creationId xmlns:a16="http://schemas.microsoft.com/office/drawing/2014/main" id="{422C85F7-3C51-3682-AF2C-13745A919A3B}"/>
              </a:ext>
            </a:extLst>
          </p:cNvPr>
          <p:cNvPicPr>
            <a:picLocks noChangeAspect="1"/>
          </p:cNvPicPr>
          <p:nvPr/>
        </p:nvPicPr>
        <p:blipFill>
          <a:blip r:embed="rId2"/>
          <a:srcRect t="10061"/>
          <a:stretch>
            <a:fillRect/>
          </a:stretch>
        </p:blipFill>
        <p:spPr>
          <a:xfrm>
            <a:off x="963331" y="310590"/>
            <a:ext cx="1168952" cy="1051344"/>
          </a:xfrm>
          <a:prstGeom prst="rect">
            <a:avLst/>
          </a:prstGeom>
        </p:spPr>
      </p:pic>
      <p:pic>
        <p:nvPicPr>
          <p:cNvPr id="12" name="図 11" descr="手紙&#10;&#10;AI 生成コンテンツは誤りを含む可能性があります。">
            <a:extLst>
              <a:ext uri="{FF2B5EF4-FFF2-40B4-BE49-F238E27FC236}">
                <a16:creationId xmlns:a16="http://schemas.microsoft.com/office/drawing/2014/main" id="{DCA32742-638F-6C27-5D31-330945ACD0A8}"/>
              </a:ext>
            </a:extLst>
          </p:cNvPr>
          <p:cNvPicPr>
            <a:picLocks noChangeAspect="1"/>
          </p:cNvPicPr>
          <p:nvPr/>
        </p:nvPicPr>
        <p:blipFill>
          <a:blip r:embed="rId3">
            <a:extLst>
              <a:ext uri="{28A0092B-C50C-407E-A947-70E740481C1C}">
                <a14:useLocalDpi xmlns:a14="http://schemas.microsoft.com/office/drawing/2010/main" val="0"/>
              </a:ext>
            </a:extLst>
          </a:blip>
          <a:srcRect l="28615" t="60684" r="29923" b="22971"/>
          <a:stretch>
            <a:fillRect/>
          </a:stretch>
        </p:blipFill>
        <p:spPr>
          <a:xfrm>
            <a:off x="842363" y="1361934"/>
            <a:ext cx="1410887" cy="335053"/>
          </a:xfrm>
          <a:prstGeom prst="rect">
            <a:avLst/>
          </a:prstGeom>
        </p:spPr>
      </p:pic>
    </p:spTree>
    <p:extLst>
      <p:ext uri="{BB962C8B-B14F-4D97-AF65-F5344CB8AC3E}">
        <p14:creationId xmlns:p14="http://schemas.microsoft.com/office/powerpoint/2010/main" val="25428008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F8D0D-E952-8597-8F59-62AFCA40F23C}"/>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A513DBA5-A6A2-04F9-9404-D3CAB9A8E6C1}"/>
              </a:ext>
            </a:extLst>
          </p:cNvPr>
          <p:cNvSpPr/>
          <p:nvPr/>
        </p:nvSpPr>
        <p:spPr>
          <a:xfrm>
            <a:off x="-1" y="0"/>
            <a:ext cx="3095625" cy="1944688"/>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C41296FF-CEE7-0284-0B45-FEC67A473C7A}"/>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pic>
        <p:nvPicPr>
          <p:cNvPr id="8" name="図 7" descr="QR コード が含まれている画像&#10;&#10;AI 生成コンテンツは誤りを含む可能性があります。">
            <a:extLst>
              <a:ext uri="{FF2B5EF4-FFF2-40B4-BE49-F238E27FC236}">
                <a16:creationId xmlns:a16="http://schemas.microsoft.com/office/drawing/2014/main" id="{001CC289-9B09-F626-9F5C-79B98BA27962}"/>
              </a:ext>
            </a:extLst>
          </p:cNvPr>
          <p:cNvPicPr>
            <a:picLocks noChangeAspect="1"/>
          </p:cNvPicPr>
          <p:nvPr/>
        </p:nvPicPr>
        <p:blipFill>
          <a:blip r:embed="rId2"/>
          <a:srcRect t="10061"/>
          <a:stretch>
            <a:fillRect/>
          </a:stretch>
        </p:blipFill>
        <p:spPr>
          <a:xfrm>
            <a:off x="763524" y="287480"/>
            <a:ext cx="1568575" cy="1410761"/>
          </a:xfrm>
          <a:prstGeom prst="rect">
            <a:avLst/>
          </a:prstGeom>
        </p:spPr>
      </p:pic>
    </p:spTree>
    <p:extLst>
      <p:ext uri="{BB962C8B-B14F-4D97-AF65-F5344CB8AC3E}">
        <p14:creationId xmlns:p14="http://schemas.microsoft.com/office/powerpoint/2010/main" val="1551407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8B070-C507-E728-606C-59DCD6F8E0E9}"/>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38867D26-5329-01FE-691E-F877DBF6A0F0}"/>
              </a:ext>
            </a:extLst>
          </p:cNvPr>
          <p:cNvSpPr/>
          <p:nvPr/>
        </p:nvSpPr>
        <p:spPr>
          <a:xfrm>
            <a:off x="-1" y="0"/>
            <a:ext cx="3095625" cy="1944688"/>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9F51CB92-727C-2210-6626-026F82B5E160}"/>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pic>
        <p:nvPicPr>
          <p:cNvPr id="5" name="図 4" descr="暗い, 夜空, 花火, 星 が含まれている画像&#10;&#10;AI 生成コンテンツは誤りを含む可能性があります。">
            <a:extLst>
              <a:ext uri="{FF2B5EF4-FFF2-40B4-BE49-F238E27FC236}">
                <a16:creationId xmlns:a16="http://schemas.microsoft.com/office/drawing/2014/main" id="{2F297938-DE2C-A613-8A36-8103AF20DD03}"/>
              </a:ext>
            </a:extLst>
          </p:cNvPr>
          <p:cNvPicPr>
            <a:picLocks noChangeAspect="1"/>
          </p:cNvPicPr>
          <p:nvPr/>
        </p:nvPicPr>
        <p:blipFill>
          <a:blip r:embed="rId2">
            <a:extLst>
              <a:ext uri="{28A0092B-C50C-407E-A947-70E740481C1C}">
                <a14:useLocalDpi xmlns:a14="http://schemas.microsoft.com/office/drawing/2010/main" val="0"/>
              </a:ext>
            </a:extLst>
          </a:blip>
          <a:srcRect l="30593" t="41579" r="30628" b="41595"/>
          <a:stretch>
            <a:fillRect/>
          </a:stretch>
        </p:blipFill>
        <p:spPr>
          <a:xfrm>
            <a:off x="-49418" y="-5088"/>
            <a:ext cx="3194459" cy="1944688"/>
          </a:xfrm>
          <a:prstGeom prst="rect">
            <a:avLst/>
          </a:prstGeom>
        </p:spPr>
      </p:pic>
      <p:pic>
        <p:nvPicPr>
          <p:cNvPr id="6" name="図 5" descr="テキスト, 手紙&#10;&#10;AI 生成コンテンツは誤りを含む可能性があります。">
            <a:extLst>
              <a:ext uri="{FF2B5EF4-FFF2-40B4-BE49-F238E27FC236}">
                <a16:creationId xmlns:a16="http://schemas.microsoft.com/office/drawing/2014/main" id="{7E835ECA-29F2-E7CA-1BF8-8E6B73217947}"/>
              </a:ext>
            </a:extLst>
          </p:cNvPr>
          <p:cNvPicPr>
            <a:picLocks noChangeAspect="1"/>
          </p:cNvPicPr>
          <p:nvPr/>
        </p:nvPicPr>
        <p:blipFill>
          <a:blip r:embed="rId3">
            <a:extLst>
              <a:ext uri="{28A0092B-C50C-407E-A947-70E740481C1C}">
                <a14:useLocalDpi xmlns:a14="http://schemas.microsoft.com/office/drawing/2010/main" val="0"/>
              </a:ext>
            </a:extLst>
          </a:blip>
          <a:srcRect l="2725" t="1600" r="2855" b="1649"/>
          <a:stretch>
            <a:fillRect/>
          </a:stretch>
        </p:blipFill>
        <p:spPr>
          <a:xfrm>
            <a:off x="2424" y="5088"/>
            <a:ext cx="3093201" cy="1939600"/>
          </a:xfrm>
          <a:prstGeom prst="rect">
            <a:avLst/>
          </a:prstGeom>
        </p:spPr>
      </p:pic>
    </p:spTree>
    <p:extLst>
      <p:ext uri="{BB962C8B-B14F-4D97-AF65-F5344CB8AC3E}">
        <p14:creationId xmlns:p14="http://schemas.microsoft.com/office/powerpoint/2010/main" val="898584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8E166-5A1C-DEFF-E04F-32B6276ED67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238F993D-1469-4F6A-03CB-BA83FD92C7ED}"/>
              </a:ext>
            </a:extLst>
          </p:cNvPr>
          <p:cNvGrpSpPr/>
          <p:nvPr/>
        </p:nvGrpSpPr>
        <p:grpSpPr>
          <a:xfrm>
            <a:off x="-1" y="-5087"/>
            <a:ext cx="3095626" cy="1949775"/>
            <a:chOff x="-1" y="-5087"/>
            <a:chExt cx="3095626" cy="1949775"/>
          </a:xfrm>
        </p:grpSpPr>
        <p:sp>
          <p:nvSpPr>
            <p:cNvPr id="4" name="四角形: 角を丸くする 3">
              <a:extLst>
                <a:ext uri="{FF2B5EF4-FFF2-40B4-BE49-F238E27FC236}">
                  <a16:creationId xmlns:a16="http://schemas.microsoft.com/office/drawing/2014/main" id="{2336F9C0-2FAF-D0E9-7D59-BECD98BB31F4}"/>
                </a:ext>
              </a:extLst>
            </p:cNvPr>
            <p:cNvSpPr/>
            <p:nvPr/>
          </p:nvSpPr>
          <p:spPr>
            <a:xfrm>
              <a:off x="0" y="0"/>
              <a:ext cx="3095625" cy="1944688"/>
            </a:xfrm>
            <a:prstGeom prst="roundRect">
              <a:avLst>
                <a:gd name="adj" fmla="val 0"/>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4CFFB4F-E8AD-2C0F-DAAD-F33D6AA88B31}"/>
                </a:ext>
              </a:extLst>
            </p:cNvPr>
            <p:cNvSpPr/>
            <p:nvPr/>
          </p:nvSpPr>
          <p:spPr>
            <a:xfrm>
              <a:off x="1793799" y="279749"/>
              <a:ext cx="1224849" cy="1169715"/>
            </a:xfrm>
            <a:prstGeom prst="roundRect">
              <a:avLst>
                <a:gd name="adj" fmla="val 2272"/>
              </a:avLst>
            </a:prstGeom>
            <a:solidFill>
              <a:schemeClr val="bg1"/>
            </a:solidFill>
            <a:ln w="3175">
              <a:noFill/>
            </a:ln>
            <a:effectLst>
              <a:outerShdw blurRad="63500" sx="98000" sy="98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p>
          </p:txBody>
        </p:sp>
        <p:sp>
          <p:nvSpPr>
            <p:cNvPr id="6" name="四角形: 角を丸くする 5">
              <a:extLst>
                <a:ext uri="{FF2B5EF4-FFF2-40B4-BE49-F238E27FC236}">
                  <a16:creationId xmlns:a16="http://schemas.microsoft.com/office/drawing/2014/main" id="{8588041A-7389-BC16-4294-E387B33409FC}"/>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grpSp>
          <p:nvGrpSpPr>
            <p:cNvPr id="15" name="グループ化 14">
              <a:extLst>
                <a:ext uri="{FF2B5EF4-FFF2-40B4-BE49-F238E27FC236}">
                  <a16:creationId xmlns:a16="http://schemas.microsoft.com/office/drawing/2014/main" id="{642D4B58-5842-F6EA-BD86-8B701DD75FB1}"/>
                </a:ext>
              </a:extLst>
            </p:cNvPr>
            <p:cNvGrpSpPr/>
            <p:nvPr/>
          </p:nvGrpSpPr>
          <p:grpSpPr>
            <a:xfrm>
              <a:off x="72210" y="1591273"/>
              <a:ext cx="2951201" cy="268358"/>
              <a:chOff x="425450" y="774700"/>
              <a:chExt cx="2996650" cy="390450"/>
            </a:xfrm>
            <a:effectLst/>
          </p:grpSpPr>
          <p:sp>
            <p:nvSpPr>
              <p:cNvPr id="16" name="四角形: 角を丸くする 15">
                <a:extLst>
                  <a:ext uri="{FF2B5EF4-FFF2-40B4-BE49-F238E27FC236}">
                    <a16:creationId xmlns:a16="http://schemas.microsoft.com/office/drawing/2014/main" id="{B8FAC139-BE2E-B382-AF7C-D3B16E569877}"/>
                  </a:ext>
                </a:extLst>
              </p:cNvPr>
              <p:cNvSpPr/>
              <p:nvPr/>
            </p:nvSpPr>
            <p:spPr>
              <a:xfrm>
                <a:off x="425450" y="774700"/>
                <a:ext cx="2996650" cy="390450"/>
              </a:xfrm>
              <a:prstGeom prst="roundRect">
                <a:avLst>
                  <a:gd name="adj" fmla="val 8200"/>
                </a:avLst>
              </a:prstGeom>
              <a:solidFill>
                <a:schemeClr val="bg1"/>
              </a:solidFill>
              <a:ln w="34925">
                <a:noFill/>
                <a:extLst>
                  <a:ext uri="{C807C97D-BFC1-408E-A445-0C87EB9F89A2}">
                    <ask:lineSketchStyleProps xmlns:ask="http://schemas.microsoft.com/office/drawing/2018/sketchyshapes">
                      <ask:type>
                        <ask:lineSketchNone/>
                      </ask:type>
                    </ask:lineSketchStyleProps>
                  </a:ext>
                </a:extLst>
              </a:ln>
              <a:effectLst>
                <a:outerShdw blurRad="63500" sx="99000" sy="99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r>
                  <a:rPr kumimoji="1" lang="en-US" altLang="ja-JP" dirty="0">
                    <a:solidFill>
                      <a:schemeClr val="tx1"/>
                    </a:solidFill>
                  </a:rPr>
                  <a:t>12345678</a:t>
                </a:r>
                <a:endParaRPr kumimoji="1" lang="ja-JP" altLang="en-US" dirty="0">
                  <a:solidFill>
                    <a:schemeClr val="tx1"/>
                  </a:solidFill>
                </a:endParaRPr>
              </a:p>
            </p:txBody>
          </p:sp>
          <p:sp>
            <p:nvSpPr>
              <p:cNvPr id="17" name="四角形: 角を丸くする 16">
                <a:extLst>
                  <a:ext uri="{FF2B5EF4-FFF2-40B4-BE49-F238E27FC236}">
                    <a16:creationId xmlns:a16="http://schemas.microsoft.com/office/drawing/2014/main" id="{4D9475F1-EE45-7692-077D-93BCDCA82CF3}"/>
                  </a:ext>
                </a:extLst>
              </p:cNvPr>
              <p:cNvSpPr/>
              <p:nvPr/>
            </p:nvSpPr>
            <p:spPr>
              <a:xfrm>
                <a:off x="569288"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25" name="テキスト ボックス 24">
              <a:extLst>
                <a:ext uri="{FF2B5EF4-FFF2-40B4-BE49-F238E27FC236}">
                  <a16:creationId xmlns:a16="http://schemas.microsoft.com/office/drawing/2014/main" id="{DA1E5FF4-3882-E69D-FE4A-50D5829D8060}"/>
                </a:ext>
              </a:extLst>
            </p:cNvPr>
            <p:cNvSpPr txBox="1"/>
            <p:nvPr/>
          </p:nvSpPr>
          <p:spPr>
            <a:xfrm>
              <a:off x="80932" y="274674"/>
              <a:ext cx="1654139" cy="1174790"/>
            </a:xfrm>
            <a:prstGeom prst="roundRect">
              <a:avLst/>
            </a:prstGeom>
            <a:noFill/>
            <a:effectLst>
              <a:softEdge rad="25400"/>
            </a:effectLst>
          </p:spPr>
          <p:txBody>
            <a:bodyPr wrap="square" lIns="0" tIns="0" rIns="0" bIns="0" anchor="ctr">
              <a:noAutofit/>
            </a:bodyPr>
            <a:lstStyle/>
            <a:p>
              <a:pPr algn="ctr"/>
              <a:r>
                <a:rPr lang="ja-JP" altLang="en-US" sz="700" b="1" dirty="0">
                  <a:latin typeface="UD デジタル 教科書体 NP-R" panose="02020400000000000000" pitchFamily="18" charset="-128"/>
                  <a:ea typeface="UD デジタル 教科書体 NP-R" panose="02020400000000000000" pitchFamily="18" charset="-128"/>
                </a:rPr>
                <a:t> </a:t>
              </a:r>
              <a:r>
                <a:rPr lang="ja-JP" altLang="en-US" sz="1050" b="1" dirty="0">
                  <a:latin typeface="UD デジタル 教科書体 NP-R" panose="02020400000000000000" pitchFamily="18" charset="-128"/>
                  <a:ea typeface="UD デジタル 教科書体 NP-R" panose="02020400000000000000" pitchFamily="18" charset="-128"/>
                </a:rPr>
                <a:t>ギフトを受け取るには？</a:t>
              </a:r>
              <a:endParaRPr lang="en-US" altLang="ja-JP" sz="800" b="1" dirty="0">
                <a:latin typeface="UD デジタル 教科書体 NP-R" panose="02020400000000000000" pitchFamily="18" charset="-128"/>
                <a:ea typeface="UD デジタル 教科書体 NP-R" panose="02020400000000000000" pitchFamily="18" charset="-128"/>
              </a:endParaRPr>
            </a:p>
            <a:p>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１．右のコードをスマートフォン</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　　で読み込む</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２．下の８桁の数字を入力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３．お届け先住所を入力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４．発送状況も確認できます</a:t>
              </a:r>
              <a:endParaRPr lang="en-US" altLang="ja-JP" sz="700" b="1"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r>
                <a:rPr lang="ja-JP" altLang="en-US" sz="600" dirty="0">
                  <a:latin typeface="UD デジタル 教科書体 NP-R" panose="02020400000000000000" pitchFamily="18" charset="-128"/>
                  <a:ea typeface="UD デジタル 教科書体 NP-R" panose="02020400000000000000" pitchFamily="18" charset="-128"/>
                </a:rPr>
                <a:t>荷物を送る方もメッセージを残せます。同じ</a:t>
              </a:r>
              <a:r>
                <a:rPr lang="en-US" altLang="ja-JP" sz="600" dirty="0">
                  <a:latin typeface="UD デジタル 教科書体 NP-R" panose="02020400000000000000" pitchFamily="18" charset="-128"/>
                  <a:ea typeface="UD デジタル 教科書体 NP-R" panose="02020400000000000000" pitchFamily="18" charset="-128"/>
                </a:rPr>
                <a:t>QR</a:t>
              </a:r>
              <a:r>
                <a:rPr lang="ja-JP" altLang="en-US" sz="600" dirty="0">
                  <a:latin typeface="UD デジタル 教科書体 NP-R" panose="02020400000000000000" pitchFamily="18" charset="-128"/>
                  <a:ea typeface="UD デジタル 教科書体 NP-R" panose="02020400000000000000" pitchFamily="18" charset="-128"/>
                </a:rPr>
                <a:t>コードを読み込んで</a:t>
              </a:r>
              <a:r>
                <a:rPr lang="en-US" altLang="ja-JP" sz="600" dirty="0">
                  <a:latin typeface="UD デジタル 教科書体 NP-R" panose="02020400000000000000" pitchFamily="18" charset="-128"/>
                  <a:ea typeface="UD デジタル 教科書体 NP-R" panose="02020400000000000000" pitchFamily="18" charset="-128"/>
                </a:rPr>
                <a:t>PIN</a:t>
              </a:r>
              <a:r>
                <a:rPr lang="ja-JP" altLang="en-US" sz="600" dirty="0">
                  <a:latin typeface="UD デジタル 教科書体 NP-R" panose="02020400000000000000" pitchFamily="18" charset="-128"/>
                  <a:ea typeface="UD デジタル 教科書体 NP-R" panose="02020400000000000000" pitchFamily="18" charset="-128"/>
                </a:rPr>
                <a:t>コードを入力し、一番下のチャット欄で会話ができます。</a:t>
              </a:r>
              <a:endParaRPr lang="en-US" altLang="ja-JP" sz="600" dirty="0">
                <a:latin typeface="UD デジタル 教科書体 NP-R" panose="02020400000000000000" pitchFamily="18" charset="-128"/>
                <a:ea typeface="UD デジタル 教科書体 NP-R" panose="02020400000000000000" pitchFamily="18" charset="-128"/>
              </a:endParaRPr>
            </a:p>
          </p:txBody>
        </p:sp>
        <p:sp>
          <p:nvSpPr>
            <p:cNvPr id="30" name="テキスト ボックス 29">
              <a:extLst>
                <a:ext uri="{FF2B5EF4-FFF2-40B4-BE49-F238E27FC236}">
                  <a16:creationId xmlns:a16="http://schemas.microsoft.com/office/drawing/2014/main" id="{A4BFE86F-199C-ABE2-1410-7C88F42AF691}"/>
                </a:ext>
              </a:extLst>
            </p:cNvPr>
            <p:cNvSpPr txBox="1"/>
            <p:nvPr/>
          </p:nvSpPr>
          <p:spPr>
            <a:xfrm>
              <a:off x="1882496" y="111548"/>
              <a:ext cx="1047454" cy="175909"/>
            </a:xfrm>
            <a:prstGeom prst="roundRect">
              <a:avLst/>
            </a:prstGeom>
            <a:noFill/>
            <a:effectLst>
              <a:softEdge rad="25400"/>
            </a:effectLst>
          </p:spPr>
          <p:txBody>
            <a:bodyPr wrap="square" lIns="0" tIns="0" rIns="0" bIns="0" anchor="ctr">
              <a:noAutofit/>
            </a:bodyPr>
            <a:lstStyle/>
            <a:p>
              <a:pPr algn="ctr"/>
              <a:r>
                <a:rPr lang="ja-JP" altLang="en-US" sz="800" dirty="0">
                  <a:latin typeface="UD デジタル 教科書体 NP-R" panose="02020400000000000000" pitchFamily="18" charset="-128"/>
                  <a:ea typeface="UD デジタル 教科書体 NP-R" panose="02020400000000000000" pitchFamily="18" charset="-128"/>
                </a:rPr>
                <a:t>金の鼎庵</a:t>
              </a:r>
              <a:r>
                <a:rPr kumimoji="1" lang="ja-JP" altLang="en-US" sz="800" dirty="0">
                  <a:latin typeface="UD デジタル 教科書体 NP-R" panose="02020400000000000000" pitchFamily="18" charset="-128"/>
                  <a:ea typeface="UD デジタル 教科書体 NP-R" panose="02020400000000000000" pitchFamily="18" charset="-128"/>
                </a:rPr>
                <a:t> </a:t>
              </a:r>
              <a:r>
                <a:rPr lang="ja-JP" altLang="en-US" sz="800" dirty="0">
                  <a:latin typeface="UD デジタル 教科書体 NP-R" panose="02020400000000000000" pitchFamily="18" charset="-128"/>
                  <a:ea typeface="UD デジタル 教科書体 NP-R" panose="02020400000000000000" pitchFamily="18" charset="-128"/>
                </a:rPr>
                <a:t>詰め合わせ</a:t>
              </a:r>
              <a:endParaRPr lang="en-US" altLang="ja-JP" sz="800" dirty="0">
                <a:latin typeface="UD デジタル 教科書体 NP-R" panose="02020400000000000000" pitchFamily="18" charset="-128"/>
                <a:ea typeface="UD デジタル 教科書体 NP-R" panose="02020400000000000000" pitchFamily="18" charset="-128"/>
              </a:endParaRPr>
            </a:p>
          </p:txBody>
        </p:sp>
        <p:grpSp>
          <p:nvGrpSpPr>
            <p:cNvPr id="31" name="グループ化 30">
              <a:extLst>
                <a:ext uri="{FF2B5EF4-FFF2-40B4-BE49-F238E27FC236}">
                  <a16:creationId xmlns:a16="http://schemas.microsoft.com/office/drawing/2014/main" id="{58B82D93-1077-80AB-ECA7-2F5BA3DB6A36}"/>
                </a:ext>
              </a:extLst>
            </p:cNvPr>
            <p:cNvGrpSpPr/>
            <p:nvPr/>
          </p:nvGrpSpPr>
          <p:grpSpPr>
            <a:xfrm>
              <a:off x="1911254" y="367704"/>
              <a:ext cx="1008000" cy="1008000"/>
              <a:chOff x="1007265" y="2577396"/>
              <a:chExt cx="962823" cy="928507"/>
            </a:xfrm>
          </p:grpSpPr>
          <p:sp>
            <p:nvSpPr>
              <p:cNvPr id="32" name="四角形: 角を丸くする 31">
                <a:extLst>
                  <a:ext uri="{FF2B5EF4-FFF2-40B4-BE49-F238E27FC236}">
                    <a16:creationId xmlns:a16="http://schemas.microsoft.com/office/drawing/2014/main" id="{CE8A1875-619D-4A80-B244-43A7B98F9F7E}"/>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図 32" descr="QR コード&#10;&#10;AI 生成コンテンツは誤りを含む可能性があります。">
                <a:extLst>
                  <a:ext uri="{FF2B5EF4-FFF2-40B4-BE49-F238E27FC236}">
                    <a16:creationId xmlns:a16="http://schemas.microsoft.com/office/drawing/2014/main" id="{57562B35-D453-FEAD-D968-F3E4C4E714FE}"/>
                  </a:ext>
                </a:extLst>
              </p:cNvPr>
              <p:cNvPicPr>
                <a:picLocks noChangeAspect="1"/>
              </p:cNvPicPr>
              <p:nvPr/>
            </p:nvPicPr>
            <p:blipFill>
              <a:blip r:embed="rId2"/>
              <a:stretch>
                <a:fillRect/>
              </a:stretch>
            </p:blipFill>
            <p:spPr>
              <a:xfrm>
                <a:off x="1042659" y="2598008"/>
                <a:ext cx="883492" cy="878787"/>
              </a:xfrm>
              <a:prstGeom prst="rect">
                <a:avLst/>
              </a:prstGeom>
            </p:spPr>
          </p:pic>
        </p:grpSp>
        <p:sp>
          <p:nvSpPr>
            <p:cNvPr id="34" name="四角形: 角を丸くする 33">
              <a:extLst>
                <a:ext uri="{FF2B5EF4-FFF2-40B4-BE49-F238E27FC236}">
                  <a16:creationId xmlns:a16="http://schemas.microsoft.com/office/drawing/2014/main" id="{36E5CD32-5660-8994-D368-B1A598DA8019}"/>
                </a:ext>
              </a:extLst>
            </p:cNvPr>
            <p:cNvSpPr/>
            <p:nvPr/>
          </p:nvSpPr>
          <p:spPr>
            <a:xfrm>
              <a:off x="2105890" y="1463196"/>
              <a:ext cx="600666" cy="77526"/>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500" dirty="0">
                  <a:solidFill>
                    <a:schemeClr val="tx1"/>
                  </a:solidFill>
                  <a:latin typeface="UD デジタル 教科書体 NP-R" panose="02020400000000000000" pitchFamily="18" charset="-128"/>
                  <a:ea typeface="UD デジタル 教科書体 NP-R" panose="02020400000000000000" pitchFamily="18" charset="-128"/>
                </a:rPr>
                <a:t>123-abc…</a:t>
              </a:r>
            </a:p>
          </p:txBody>
        </p:sp>
      </p:grpSp>
    </p:spTree>
    <p:extLst>
      <p:ext uri="{BB962C8B-B14F-4D97-AF65-F5344CB8AC3E}">
        <p14:creationId xmlns:p14="http://schemas.microsoft.com/office/powerpoint/2010/main" val="1089752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47F2-CD3A-C4EE-3DA3-ABEBCB752459}"/>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74B9E721-F3C4-EF33-0A1E-D7EB9B6232A0}"/>
              </a:ext>
            </a:extLst>
          </p:cNvPr>
          <p:cNvSpPr/>
          <p:nvPr/>
        </p:nvSpPr>
        <p:spPr>
          <a:xfrm>
            <a:off x="-1" y="0"/>
            <a:ext cx="3095625" cy="1944688"/>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0DD24A16-8BEE-233F-04B1-B7BB5F43C23C}"/>
              </a:ext>
            </a:extLst>
          </p:cNvPr>
          <p:cNvSpPr/>
          <p:nvPr/>
        </p:nvSpPr>
        <p:spPr>
          <a:xfrm>
            <a:off x="72212" y="63293"/>
            <a:ext cx="2951200" cy="1508331"/>
          </a:xfrm>
          <a:prstGeom prst="roundRect">
            <a:avLst>
              <a:gd name="adj" fmla="val 2272"/>
            </a:avLst>
          </a:prstGeom>
          <a:solidFill>
            <a:schemeClr val="bg1"/>
          </a:solidFill>
          <a:ln w="3175">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p>
        </p:txBody>
      </p:sp>
      <p:sp>
        <p:nvSpPr>
          <p:cNvPr id="6" name="四角形: 角を丸くする 5">
            <a:extLst>
              <a:ext uri="{FF2B5EF4-FFF2-40B4-BE49-F238E27FC236}">
                <a16:creationId xmlns:a16="http://schemas.microsoft.com/office/drawing/2014/main" id="{46965A33-4560-CB04-5CA4-55346C1D5495}"/>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grpSp>
        <p:nvGrpSpPr>
          <p:cNvPr id="15" name="グループ化 14">
            <a:extLst>
              <a:ext uri="{FF2B5EF4-FFF2-40B4-BE49-F238E27FC236}">
                <a16:creationId xmlns:a16="http://schemas.microsoft.com/office/drawing/2014/main" id="{7668E64F-5D05-01AD-A231-006BB25A61AF}"/>
              </a:ext>
            </a:extLst>
          </p:cNvPr>
          <p:cNvGrpSpPr/>
          <p:nvPr/>
        </p:nvGrpSpPr>
        <p:grpSpPr>
          <a:xfrm>
            <a:off x="72211" y="1604962"/>
            <a:ext cx="2951201" cy="276433"/>
            <a:chOff x="425450" y="774699"/>
            <a:chExt cx="2996650" cy="390450"/>
          </a:xfrm>
        </p:grpSpPr>
        <p:sp>
          <p:nvSpPr>
            <p:cNvPr id="16" name="四角形: 角を丸くする 15">
              <a:extLst>
                <a:ext uri="{FF2B5EF4-FFF2-40B4-BE49-F238E27FC236}">
                  <a16:creationId xmlns:a16="http://schemas.microsoft.com/office/drawing/2014/main" id="{A19A2B7C-4896-5636-8109-DB85C59EEB25}"/>
                </a:ext>
              </a:extLst>
            </p:cNvPr>
            <p:cNvSpPr/>
            <p:nvPr/>
          </p:nvSpPr>
          <p:spPr>
            <a:xfrm>
              <a:off x="425450" y="774699"/>
              <a:ext cx="2996650" cy="390450"/>
            </a:xfrm>
            <a:prstGeom prst="roundRect">
              <a:avLst>
                <a:gd name="adj" fmla="val 17073"/>
              </a:avLst>
            </a:prstGeom>
            <a:solidFill>
              <a:schemeClr val="bg1"/>
            </a:solidFill>
            <a:ln w="3175">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r>
                <a:rPr kumimoji="1" lang="en-US" altLang="ja-JP" dirty="0">
                  <a:solidFill>
                    <a:schemeClr val="tx1"/>
                  </a:solidFill>
                </a:rPr>
                <a:t>12345678</a:t>
              </a:r>
              <a:endParaRPr kumimoji="1" lang="ja-JP" altLang="en-US" dirty="0">
                <a:solidFill>
                  <a:schemeClr val="tx1"/>
                </a:solidFill>
              </a:endParaRPr>
            </a:p>
          </p:txBody>
        </p:sp>
        <p:sp>
          <p:nvSpPr>
            <p:cNvPr id="17" name="四角形: 角を丸くする 16">
              <a:extLst>
                <a:ext uri="{FF2B5EF4-FFF2-40B4-BE49-F238E27FC236}">
                  <a16:creationId xmlns:a16="http://schemas.microsoft.com/office/drawing/2014/main" id="{343DDC2C-A280-22D6-243E-99FFB35B1AF0}"/>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25" name="テキスト ボックス 24">
            <a:extLst>
              <a:ext uri="{FF2B5EF4-FFF2-40B4-BE49-F238E27FC236}">
                <a16:creationId xmlns:a16="http://schemas.microsoft.com/office/drawing/2014/main" id="{33767636-A77A-59DA-018C-5794B78F00F4}"/>
              </a:ext>
            </a:extLst>
          </p:cNvPr>
          <p:cNvSpPr txBox="1"/>
          <p:nvPr/>
        </p:nvSpPr>
        <p:spPr>
          <a:xfrm>
            <a:off x="1369273" y="234251"/>
            <a:ext cx="1654139" cy="1174790"/>
          </a:xfrm>
          <a:prstGeom prst="roundRect">
            <a:avLst/>
          </a:prstGeom>
          <a:noFill/>
          <a:effectLst>
            <a:softEdge rad="25400"/>
          </a:effectLst>
        </p:spPr>
        <p:txBody>
          <a:bodyPr wrap="square" lIns="0" tIns="0" rIns="0" bIns="0" anchor="ctr">
            <a:noAutofit/>
          </a:bodyPr>
          <a:lstStyle/>
          <a:p>
            <a:pPr algn="ctr"/>
            <a:r>
              <a:rPr lang="ja-JP" altLang="en-US" sz="700" b="1" dirty="0">
                <a:latin typeface="UD デジタル 教科書体 NP-R" panose="02020400000000000000" pitchFamily="18" charset="-128"/>
                <a:ea typeface="UD デジタル 教科書体 NP-R" panose="02020400000000000000" pitchFamily="18" charset="-128"/>
              </a:rPr>
              <a:t> </a:t>
            </a:r>
            <a:r>
              <a:rPr lang="ja-JP" altLang="en-US" sz="1050" b="1" dirty="0">
                <a:latin typeface="UD デジタル 教科書体 NP-R" panose="02020400000000000000" pitchFamily="18" charset="-128"/>
                <a:ea typeface="UD デジタル 教科書体 NP-R" panose="02020400000000000000" pitchFamily="18" charset="-128"/>
              </a:rPr>
              <a:t>ギフトを受け取るには</a:t>
            </a:r>
            <a:endParaRPr lang="en-US" altLang="ja-JP" sz="800" b="1" dirty="0">
              <a:latin typeface="UD デジタル 教科書体 NP-R" panose="02020400000000000000" pitchFamily="18" charset="-128"/>
              <a:ea typeface="UD デジタル 教科書体 NP-R" panose="02020400000000000000" pitchFamily="18" charset="-128"/>
            </a:endParaRPr>
          </a:p>
          <a:p>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１．左のコードをスマートフォン</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　　で読み込む</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２．下記の８桁の数字を入力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３．お届け先住所を入力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４．発送状況も確認できます</a:t>
            </a:r>
            <a:endParaRPr lang="en-US" altLang="ja-JP" sz="700" b="1"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r>
              <a:rPr lang="ja-JP" altLang="en-US" sz="600" dirty="0">
                <a:latin typeface="UD デジタル 教科書体 NP-R" panose="02020400000000000000" pitchFamily="18" charset="-128"/>
                <a:ea typeface="UD デジタル 教科書体 NP-R" panose="02020400000000000000" pitchFamily="18" charset="-128"/>
              </a:rPr>
              <a:t>荷物を送る方もメッセージを残せます。同じ</a:t>
            </a:r>
            <a:r>
              <a:rPr lang="en-US" altLang="ja-JP" sz="600" dirty="0">
                <a:latin typeface="UD デジタル 教科書体 NP-R" panose="02020400000000000000" pitchFamily="18" charset="-128"/>
                <a:ea typeface="UD デジタル 教科書体 NP-R" panose="02020400000000000000" pitchFamily="18" charset="-128"/>
              </a:rPr>
              <a:t>QR</a:t>
            </a:r>
            <a:r>
              <a:rPr lang="ja-JP" altLang="en-US" sz="600" dirty="0">
                <a:latin typeface="UD デジタル 教科書体 NP-R" panose="02020400000000000000" pitchFamily="18" charset="-128"/>
                <a:ea typeface="UD デジタル 教科書体 NP-R" panose="02020400000000000000" pitchFamily="18" charset="-128"/>
              </a:rPr>
              <a:t>コードを読み込んで</a:t>
            </a:r>
            <a:r>
              <a:rPr lang="en-US" altLang="ja-JP" sz="600" dirty="0">
                <a:latin typeface="UD デジタル 教科書体 NP-R" panose="02020400000000000000" pitchFamily="18" charset="-128"/>
                <a:ea typeface="UD デジタル 教科書体 NP-R" panose="02020400000000000000" pitchFamily="18" charset="-128"/>
              </a:rPr>
              <a:t>PIN</a:t>
            </a:r>
            <a:r>
              <a:rPr lang="ja-JP" altLang="en-US" sz="600" dirty="0">
                <a:latin typeface="UD デジタル 教科書体 NP-R" panose="02020400000000000000" pitchFamily="18" charset="-128"/>
                <a:ea typeface="UD デジタル 教科書体 NP-R" panose="02020400000000000000" pitchFamily="18" charset="-128"/>
              </a:rPr>
              <a:t>コードを入力し、一番下のチャット欄で会話ができます。</a:t>
            </a:r>
            <a:endParaRPr lang="en-US" altLang="ja-JP" sz="600" dirty="0">
              <a:latin typeface="UD デジタル 教科書体 NP-R" panose="02020400000000000000" pitchFamily="18" charset="-128"/>
              <a:ea typeface="UD デジタル 教科書体 NP-R" panose="02020400000000000000" pitchFamily="18" charset="-128"/>
            </a:endParaRPr>
          </a:p>
        </p:txBody>
      </p:sp>
      <p:sp>
        <p:nvSpPr>
          <p:cNvPr id="30" name="テキスト ボックス 29">
            <a:extLst>
              <a:ext uri="{FF2B5EF4-FFF2-40B4-BE49-F238E27FC236}">
                <a16:creationId xmlns:a16="http://schemas.microsoft.com/office/drawing/2014/main" id="{8CDAD932-69DF-D869-CD9E-F87F1495901A}"/>
              </a:ext>
            </a:extLst>
          </p:cNvPr>
          <p:cNvSpPr txBox="1"/>
          <p:nvPr/>
        </p:nvSpPr>
        <p:spPr>
          <a:xfrm>
            <a:off x="189667" y="125989"/>
            <a:ext cx="1047454" cy="175909"/>
          </a:xfrm>
          <a:prstGeom prst="roundRect">
            <a:avLst/>
          </a:prstGeom>
          <a:noFill/>
          <a:effectLst>
            <a:softEdge rad="25400"/>
          </a:effectLst>
        </p:spPr>
        <p:txBody>
          <a:bodyPr wrap="square" lIns="0" tIns="0" rIns="0" bIns="0" anchor="ctr">
            <a:noAutofit/>
          </a:bodyPr>
          <a:lstStyle/>
          <a:p>
            <a:pPr algn="ctr"/>
            <a:r>
              <a:rPr lang="ja-JP" altLang="en-US" sz="700" dirty="0">
                <a:latin typeface="UD デジタル 教科書体 NP-R" panose="02020400000000000000" pitchFamily="18" charset="-128"/>
                <a:ea typeface="UD デジタル 教科書体 NP-R" panose="02020400000000000000" pitchFamily="18" charset="-128"/>
              </a:rPr>
              <a:t>金の</a:t>
            </a:r>
            <a:r>
              <a:rPr lang="ja-JP" altLang="en-US" sz="800" dirty="0">
                <a:latin typeface="UD デジタル 教科書体 NP-R" panose="02020400000000000000" pitchFamily="18" charset="-128"/>
                <a:ea typeface="UD デジタル 教科書体 NP-R" panose="02020400000000000000" pitchFamily="18" charset="-128"/>
              </a:rPr>
              <a:t>鼎庵</a:t>
            </a:r>
            <a:r>
              <a:rPr kumimoji="1" lang="ja-JP" altLang="en-US" sz="100" dirty="0">
                <a:latin typeface="UD デジタル 教科書体 NP-R" panose="02020400000000000000" pitchFamily="18" charset="-128"/>
                <a:ea typeface="UD デジタル 教科書体 NP-R" panose="02020400000000000000" pitchFamily="18" charset="-128"/>
              </a:rPr>
              <a:t> </a:t>
            </a:r>
            <a:r>
              <a:rPr lang="ja-JP" altLang="en-US" sz="700" dirty="0">
                <a:latin typeface="UD デジタル 教科書体 NP-R" panose="02020400000000000000" pitchFamily="18" charset="-128"/>
                <a:ea typeface="UD デジタル 教科書体 NP-R" panose="02020400000000000000" pitchFamily="18" charset="-128"/>
              </a:rPr>
              <a:t>詰め合わせ</a:t>
            </a:r>
            <a:endParaRPr lang="en-US" altLang="ja-JP" sz="700" dirty="0">
              <a:latin typeface="UD デジタル 教科書体 NP-R" panose="02020400000000000000" pitchFamily="18" charset="-128"/>
              <a:ea typeface="UD デジタル 教科書体 NP-R" panose="02020400000000000000" pitchFamily="18" charset="-128"/>
            </a:endParaRPr>
          </a:p>
        </p:txBody>
      </p:sp>
      <p:grpSp>
        <p:nvGrpSpPr>
          <p:cNvPr id="31" name="グループ化 30">
            <a:extLst>
              <a:ext uri="{FF2B5EF4-FFF2-40B4-BE49-F238E27FC236}">
                <a16:creationId xmlns:a16="http://schemas.microsoft.com/office/drawing/2014/main" id="{975B60DB-69F2-5997-5F97-CD6E68C511B8}"/>
              </a:ext>
            </a:extLst>
          </p:cNvPr>
          <p:cNvGrpSpPr/>
          <p:nvPr/>
        </p:nvGrpSpPr>
        <p:grpSpPr>
          <a:xfrm>
            <a:off x="179806" y="401041"/>
            <a:ext cx="1008000" cy="1008000"/>
            <a:chOff x="1007265" y="2577396"/>
            <a:chExt cx="962823" cy="928507"/>
          </a:xfrm>
        </p:grpSpPr>
        <p:sp>
          <p:nvSpPr>
            <p:cNvPr id="32" name="四角形: 角を丸くする 31">
              <a:extLst>
                <a:ext uri="{FF2B5EF4-FFF2-40B4-BE49-F238E27FC236}">
                  <a16:creationId xmlns:a16="http://schemas.microsoft.com/office/drawing/2014/main" id="{B64DFF6B-A098-BFA4-5FC1-026B3ACB72B7}"/>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図 32" descr="QR コード&#10;&#10;AI 生成コンテンツは誤りを含む可能性があります。">
              <a:extLst>
                <a:ext uri="{FF2B5EF4-FFF2-40B4-BE49-F238E27FC236}">
                  <a16:creationId xmlns:a16="http://schemas.microsoft.com/office/drawing/2014/main" id="{EF96DC9E-57B4-805C-F342-3E42D70A4531}"/>
                </a:ext>
              </a:extLst>
            </p:cNvPr>
            <p:cNvPicPr>
              <a:picLocks noChangeAspect="1"/>
            </p:cNvPicPr>
            <p:nvPr/>
          </p:nvPicPr>
          <p:blipFill>
            <a:blip r:embed="rId2"/>
            <a:stretch>
              <a:fillRect/>
            </a:stretch>
          </p:blipFill>
          <p:spPr>
            <a:xfrm>
              <a:off x="1042659" y="2598008"/>
              <a:ext cx="883492" cy="878787"/>
            </a:xfrm>
            <a:prstGeom prst="rect">
              <a:avLst/>
            </a:prstGeom>
          </p:spPr>
        </p:pic>
      </p:grpSp>
      <p:sp>
        <p:nvSpPr>
          <p:cNvPr id="34" name="四角形: 角を丸くする 33">
            <a:extLst>
              <a:ext uri="{FF2B5EF4-FFF2-40B4-BE49-F238E27FC236}">
                <a16:creationId xmlns:a16="http://schemas.microsoft.com/office/drawing/2014/main" id="{B043190C-6ACB-A08E-D9A3-0E3FA256401F}"/>
              </a:ext>
            </a:extLst>
          </p:cNvPr>
          <p:cNvSpPr/>
          <p:nvPr/>
        </p:nvSpPr>
        <p:spPr>
          <a:xfrm>
            <a:off x="413061" y="1485900"/>
            <a:ext cx="600666" cy="77526"/>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500" dirty="0">
                <a:solidFill>
                  <a:schemeClr val="tx1"/>
                </a:solidFill>
                <a:latin typeface="UD デジタル 教科書体 NP-R" panose="02020400000000000000" pitchFamily="18" charset="-128"/>
                <a:ea typeface="UD デジタル 教科書体 NP-R" panose="02020400000000000000" pitchFamily="18" charset="-128"/>
              </a:rPr>
              <a:t>123-abc…</a:t>
            </a:r>
          </a:p>
        </p:txBody>
      </p:sp>
    </p:spTree>
    <p:extLst>
      <p:ext uri="{BB962C8B-B14F-4D97-AF65-F5344CB8AC3E}">
        <p14:creationId xmlns:p14="http://schemas.microsoft.com/office/powerpoint/2010/main" val="12592539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CD12-DEF2-08A3-CAD6-760813F88208}"/>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F2652693-2034-E70E-7252-11780CEE1AF3}"/>
              </a:ext>
            </a:extLst>
          </p:cNvPr>
          <p:cNvSpPr/>
          <p:nvPr/>
        </p:nvSpPr>
        <p:spPr>
          <a:xfrm>
            <a:off x="-1" y="0"/>
            <a:ext cx="3095625" cy="1944688"/>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FE59E8A3-927B-6937-1F74-37EF690C5D60}"/>
              </a:ext>
            </a:extLst>
          </p:cNvPr>
          <p:cNvSpPr/>
          <p:nvPr/>
        </p:nvSpPr>
        <p:spPr>
          <a:xfrm>
            <a:off x="72212" y="63293"/>
            <a:ext cx="1224849" cy="1508331"/>
          </a:xfrm>
          <a:prstGeom prst="roundRect">
            <a:avLst>
              <a:gd name="adj" fmla="val 2272"/>
            </a:avLst>
          </a:prstGeom>
          <a:solidFill>
            <a:schemeClr val="bg1"/>
          </a:solidFill>
          <a:ln w="3175">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p>
        </p:txBody>
      </p:sp>
      <p:sp>
        <p:nvSpPr>
          <p:cNvPr id="6" name="四角形: 角を丸くする 5">
            <a:extLst>
              <a:ext uri="{FF2B5EF4-FFF2-40B4-BE49-F238E27FC236}">
                <a16:creationId xmlns:a16="http://schemas.microsoft.com/office/drawing/2014/main" id="{95E491D6-2BA2-16EB-78B3-D12EB303F23C}"/>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grpSp>
        <p:nvGrpSpPr>
          <p:cNvPr id="15" name="グループ化 14">
            <a:extLst>
              <a:ext uri="{FF2B5EF4-FFF2-40B4-BE49-F238E27FC236}">
                <a16:creationId xmlns:a16="http://schemas.microsoft.com/office/drawing/2014/main" id="{608AE51E-1DD7-CEFF-3E4F-B8DCA8240384}"/>
              </a:ext>
            </a:extLst>
          </p:cNvPr>
          <p:cNvGrpSpPr/>
          <p:nvPr/>
        </p:nvGrpSpPr>
        <p:grpSpPr>
          <a:xfrm>
            <a:off x="72211" y="1604962"/>
            <a:ext cx="2951201" cy="276433"/>
            <a:chOff x="425450" y="774699"/>
            <a:chExt cx="2996650" cy="390450"/>
          </a:xfrm>
        </p:grpSpPr>
        <p:sp>
          <p:nvSpPr>
            <p:cNvPr id="16" name="四角形: 角を丸くする 15">
              <a:extLst>
                <a:ext uri="{FF2B5EF4-FFF2-40B4-BE49-F238E27FC236}">
                  <a16:creationId xmlns:a16="http://schemas.microsoft.com/office/drawing/2014/main" id="{76F1F41F-12A7-F0D6-E448-857C3B3B5529}"/>
                </a:ext>
              </a:extLst>
            </p:cNvPr>
            <p:cNvSpPr/>
            <p:nvPr/>
          </p:nvSpPr>
          <p:spPr>
            <a:xfrm>
              <a:off x="425450" y="774699"/>
              <a:ext cx="2996650" cy="390450"/>
            </a:xfrm>
            <a:prstGeom prst="roundRect">
              <a:avLst>
                <a:gd name="adj" fmla="val 17073"/>
              </a:avLst>
            </a:prstGeom>
            <a:solidFill>
              <a:schemeClr val="bg1"/>
            </a:solidFill>
            <a:ln w="3175">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r>
                <a:rPr kumimoji="1" lang="en-US" altLang="ja-JP" dirty="0">
                  <a:solidFill>
                    <a:schemeClr val="tx1"/>
                  </a:solidFill>
                </a:rPr>
                <a:t>12345678</a:t>
              </a:r>
              <a:endParaRPr kumimoji="1" lang="ja-JP" altLang="en-US" dirty="0">
                <a:solidFill>
                  <a:schemeClr val="tx1"/>
                </a:solidFill>
              </a:endParaRPr>
            </a:p>
          </p:txBody>
        </p:sp>
        <p:sp>
          <p:nvSpPr>
            <p:cNvPr id="17" name="四角形: 角を丸くする 16">
              <a:extLst>
                <a:ext uri="{FF2B5EF4-FFF2-40B4-BE49-F238E27FC236}">
                  <a16:creationId xmlns:a16="http://schemas.microsoft.com/office/drawing/2014/main" id="{D7AFE9AF-B94B-12FD-7B72-0C3461AF316A}"/>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25" name="テキスト ボックス 24">
            <a:extLst>
              <a:ext uri="{FF2B5EF4-FFF2-40B4-BE49-F238E27FC236}">
                <a16:creationId xmlns:a16="http://schemas.microsoft.com/office/drawing/2014/main" id="{39940452-A5ED-0B6E-7C8B-2185A5068740}"/>
              </a:ext>
            </a:extLst>
          </p:cNvPr>
          <p:cNvSpPr txBox="1"/>
          <p:nvPr/>
        </p:nvSpPr>
        <p:spPr>
          <a:xfrm>
            <a:off x="1369273" y="234251"/>
            <a:ext cx="1654139" cy="1174790"/>
          </a:xfrm>
          <a:prstGeom prst="roundRect">
            <a:avLst/>
          </a:prstGeom>
          <a:noFill/>
          <a:effectLst>
            <a:softEdge rad="25400"/>
          </a:effectLst>
        </p:spPr>
        <p:txBody>
          <a:bodyPr wrap="square" lIns="0" tIns="0" rIns="0" bIns="0" anchor="ctr">
            <a:noAutofit/>
          </a:bodyPr>
          <a:lstStyle/>
          <a:p>
            <a:pPr algn="ctr"/>
            <a:r>
              <a:rPr lang="ja-JP" altLang="en-US" sz="700" b="1" dirty="0">
                <a:latin typeface="UD デジタル 教科書体 NP-R" panose="02020400000000000000" pitchFamily="18" charset="-128"/>
                <a:ea typeface="UD デジタル 教科書体 NP-R" panose="02020400000000000000" pitchFamily="18" charset="-128"/>
              </a:rPr>
              <a:t> </a:t>
            </a:r>
            <a:r>
              <a:rPr lang="ja-JP" altLang="en-US" sz="1050" b="1" dirty="0">
                <a:latin typeface="UD デジタル 教科書体 NP-R" panose="02020400000000000000" pitchFamily="18" charset="-128"/>
                <a:ea typeface="UD デジタル 教科書体 NP-R" panose="02020400000000000000" pitchFamily="18" charset="-128"/>
              </a:rPr>
              <a:t>ギフトを受け取るには</a:t>
            </a:r>
            <a:endParaRPr lang="en-US" altLang="ja-JP" sz="800" b="1" dirty="0">
              <a:latin typeface="UD デジタル 教科書体 NP-R" panose="02020400000000000000" pitchFamily="18" charset="-128"/>
              <a:ea typeface="UD デジタル 教科書体 NP-R" panose="02020400000000000000" pitchFamily="18" charset="-128"/>
            </a:endParaRPr>
          </a:p>
          <a:p>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１．左のコードをスマートフォン</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　　で読み込む</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２．下記の８桁の数字を入力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３．お届け先住所を入力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４．発送状況も確認できます</a:t>
            </a:r>
            <a:endParaRPr lang="en-US" altLang="ja-JP" sz="700" b="1"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r>
              <a:rPr lang="ja-JP" altLang="en-US" sz="600" dirty="0">
                <a:latin typeface="UD デジタル 教科書体 NP-R" panose="02020400000000000000" pitchFamily="18" charset="-128"/>
                <a:ea typeface="UD デジタル 教科書体 NP-R" panose="02020400000000000000" pitchFamily="18" charset="-128"/>
              </a:rPr>
              <a:t>荷物を送る方もメッセージを残せます。同じ</a:t>
            </a:r>
            <a:r>
              <a:rPr lang="en-US" altLang="ja-JP" sz="600" dirty="0">
                <a:latin typeface="UD デジタル 教科書体 NP-R" panose="02020400000000000000" pitchFamily="18" charset="-128"/>
                <a:ea typeface="UD デジタル 教科書体 NP-R" panose="02020400000000000000" pitchFamily="18" charset="-128"/>
              </a:rPr>
              <a:t>QR</a:t>
            </a:r>
            <a:r>
              <a:rPr lang="ja-JP" altLang="en-US" sz="600" dirty="0">
                <a:latin typeface="UD デジタル 教科書体 NP-R" panose="02020400000000000000" pitchFamily="18" charset="-128"/>
                <a:ea typeface="UD デジタル 教科書体 NP-R" panose="02020400000000000000" pitchFamily="18" charset="-128"/>
              </a:rPr>
              <a:t>コードを読み込んで</a:t>
            </a:r>
            <a:r>
              <a:rPr lang="en-US" altLang="ja-JP" sz="600" dirty="0">
                <a:latin typeface="UD デジタル 教科書体 NP-R" panose="02020400000000000000" pitchFamily="18" charset="-128"/>
                <a:ea typeface="UD デジタル 教科書体 NP-R" panose="02020400000000000000" pitchFamily="18" charset="-128"/>
              </a:rPr>
              <a:t>PIN</a:t>
            </a:r>
            <a:r>
              <a:rPr lang="ja-JP" altLang="en-US" sz="600" dirty="0">
                <a:latin typeface="UD デジタル 教科書体 NP-R" panose="02020400000000000000" pitchFamily="18" charset="-128"/>
                <a:ea typeface="UD デジタル 教科書体 NP-R" panose="02020400000000000000" pitchFamily="18" charset="-128"/>
              </a:rPr>
              <a:t>コードを入力し、一番下のチャット欄で会話ができます。</a:t>
            </a:r>
            <a:endParaRPr lang="en-US" altLang="ja-JP" sz="600" dirty="0">
              <a:latin typeface="UD デジタル 教科書体 NP-R" panose="02020400000000000000" pitchFamily="18" charset="-128"/>
              <a:ea typeface="UD デジタル 教科書体 NP-R" panose="02020400000000000000" pitchFamily="18" charset="-128"/>
            </a:endParaRPr>
          </a:p>
        </p:txBody>
      </p:sp>
      <p:sp>
        <p:nvSpPr>
          <p:cNvPr id="30" name="テキスト ボックス 29">
            <a:extLst>
              <a:ext uri="{FF2B5EF4-FFF2-40B4-BE49-F238E27FC236}">
                <a16:creationId xmlns:a16="http://schemas.microsoft.com/office/drawing/2014/main" id="{6E66BFF7-74DB-73E3-2BFC-DD320DC99067}"/>
              </a:ext>
            </a:extLst>
          </p:cNvPr>
          <p:cNvSpPr txBox="1"/>
          <p:nvPr/>
        </p:nvSpPr>
        <p:spPr>
          <a:xfrm>
            <a:off x="189667" y="125989"/>
            <a:ext cx="1047454" cy="175909"/>
          </a:xfrm>
          <a:prstGeom prst="roundRect">
            <a:avLst/>
          </a:prstGeom>
          <a:noFill/>
          <a:effectLst>
            <a:softEdge rad="25400"/>
          </a:effectLst>
        </p:spPr>
        <p:txBody>
          <a:bodyPr wrap="square" lIns="0" tIns="0" rIns="0" bIns="0" anchor="ctr">
            <a:noAutofit/>
          </a:bodyPr>
          <a:lstStyle/>
          <a:p>
            <a:pPr algn="ctr"/>
            <a:r>
              <a:rPr lang="ja-JP" altLang="en-US" sz="700" dirty="0">
                <a:latin typeface="UD デジタル 教科書体 NP-R" panose="02020400000000000000" pitchFamily="18" charset="-128"/>
                <a:ea typeface="UD デジタル 教科書体 NP-R" panose="02020400000000000000" pitchFamily="18" charset="-128"/>
              </a:rPr>
              <a:t>金の</a:t>
            </a:r>
            <a:r>
              <a:rPr lang="ja-JP" altLang="en-US" sz="800" dirty="0">
                <a:latin typeface="UD デジタル 教科書体 NP-R" panose="02020400000000000000" pitchFamily="18" charset="-128"/>
                <a:ea typeface="UD デジタル 教科書体 NP-R" panose="02020400000000000000" pitchFamily="18" charset="-128"/>
              </a:rPr>
              <a:t>鼎庵</a:t>
            </a:r>
            <a:r>
              <a:rPr kumimoji="1" lang="ja-JP" altLang="en-US" sz="100" dirty="0">
                <a:latin typeface="UD デジタル 教科書体 NP-R" panose="02020400000000000000" pitchFamily="18" charset="-128"/>
                <a:ea typeface="UD デジタル 教科書体 NP-R" panose="02020400000000000000" pitchFamily="18" charset="-128"/>
              </a:rPr>
              <a:t> </a:t>
            </a:r>
            <a:r>
              <a:rPr lang="ja-JP" altLang="en-US" sz="700" dirty="0">
                <a:latin typeface="UD デジタル 教科書体 NP-R" panose="02020400000000000000" pitchFamily="18" charset="-128"/>
                <a:ea typeface="UD デジタル 教科書体 NP-R" panose="02020400000000000000" pitchFamily="18" charset="-128"/>
              </a:rPr>
              <a:t>詰め合わせ</a:t>
            </a:r>
            <a:endParaRPr lang="en-US" altLang="ja-JP" sz="700" dirty="0">
              <a:latin typeface="UD デジタル 教科書体 NP-R" panose="02020400000000000000" pitchFamily="18" charset="-128"/>
              <a:ea typeface="UD デジタル 教科書体 NP-R" panose="02020400000000000000" pitchFamily="18" charset="-128"/>
            </a:endParaRPr>
          </a:p>
        </p:txBody>
      </p:sp>
      <p:grpSp>
        <p:nvGrpSpPr>
          <p:cNvPr id="31" name="グループ化 30">
            <a:extLst>
              <a:ext uri="{FF2B5EF4-FFF2-40B4-BE49-F238E27FC236}">
                <a16:creationId xmlns:a16="http://schemas.microsoft.com/office/drawing/2014/main" id="{D1CB5622-26BB-00AE-261A-41409593011C}"/>
              </a:ext>
            </a:extLst>
          </p:cNvPr>
          <p:cNvGrpSpPr/>
          <p:nvPr/>
        </p:nvGrpSpPr>
        <p:grpSpPr>
          <a:xfrm>
            <a:off x="179806" y="401041"/>
            <a:ext cx="1008000" cy="1008000"/>
            <a:chOff x="1007265" y="2577396"/>
            <a:chExt cx="962823" cy="928507"/>
          </a:xfrm>
        </p:grpSpPr>
        <p:sp>
          <p:nvSpPr>
            <p:cNvPr id="32" name="四角形: 角を丸くする 31">
              <a:extLst>
                <a:ext uri="{FF2B5EF4-FFF2-40B4-BE49-F238E27FC236}">
                  <a16:creationId xmlns:a16="http://schemas.microsoft.com/office/drawing/2014/main" id="{00F72688-A2AD-5C11-641E-24D22003E63B}"/>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図 32" descr="QR コード&#10;&#10;AI 生成コンテンツは誤りを含む可能性があります。">
              <a:extLst>
                <a:ext uri="{FF2B5EF4-FFF2-40B4-BE49-F238E27FC236}">
                  <a16:creationId xmlns:a16="http://schemas.microsoft.com/office/drawing/2014/main" id="{238F22D0-CAFF-4521-AF76-8E32AA58C52C}"/>
                </a:ext>
              </a:extLst>
            </p:cNvPr>
            <p:cNvPicPr>
              <a:picLocks noChangeAspect="1"/>
            </p:cNvPicPr>
            <p:nvPr/>
          </p:nvPicPr>
          <p:blipFill>
            <a:blip r:embed="rId2"/>
            <a:stretch>
              <a:fillRect/>
            </a:stretch>
          </p:blipFill>
          <p:spPr>
            <a:xfrm>
              <a:off x="1042659" y="2598008"/>
              <a:ext cx="883492" cy="878787"/>
            </a:xfrm>
            <a:prstGeom prst="rect">
              <a:avLst/>
            </a:prstGeom>
          </p:spPr>
        </p:pic>
      </p:grpSp>
      <p:sp>
        <p:nvSpPr>
          <p:cNvPr id="34" name="四角形: 角を丸くする 33">
            <a:extLst>
              <a:ext uri="{FF2B5EF4-FFF2-40B4-BE49-F238E27FC236}">
                <a16:creationId xmlns:a16="http://schemas.microsoft.com/office/drawing/2014/main" id="{3D26B096-EC06-32C8-193D-4164643C86A1}"/>
              </a:ext>
            </a:extLst>
          </p:cNvPr>
          <p:cNvSpPr/>
          <p:nvPr/>
        </p:nvSpPr>
        <p:spPr>
          <a:xfrm>
            <a:off x="413061" y="1485900"/>
            <a:ext cx="600666" cy="77526"/>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500" dirty="0">
                <a:solidFill>
                  <a:schemeClr val="tx1"/>
                </a:solidFill>
                <a:latin typeface="UD デジタル 教科書体 NP-R" panose="02020400000000000000" pitchFamily="18" charset="-128"/>
                <a:ea typeface="UD デジタル 教科書体 NP-R" panose="02020400000000000000" pitchFamily="18" charset="-128"/>
              </a:rPr>
              <a:t>123-abc…</a:t>
            </a:r>
          </a:p>
        </p:txBody>
      </p:sp>
    </p:spTree>
    <p:extLst>
      <p:ext uri="{BB962C8B-B14F-4D97-AF65-F5344CB8AC3E}">
        <p14:creationId xmlns:p14="http://schemas.microsoft.com/office/powerpoint/2010/main" val="41961351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CED0F-3734-B8FE-2D98-72F6E7DCD433}"/>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6EEB4F05-F63C-D777-DC3B-308AF6A2756E}"/>
              </a:ext>
            </a:extLst>
          </p:cNvPr>
          <p:cNvSpPr/>
          <p:nvPr/>
        </p:nvSpPr>
        <p:spPr>
          <a:xfrm>
            <a:off x="-1" y="0"/>
            <a:ext cx="3095625" cy="1944688"/>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E49A7728-4871-F74A-2A7E-F91D46101A6F}"/>
              </a:ext>
            </a:extLst>
          </p:cNvPr>
          <p:cNvSpPr/>
          <p:nvPr/>
        </p:nvSpPr>
        <p:spPr>
          <a:xfrm>
            <a:off x="72212" y="80133"/>
            <a:ext cx="2951202" cy="1266515"/>
          </a:xfrm>
          <a:prstGeom prst="roundRect">
            <a:avLst>
              <a:gd name="adj" fmla="val 6241"/>
            </a:avLst>
          </a:prstGeom>
          <a:solidFill>
            <a:schemeClr val="bg1"/>
          </a:solidFill>
          <a:ln w="317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p>
        </p:txBody>
      </p:sp>
      <p:sp>
        <p:nvSpPr>
          <p:cNvPr id="6" name="四角形: 角を丸くする 5">
            <a:extLst>
              <a:ext uri="{FF2B5EF4-FFF2-40B4-BE49-F238E27FC236}">
                <a16:creationId xmlns:a16="http://schemas.microsoft.com/office/drawing/2014/main" id="{1C155FA1-CBD6-B937-CB65-E4BDCB8AEF28}"/>
              </a:ext>
            </a:extLst>
          </p:cNvPr>
          <p:cNvSpPr/>
          <p:nvPr/>
        </p:nvSpPr>
        <p:spPr>
          <a:xfrm>
            <a:off x="-1" y="-52712"/>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grpSp>
        <p:nvGrpSpPr>
          <p:cNvPr id="15" name="グループ化 14">
            <a:extLst>
              <a:ext uri="{FF2B5EF4-FFF2-40B4-BE49-F238E27FC236}">
                <a16:creationId xmlns:a16="http://schemas.microsoft.com/office/drawing/2014/main" id="{C7092AA9-BCB8-11E7-17A9-3FEAC03AE2CD}"/>
              </a:ext>
            </a:extLst>
          </p:cNvPr>
          <p:cNvGrpSpPr/>
          <p:nvPr/>
        </p:nvGrpSpPr>
        <p:grpSpPr>
          <a:xfrm>
            <a:off x="146158" y="1490962"/>
            <a:ext cx="1426269" cy="294900"/>
            <a:chOff x="1028751" y="870249"/>
            <a:chExt cx="2182918" cy="294900"/>
          </a:xfrm>
        </p:grpSpPr>
        <p:sp>
          <p:nvSpPr>
            <p:cNvPr id="16" name="四角形: 角を丸くする 15">
              <a:extLst>
                <a:ext uri="{FF2B5EF4-FFF2-40B4-BE49-F238E27FC236}">
                  <a16:creationId xmlns:a16="http://schemas.microsoft.com/office/drawing/2014/main" id="{7ADEFC72-CDFB-CF03-27C2-92ACD258BAAD}"/>
                </a:ext>
              </a:extLst>
            </p:cNvPr>
            <p:cNvSpPr/>
            <p:nvPr/>
          </p:nvSpPr>
          <p:spPr>
            <a:xfrm>
              <a:off x="1028751" y="870249"/>
              <a:ext cx="2182918" cy="294900"/>
            </a:xfrm>
            <a:prstGeom prst="roundRect">
              <a:avLst>
                <a:gd name="adj" fmla="val 17073"/>
              </a:avLst>
            </a:prstGeom>
            <a:noFill/>
            <a:ln w="3175">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kumimoji="1" lang="ja-JP" altLang="en-US" dirty="0">
                  <a:solidFill>
                    <a:schemeClr val="tx1"/>
                  </a:solidFill>
                </a:rPr>
                <a:t>　      </a:t>
              </a:r>
              <a:r>
                <a:rPr kumimoji="1" lang="en-US" altLang="ja-JP" sz="1600" dirty="0">
                  <a:solidFill>
                    <a:schemeClr val="tx1"/>
                  </a:solidFill>
                </a:rPr>
                <a:t>12345678</a:t>
              </a:r>
              <a:endParaRPr kumimoji="1" lang="ja-JP" altLang="en-US" dirty="0">
                <a:solidFill>
                  <a:schemeClr val="tx1"/>
                </a:solidFill>
              </a:endParaRPr>
            </a:p>
          </p:txBody>
        </p:sp>
        <p:sp>
          <p:nvSpPr>
            <p:cNvPr id="17" name="四角形: 角を丸くする 16">
              <a:extLst>
                <a:ext uri="{FF2B5EF4-FFF2-40B4-BE49-F238E27FC236}">
                  <a16:creationId xmlns:a16="http://schemas.microsoft.com/office/drawing/2014/main" id="{79117A62-C25F-714C-31B4-734A17C3CF4C}"/>
                </a:ext>
              </a:extLst>
            </p:cNvPr>
            <p:cNvSpPr/>
            <p:nvPr/>
          </p:nvSpPr>
          <p:spPr>
            <a:xfrm>
              <a:off x="1085758" y="945758"/>
              <a:ext cx="701054"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7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25" name="テキスト ボックス 24">
            <a:extLst>
              <a:ext uri="{FF2B5EF4-FFF2-40B4-BE49-F238E27FC236}">
                <a16:creationId xmlns:a16="http://schemas.microsoft.com/office/drawing/2014/main" id="{69EF48C9-6DAF-CFE4-7FE9-1C23540BCBE2}"/>
              </a:ext>
            </a:extLst>
          </p:cNvPr>
          <p:cNvSpPr txBox="1"/>
          <p:nvPr/>
        </p:nvSpPr>
        <p:spPr>
          <a:xfrm>
            <a:off x="125345" y="314843"/>
            <a:ext cx="1467896" cy="1016369"/>
          </a:xfrm>
          <a:prstGeom prst="roundRect">
            <a:avLst/>
          </a:prstGeom>
          <a:noFill/>
          <a:effectLst>
            <a:softEdge rad="25400"/>
          </a:effectLst>
        </p:spPr>
        <p:txBody>
          <a:bodyPr wrap="square" lIns="0" tIns="0" rIns="0" bIns="0" anchor="ctr">
            <a:noAutofit/>
          </a:bodyPr>
          <a:lstStyle/>
          <a:p>
            <a:pPr algn="ctr"/>
            <a:r>
              <a:rPr lang="ja-JP" altLang="en-US" sz="700" b="1" dirty="0">
                <a:latin typeface="UD デジタル 教科書体 NP-R" panose="02020400000000000000" pitchFamily="18" charset="-128"/>
                <a:ea typeface="UD デジタル 教科書体 NP-R" panose="02020400000000000000" pitchFamily="18" charset="-128"/>
              </a:rPr>
              <a:t> </a:t>
            </a:r>
            <a:r>
              <a:rPr lang="ja-JP" altLang="en-US" sz="1050" b="1" dirty="0">
                <a:latin typeface="UD デジタル 教科書体 NP-R" panose="02020400000000000000" pitchFamily="18" charset="-128"/>
                <a:ea typeface="UD デジタル 教科書体 NP-R" panose="02020400000000000000" pitchFamily="18" charset="-128"/>
              </a:rPr>
              <a:t>ギフトを受け取るには</a:t>
            </a:r>
            <a:endParaRPr lang="en-US" altLang="ja-JP" sz="800" b="1" dirty="0">
              <a:latin typeface="UD デジタル 教科書体 NP-R" panose="02020400000000000000" pitchFamily="18" charset="-128"/>
              <a:ea typeface="UD デジタル 教科書体 NP-R" panose="02020400000000000000" pitchFamily="18" charset="-128"/>
            </a:endParaRPr>
          </a:p>
          <a:p>
            <a:endParaRPr lang="en-US" altLang="ja-JP" sz="700"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１．右のコードをスマートフォン</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　　で読み込む</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２．下記の８桁の数字を入力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３．お届け先住所を入力</a:t>
            </a:r>
            <a:endParaRPr lang="en-US" altLang="ja-JP" sz="700" b="1" dirty="0">
              <a:latin typeface="UD デジタル 教科書体 NP-R" panose="02020400000000000000" pitchFamily="18" charset="-128"/>
              <a:ea typeface="UD デジタル 教科書体 NP-R" panose="02020400000000000000" pitchFamily="18" charset="-128"/>
            </a:endParaRPr>
          </a:p>
          <a:p>
            <a:r>
              <a:rPr lang="ja-JP" altLang="en-US" sz="700" b="1" dirty="0">
                <a:latin typeface="UD デジタル 教科書体 NP-R" panose="02020400000000000000" pitchFamily="18" charset="-128"/>
                <a:ea typeface="UD デジタル 教科書体 NP-R" panose="02020400000000000000" pitchFamily="18" charset="-128"/>
              </a:rPr>
              <a:t>４．発送状況も確認できます</a:t>
            </a:r>
            <a:endParaRPr lang="en-US" altLang="ja-JP" sz="700" b="1" dirty="0">
              <a:latin typeface="UD デジタル 教科書体 NP-R" panose="02020400000000000000" pitchFamily="18" charset="-128"/>
              <a:ea typeface="UD デジタル 教科書体 NP-R" panose="02020400000000000000" pitchFamily="18" charset="-128"/>
            </a:endParaRPr>
          </a:p>
          <a:p>
            <a:endParaRPr lang="en-US" altLang="ja-JP" sz="500" dirty="0">
              <a:latin typeface="UD デジタル 教科書体 NP-R" panose="02020400000000000000" pitchFamily="18" charset="-128"/>
              <a:ea typeface="UD デジタル 教科書体 NP-R" panose="02020400000000000000" pitchFamily="18" charset="-128"/>
            </a:endParaRPr>
          </a:p>
          <a:p>
            <a:r>
              <a:rPr lang="ja-JP" altLang="en-US" sz="600" dirty="0">
                <a:latin typeface="UD デジタル 教科書体 NP-R" panose="02020400000000000000" pitchFamily="18" charset="-128"/>
                <a:ea typeface="UD デジタル 教科書体 NP-R" panose="02020400000000000000" pitchFamily="18" charset="-128"/>
              </a:rPr>
              <a:t>荷物を送る方もメッセージを残せます。同じ</a:t>
            </a:r>
            <a:r>
              <a:rPr lang="en-US" altLang="ja-JP" sz="600" dirty="0">
                <a:latin typeface="UD デジタル 教科書体 NP-R" panose="02020400000000000000" pitchFamily="18" charset="-128"/>
                <a:ea typeface="UD デジタル 教科書体 NP-R" panose="02020400000000000000" pitchFamily="18" charset="-128"/>
              </a:rPr>
              <a:t>QR</a:t>
            </a:r>
            <a:r>
              <a:rPr lang="ja-JP" altLang="en-US" sz="600" dirty="0">
                <a:latin typeface="UD デジタル 教科書体 NP-R" panose="02020400000000000000" pitchFamily="18" charset="-128"/>
                <a:ea typeface="UD デジタル 教科書体 NP-R" panose="02020400000000000000" pitchFamily="18" charset="-128"/>
              </a:rPr>
              <a:t>コードを読み込んで</a:t>
            </a:r>
            <a:r>
              <a:rPr lang="en-US" altLang="ja-JP" sz="600" dirty="0">
                <a:latin typeface="UD デジタル 教科書体 NP-R" panose="02020400000000000000" pitchFamily="18" charset="-128"/>
                <a:ea typeface="UD デジタル 教科書体 NP-R" panose="02020400000000000000" pitchFamily="18" charset="-128"/>
              </a:rPr>
              <a:t>PIN</a:t>
            </a:r>
            <a:r>
              <a:rPr lang="ja-JP" altLang="en-US" sz="600" dirty="0">
                <a:latin typeface="UD デジタル 教科書体 NP-R" panose="02020400000000000000" pitchFamily="18" charset="-128"/>
                <a:ea typeface="UD デジタル 教科書体 NP-R" panose="02020400000000000000" pitchFamily="18" charset="-128"/>
              </a:rPr>
              <a:t>コードを入力し、一番下のチャット欄で会話できます。</a:t>
            </a:r>
            <a:endParaRPr lang="en-US" altLang="ja-JP" sz="600" dirty="0">
              <a:latin typeface="UD デジタル 教科書体 NP-R" panose="02020400000000000000" pitchFamily="18" charset="-128"/>
              <a:ea typeface="UD デジタル 教科書体 NP-R" panose="02020400000000000000" pitchFamily="18" charset="-128"/>
            </a:endParaRPr>
          </a:p>
        </p:txBody>
      </p:sp>
      <p:sp>
        <p:nvSpPr>
          <p:cNvPr id="2" name="テキスト ボックス 1">
            <a:extLst>
              <a:ext uri="{FF2B5EF4-FFF2-40B4-BE49-F238E27FC236}">
                <a16:creationId xmlns:a16="http://schemas.microsoft.com/office/drawing/2014/main" id="{B9D6E1D8-FB67-532A-5104-B90AF4D85315}"/>
              </a:ext>
            </a:extLst>
          </p:cNvPr>
          <p:cNvSpPr txBox="1"/>
          <p:nvPr/>
        </p:nvSpPr>
        <p:spPr>
          <a:xfrm>
            <a:off x="1794629" y="185025"/>
            <a:ext cx="1047454" cy="175909"/>
          </a:xfrm>
          <a:prstGeom prst="roundRect">
            <a:avLst/>
          </a:prstGeom>
          <a:noFill/>
          <a:effectLst>
            <a:softEdge rad="25400"/>
          </a:effectLst>
        </p:spPr>
        <p:txBody>
          <a:bodyPr wrap="square" lIns="0" tIns="0" rIns="0" bIns="0" anchor="ctr">
            <a:noAutofit/>
          </a:bodyPr>
          <a:lstStyle/>
          <a:p>
            <a:pPr algn="ctr"/>
            <a:r>
              <a:rPr lang="ja-JP" altLang="en-US" sz="700" dirty="0">
                <a:latin typeface="UD デジタル 教科書体 NP-R" panose="02020400000000000000" pitchFamily="18" charset="-128"/>
                <a:ea typeface="UD デジタル 教科書体 NP-R" panose="02020400000000000000" pitchFamily="18" charset="-128"/>
              </a:rPr>
              <a:t>金の</a:t>
            </a:r>
            <a:r>
              <a:rPr lang="ja-JP" altLang="en-US" sz="800" dirty="0">
                <a:latin typeface="UD デジタル 教科書体 NP-R" panose="02020400000000000000" pitchFamily="18" charset="-128"/>
                <a:ea typeface="UD デジタル 教科書体 NP-R" panose="02020400000000000000" pitchFamily="18" charset="-128"/>
              </a:rPr>
              <a:t>鼎庵</a:t>
            </a:r>
            <a:r>
              <a:rPr kumimoji="1" lang="ja-JP" altLang="en-US" sz="100" dirty="0">
                <a:latin typeface="UD デジタル 教科書体 NP-R" panose="02020400000000000000" pitchFamily="18" charset="-128"/>
                <a:ea typeface="UD デジタル 教科書体 NP-R" panose="02020400000000000000" pitchFamily="18" charset="-128"/>
              </a:rPr>
              <a:t> </a:t>
            </a:r>
            <a:r>
              <a:rPr lang="ja-JP" altLang="en-US" sz="700" dirty="0">
                <a:latin typeface="UD デジタル 教科書体 NP-R" panose="02020400000000000000" pitchFamily="18" charset="-128"/>
                <a:ea typeface="UD デジタル 教科書体 NP-R" panose="02020400000000000000" pitchFamily="18" charset="-128"/>
              </a:rPr>
              <a:t>詰め合わせ</a:t>
            </a:r>
            <a:endParaRPr lang="en-US" altLang="ja-JP" sz="700" dirty="0">
              <a:latin typeface="UD デジタル 教科書体 NP-R" panose="02020400000000000000" pitchFamily="18" charset="-128"/>
              <a:ea typeface="UD デジタル 教科書体 NP-R" panose="02020400000000000000" pitchFamily="18" charset="-128"/>
            </a:endParaRPr>
          </a:p>
        </p:txBody>
      </p:sp>
      <p:grpSp>
        <p:nvGrpSpPr>
          <p:cNvPr id="7" name="グループ化 6">
            <a:extLst>
              <a:ext uri="{FF2B5EF4-FFF2-40B4-BE49-F238E27FC236}">
                <a16:creationId xmlns:a16="http://schemas.microsoft.com/office/drawing/2014/main" id="{011AFECC-630F-6CF8-4952-56CB6FCC9164}"/>
              </a:ext>
            </a:extLst>
          </p:cNvPr>
          <p:cNvGrpSpPr/>
          <p:nvPr/>
        </p:nvGrpSpPr>
        <p:grpSpPr>
          <a:xfrm>
            <a:off x="1646373" y="338137"/>
            <a:ext cx="1351098" cy="1452913"/>
            <a:chOff x="1652590" y="374597"/>
            <a:chExt cx="1351098" cy="1452913"/>
          </a:xfrm>
        </p:grpSpPr>
        <p:grpSp>
          <p:nvGrpSpPr>
            <p:cNvPr id="22" name="グループ化 21">
              <a:extLst>
                <a:ext uri="{FF2B5EF4-FFF2-40B4-BE49-F238E27FC236}">
                  <a16:creationId xmlns:a16="http://schemas.microsoft.com/office/drawing/2014/main" id="{48DFDF11-BDDF-9BFB-E3A2-F05D6A69F626}"/>
                </a:ext>
              </a:extLst>
            </p:cNvPr>
            <p:cNvGrpSpPr/>
            <p:nvPr/>
          </p:nvGrpSpPr>
          <p:grpSpPr>
            <a:xfrm>
              <a:off x="1721146" y="503199"/>
              <a:ext cx="1264435" cy="1264435"/>
              <a:chOff x="1007265" y="2577396"/>
              <a:chExt cx="962823" cy="928507"/>
            </a:xfrm>
            <a:noFill/>
          </p:grpSpPr>
          <p:sp>
            <p:nvSpPr>
              <p:cNvPr id="23" name="四角形: 角を丸くする 22">
                <a:extLst>
                  <a:ext uri="{FF2B5EF4-FFF2-40B4-BE49-F238E27FC236}">
                    <a16:creationId xmlns:a16="http://schemas.microsoft.com/office/drawing/2014/main" id="{3D607E57-4D44-4BD0-00F0-C6945CED6593}"/>
                  </a:ext>
                </a:extLst>
              </p:cNvPr>
              <p:cNvSpPr/>
              <p:nvPr/>
            </p:nvSpPr>
            <p:spPr>
              <a:xfrm>
                <a:off x="1007265" y="2577396"/>
                <a:ext cx="962823" cy="928507"/>
              </a:xfrm>
              <a:prstGeom prst="roundRect">
                <a:avLst>
                  <a:gd name="adj" fmla="val 666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図 23" descr="QR コード&#10;&#10;AI 生成コンテンツは誤りを含む可能性があります。">
                <a:extLst>
                  <a:ext uri="{FF2B5EF4-FFF2-40B4-BE49-F238E27FC236}">
                    <a16:creationId xmlns:a16="http://schemas.microsoft.com/office/drawing/2014/main" id="{189A7023-5F34-B013-A3AE-8D4A4AF2A4F2}"/>
                  </a:ext>
                </a:extLst>
              </p:cNvPr>
              <p:cNvPicPr>
                <a:picLocks noChangeAspect="1"/>
              </p:cNvPicPr>
              <p:nvPr/>
            </p:nvPicPr>
            <p:blipFill>
              <a:blip r:embed="rId2"/>
              <a:stretch>
                <a:fillRect/>
              </a:stretch>
            </p:blipFill>
            <p:spPr>
              <a:xfrm>
                <a:off x="1079773" y="2598555"/>
                <a:ext cx="799144" cy="794888"/>
              </a:xfrm>
              <a:prstGeom prst="rect">
                <a:avLst/>
              </a:prstGeom>
              <a:grpFill/>
            </p:spPr>
          </p:pic>
        </p:grpSp>
        <p:sp>
          <p:nvSpPr>
            <p:cNvPr id="3" name="四角形: 角を丸くする 2">
              <a:extLst>
                <a:ext uri="{FF2B5EF4-FFF2-40B4-BE49-F238E27FC236}">
                  <a16:creationId xmlns:a16="http://schemas.microsoft.com/office/drawing/2014/main" id="{54A93268-60E6-48CF-FA44-CD8CA1A8D32B}"/>
                </a:ext>
              </a:extLst>
            </p:cNvPr>
            <p:cNvSpPr/>
            <p:nvPr/>
          </p:nvSpPr>
          <p:spPr>
            <a:xfrm>
              <a:off x="1652590" y="374597"/>
              <a:ext cx="1351098" cy="1452913"/>
            </a:xfrm>
            <a:prstGeom prst="roundRect">
              <a:avLst>
                <a:gd name="adj" fmla="val 3768"/>
              </a:avLst>
            </a:prstGeom>
            <a:noFill/>
            <a:ln w="3175">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　　　</a:t>
              </a:r>
            </a:p>
          </p:txBody>
        </p:sp>
      </p:grpSp>
      <p:sp>
        <p:nvSpPr>
          <p:cNvPr id="5" name="四角形: 角を丸くする 4">
            <a:extLst>
              <a:ext uri="{FF2B5EF4-FFF2-40B4-BE49-F238E27FC236}">
                <a16:creationId xmlns:a16="http://schemas.microsoft.com/office/drawing/2014/main" id="{16C2CF3D-3392-0DBA-9321-B6D99F06DE09}"/>
              </a:ext>
            </a:extLst>
          </p:cNvPr>
          <p:cNvSpPr/>
          <p:nvPr/>
        </p:nvSpPr>
        <p:spPr>
          <a:xfrm>
            <a:off x="2034559" y="1662357"/>
            <a:ext cx="600666" cy="12350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123-abc…</a:t>
            </a:r>
          </a:p>
        </p:txBody>
      </p:sp>
    </p:spTree>
    <p:extLst>
      <p:ext uri="{BB962C8B-B14F-4D97-AF65-F5344CB8AC3E}">
        <p14:creationId xmlns:p14="http://schemas.microsoft.com/office/powerpoint/2010/main" val="26401483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C875F8-F6EB-A2D8-BE7E-98C80D4ED324}"/>
              </a:ext>
            </a:extLst>
          </p:cNvPr>
          <p:cNvSpPr>
            <a:spLocks noGrp="1"/>
          </p:cNvSpPr>
          <p:nvPr>
            <p:ph type="title"/>
          </p:nvPr>
        </p:nvSpPr>
        <p:spPr>
          <a:xfrm>
            <a:off x="212824" y="103537"/>
            <a:ext cx="2882801" cy="375883"/>
          </a:xfrm>
        </p:spPr>
        <p:txBody>
          <a:bodyPr>
            <a:normAutofit/>
          </a:bodyPr>
          <a:lstStyle/>
          <a:p>
            <a:r>
              <a:rPr lang="en-US" altLang="ja-JP" sz="2000" dirty="0"/>
              <a:t>C</a:t>
            </a:r>
            <a:r>
              <a:rPr kumimoji="1" lang="en-US" altLang="ja-JP" sz="2000" dirty="0"/>
              <a:t>.</a:t>
            </a:r>
            <a:r>
              <a:rPr kumimoji="1" lang="ja-JP" altLang="en-US" dirty="0"/>
              <a:t>特定の商品用，ラッピングあり</a:t>
            </a:r>
          </a:p>
        </p:txBody>
      </p:sp>
      <p:sp>
        <p:nvSpPr>
          <p:cNvPr id="3" name="コンテンツ プレースホルダー 2">
            <a:extLst>
              <a:ext uri="{FF2B5EF4-FFF2-40B4-BE49-F238E27FC236}">
                <a16:creationId xmlns:a16="http://schemas.microsoft.com/office/drawing/2014/main" id="{6363EF54-B922-4B47-E1CD-4D003F3DFB7D}"/>
              </a:ext>
            </a:extLst>
          </p:cNvPr>
          <p:cNvSpPr>
            <a:spLocks noGrp="1"/>
          </p:cNvSpPr>
          <p:nvPr>
            <p:ph idx="1"/>
          </p:nvPr>
        </p:nvSpPr>
        <p:spPr/>
        <p:txBody>
          <a:bodyPr/>
          <a:lstStyle/>
          <a:p>
            <a:pPr marL="0" indent="0">
              <a:buNone/>
            </a:pPr>
            <a:r>
              <a:rPr lang="ja-JP" altLang="en-US" dirty="0"/>
              <a:t>・金券に必要な情報あり</a:t>
            </a:r>
            <a:endParaRPr lang="en-US" altLang="ja-JP" dirty="0"/>
          </a:p>
          <a:p>
            <a:pPr marL="0" indent="0">
              <a:buNone/>
            </a:pPr>
            <a:endParaRPr kumimoji="1" lang="ja-JP" altLang="en-US" dirty="0"/>
          </a:p>
        </p:txBody>
      </p:sp>
    </p:spTree>
    <p:extLst>
      <p:ext uri="{BB962C8B-B14F-4D97-AF65-F5344CB8AC3E}">
        <p14:creationId xmlns:p14="http://schemas.microsoft.com/office/powerpoint/2010/main" val="17503217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87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A0615-A05D-9692-07A1-ADA35151ABD0}"/>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143B04CE-B292-24D7-C519-01E9BBD01E95}"/>
              </a:ext>
            </a:extLst>
          </p:cNvPr>
          <p:cNvSpPr/>
          <p:nvPr/>
        </p:nvSpPr>
        <p:spPr>
          <a:xfrm>
            <a:off x="4761" y="0"/>
            <a:ext cx="3090864"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8FC09BB5-6334-41AC-5849-386837620481}"/>
              </a:ext>
            </a:extLst>
          </p:cNvPr>
          <p:cNvGrpSpPr/>
          <p:nvPr/>
        </p:nvGrpSpPr>
        <p:grpSpPr>
          <a:xfrm>
            <a:off x="885299" y="141225"/>
            <a:ext cx="1329789" cy="1662236"/>
            <a:chOff x="324896" y="199586"/>
            <a:chExt cx="1294896" cy="1618620"/>
          </a:xfrm>
        </p:grpSpPr>
        <p:sp>
          <p:nvSpPr>
            <p:cNvPr id="14" name="四角形: 角を丸くする 13">
              <a:extLst>
                <a:ext uri="{FF2B5EF4-FFF2-40B4-BE49-F238E27FC236}">
                  <a16:creationId xmlns:a16="http://schemas.microsoft.com/office/drawing/2014/main" id="{F4552440-448A-35C3-84E8-F83AE4A60A74}"/>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BACC4B02-0052-2202-7EB0-55FF59DC2ACD}"/>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spTree>
    <p:extLst>
      <p:ext uri="{BB962C8B-B14F-4D97-AF65-F5344CB8AC3E}">
        <p14:creationId xmlns:p14="http://schemas.microsoft.com/office/powerpoint/2010/main" val="16268058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1F62F-FD75-933E-69F4-BF1BE89991FB}"/>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50F361E2-E1B6-E8D9-E414-530445D9A040}"/>
              </a:ext>
            </a:extLst>
          </p:cNvPr>
          <p:cNvSpPr/>
          <p:nvPr/>
        </p:nvSpPr>
        <p:spPr>
          <a:xfrm>
            <a:off x="57150" y="15044"/>
            <a:ext cx="2990852" cy="1929643"/>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7E3A4812-D162-0E62-D6FF-E28E50FADA3E}"/>
              </a:ext>
            </a:extLst>
          </p:cNvPr>
          <p:cNvSpPr/>
          <p:nvPr/>
        </p:nvSpPr>
        <p:spPr>
          <a:xfrm>
            <a:off x="170287" y="132149"/>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B1C7554F-8D7B-D390-EFCF-260BC82EAB8B}"/>
              </a:ext>
            </a:extLst>
          </p:cNvPr>
          <p:cNvGrpSpPr/>
          <p:nvPr/>
        </p:nvGrpSpPr>
        <p:grpSpPr>
          <a:xfrm>
            <a:off x="170288" y="203490"/>
            <a:ext cx="2720550" cy="390450"/>
            <a:chOff x="425450" y="774699"/>
            <a:chExt cx="2996650" cy="390450"/>
          </a:xfrm>
        </p:grpSpPr>
        <p:sp>
          <p:nvSpPr>
            <p:cNvPr id="10" name="四角形: 角を丸くする 9">
              <a:extLst>
                <a:ext uri="{FF2B5EF4-FFF2-40B4-BE49-F238E27FC236}">
                  <a16:creationId xmlns:a16="http://schemas.microsoft.com/office/drawing/2014/main" id="{F0BFE0F1-F6D1-6C1C-BC5B-888A41DECEAE}"/>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2F43E96-37C2-E607-F0ED-91E2BF107B10}"/>
                </a:ext>
              </a:extLst>
            </p:cNvPr>
            <p:cNvSpPr/>
            <p:nvPr/>
          </p:nvSpPr>
          <p:spPr>
            <a:xfrm>
              <a:off x="1385934" y="874669"/>
              <a:ext cx="1450381"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72F6E8DF-5588-4ED9-4924-D25276E55732}"/>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31" name="四角形: 角を丸くする 30">
            <a:extLst>
              <a:ext uri="{FF2B5EF4-FFF2-40B4-BE49-F238E27FC236}">
                <a16:creationId xmlns:a16="http://schemas.microsoft.com/office/drawing/2014/main" id="{A2CE8740-4BBB-2EA1-3C8D-F7E922E98AA3}"/>
              </a:ext>
            </a:extLst>
          </p:cNvPr>
          <p:cNvSpPr/>
          <p:nvPr/>
        </p:nvSpPr>
        <p:spPr>
          <a:xfrm>
            <a:off x="582978" y="841888"/>
            <a:ext cx="964834" cy="1003682"/>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lang="en-US" altLang="ja-JP" dirty="0">
              <a:solidFill>
                <a:schemeClr val="tx1"/>
              </a:solidFill>
              <a:latin typeface="UD デジタル 教科書体 NP-R" panose="02020400000000000000" pitchFamily="18" charset="-128"/>
              <a:ea typeface="UD デジタル 教科書体 NP-R" panose="02020400000000000000" pitchFamily="18" charset="-128"/>
            </a:endParaRPr>
          </a:p>
          <a:p>
            <a:pPr algn="ct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枚入り</a:t>
            </a:r>
          </a:p>
        </p:txBody>
      </p:sp>
      <p:grpSp>
        <p:nvGrpSpPr>
          <p:cNvPr id="2" name="グループ化 1">
            <a:extLst>
              <a:ext uri="{FF2B5EF4-FFF2-40B4-BE49-F238E27FC236}">
                <a16:creationId xmlns:a16="http://schemas.microsoft.com/office/drawing/2014/main" id="{62217F13-11BE-965F-2DAC-3E533647C79B}"/>
              </a:ext>
            </a:extLst>
          </p:cNvPr>
          <p:cNvGrpSpPr/>
          <p:nvPr/>
        </p:nvGrpSpPr>
        <p:grpSpPr>
          <a:xfrm>
            <a:off x="1462110" y="837570"/>
            <a:ext cx="1008000" cy="1008000"/>
            <a:chOff x="1007265" y="2577396"/>
            <a:chExt cx="962823" cy="928507"/>
          </a:xfrm>
        </p:grpSpPr>
        <p:sp>
          <p:nvSpPr>
            <p:cNvPr id="3" name="四角形: 角を丸くする 2">
              <a:extLst>
                <a:ext uri="{FF2B5EF4-FFF2-40B4-BE49-F238E27FC236}">
                  <a16:creationId xmlns:a16="http://schemas.microsoft.com/office/drawing/2014/main" id="{4A8E8609-D24A-22B9-AC42-1F79B51BE21D}"/>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 name="図 6" descr="QR コード&#10;&#10;AI 生成コンテンツは誤りを含む可能性があります。">
              <a:extLst>
                <a:ext uri="{FF2B5EF4-FFF2-40B4-BE49-F238E27FC236}">
                  <a16:creationId xmlns:a16="http://schemas.microsoft.com/office/drawing/2014/main" id="{085F0C46-ED3B-943D-F5DF-8223DA8DC47C}"/>
                </a:ext>
              </a:extLst>
            </p:cNvPr>
            <p:cNvPicPr>
              <a:picLocks noChangeAspect="1"/>
            </p:cNvPicPr>
            <p:nvPr/>
          </p:nvPicPr>
          <p:blipFill>
            <a:blip r:embed="rId3"/>
            <a:stretch>
              <a:fillRect/>
            </a:stretch>
          </p:blipFill>
          <p:spPr>
            <a:xfrm>
              <a:off x="1042659" y="2598008"/>
              <a:ext cx="883492" cy="878787"/>
            </a:xfrm>
            <a:prstGeom prst="rect">
              <a:avLst/>
            </a:prstGeom>
          </p:spPr>
        </p:pic>
      </p:grpSp>
    </p:spTree>
    <p:extLst>
      <p:ext uri="{BB962C8B-B14F-4D97-AF65-F5344CB8AC3E}">
        <p14:creationId xmlns:p14="http://schemas.microsoft.com/office/powerpoint/2010/main" val="14748914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AFE2C9-991B-964C-D47A-32723A0ACAFA}"/>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CDE64D55-EE00-EAFD-A5AC-B71CB2332E04}"/>
              </a:ext>
            </a:extLst>
          </p:cNvPr>
          <p:cNvSpPr>
            <a:spLocks noGrp="1"/>
          </p:cNvSpPr>
          <p:nvPr>
            <p:ph idx="1"/>
          </p:nvPr>
        </p:nvSpPr>
        <p:spPr>
          <a:xfrm>
            <a:off x="64307" y="427322"/>
            <a:ext cx="949803" cy="1377665"/>
          </a:xfrm>
        </p:spPr>
        <p:txBody>
          <a:bodyPr>
            <a:normAutofit lnSpcReduction="10000"/>
          </a:bodyPr>
          <a:lstStyle/>
          <a:p>
            <a:pPr>
              <a:lnSpc>
                <a:spcPct val="120000"/>
              </a:lnSpc>
            </a:pPr>
            <a:r>
              <a:rPr kumimoji="1" lang="ja-JP" altLang="en-US" dirty="0"/>
              <a:t>上記カードに追加して、</a:t>
            </a:r>
            <a:r>
              <a:rPr lang="en-US" altLang="ja-JP" dirty="0"/>
              <a:t> 3</a:t>
            </a:r>
            <a:r>
              <a:rPr lang="ja-JP" altLang="en-US" dirty="0"/>
              <a:t>つ折りの紙をラッピング用台紙にする？</a:t>
            </a:r>
            <a:br>
              <a:rPr lang="en-US" altLang="ja-JP" dirty="0"/>
            </a:br>
            <a:r>
              <a:rPr lang="en-US" altLang="ja-JP" dirty="0"/>
              <a:t>(</a:t>
            </a:r>
            <a:r>
              <a:rPr lang="ja-JP" altLang="en-US" dirty="0"/>
              <a:t>厚紙で作成</a:t>
            </a:r>
            <a:r>
              <a:rPr lang="en-US" altLang="ja-JP" dirty="0"/>
              <a:t>)</a:t>
            </a:r>
            <a:endParaRPr kumimoji="1" lang="en-US" altLang="ja-JP" dirty="0"/>
          </a:p>
          <a:p>
            <a:pPr>
              <a:lnSpc>
                <a:spcPct val="120000"/>
              </a:lnSpc>
            </a:pPr>
            <a:endParaRPr kumimoji="1" lang="en-US" altLang="ja-JP" dirty="0"/>
          </a:p>
          <a:p>
            <a:pPr>
              <a:lnSpc>
                <a:spcPct val="120000"/>
              </a:lnSpc>
            </a:pPr>
            <a:r>
              <a:rPr kumimoji="1" lang="en-US" altLang="ja-JP" dirty="0"/>
              <a:t>QR</a:t>
            </a:r>
            <a:r>
              <a:rPr kumimoji="1" lang="ja-JP" altLang="en-US" dirty="0"/>
              <a:t>の位置には穴をあける、自由記入欄をつける</a:t>
            </a:r>
            <a:endParaRPr kumimoji="1" lang="en-US" altLang="ja-JP" dirty="0"/>
          </a:p>
        </p:txBody>
      </p:sp>
      <p:grpSp>
        <p:nvGrpSpPr>
          <p:cNvPr id="40" name="グループ化 39">
            <a:extLst>
              <a:ext uri="{FF2B5EF4-FFF2-40B4-BE49-F238E27FC236}">
                <a16:creationId xmlns:a16="http://schemas.microsoft.com/office/drawing/2014/main" id="{9A92B130-B356-1FAF-499F-7B95C81ABBC8}"/>
              </a:ext>
            </a:extLst>
          </p:cNvPr>
          <p:cNvGrpSpPr/>
          <p:nvPr/>
        </p:nvGrpSpPr>
        <p:grpSpPr>
          <a:xfrm>
            <a:off x="895649" y="139701"/>
            <a:ext cx="2199976" cy="1766502"/>
            <a:chOff x="762000" y="-314325"/>
            <a:chExt cx="3095625" cy="2485677"/>
          </a:xfrm>
        </p:grpSpPr>
        <p:sp>
          <p:nvSpPr>
            <p:cNvPr id="18" name="正方形/長方形 17">
              <a:extLst>
                <a:ext uri="{FF2B5EF4-FFF2-40B4-BE49-F238E27FC236}">
                  <a16:creationId xmlns:a16="http://schemas.microsoft.com/office/drawing/2014/main" id="{C9762565-7FB8-5779-2609-028A582A4619}"/>
                </a:ext>
              </a:extLst>
            </p:cNvPr>
            <p:cNvSpPr/>
            <p:nvPr/>
          </p:nvSpPr>
          <p:spPr>
            <a:xfrm>
              <a:off x="762000" y="-314325"/>
              <a:ext cx="3095625" cy="24856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kumimoji="1" lang="ja-JP" altLang="en-US" sz="400" dirty="0">
                  <a:solidFill>
                    <a:schemeClr val="tx1"/>
                  </a:solidFill>
                </a:rPr>
                <a:t>ラッピング用台紙の例</a:t>
              </a:r>
            </a:p>
          </p:txBody>
        </p:sp>
        <p:sp>
          <p:nvSpPr>
            <p:cNvPr id="9" name="正方形/長方形 8">
              <a:extLst>
                <a:ext uri="{FF2B5EF4-FFF2-40B4-BE49-F238E27FC236}">
                  <a16:creationId xmlns:a16="http://schemas.microsoft.com/office/drawing/2014/main" id="{24558763-EEB4-FFB6-2553-E3EA428BC8FB}"/>
                </a:ext>
              </a:extLst>
            </p:cNvPr>
            <p:cNvSpPr/>
            <p:nvPr/>
          </p:nvSpPr>
          <p:spPr>
            <a:xfrm>
              <a:off x="933450" y="-100363"/>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0" name="正方形/長方形 9">
              <a:extLst>
                <a:ext uri="{FF2B5EF4-FFF2-40B4-BE49-F238E27FC236}">
                  <a16:creationId xmlns:a16="http://schemas.microsoft.com/office/drawing/2014/main" id="{B88BBF5F-2D1E-0227-0EDD-C7BD7D269BD9}"/>
                </a:ext>
              </a:extLst>
            </p:cNvPr>
            <p:cNvSpPr/>
            <p:nvPr/>
          </p:nvSpPr>
          <p:spPr>
            <a:xfrm>
              <a:off x="933450" y="647350"/>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1" name="正方形/長方形 10">
              <a:extLst>
                <a:ext uri="{FF2B5EF4-FFF2-40B4-BE49-F238E27FC236}">
                  <a16:creationId xmlns:a16="http://schemas.microsoft.com/office/drawing/2014/main" id="{8F509049-DC88-B70D-26D6-0AF031F7857E}"/>
                </a:ext>
              </a:extLst>
            </p:cNvPr>
            <p:cNvSpPr/>
            <p:nvPr/>
          </p:nvSpPr>
          <p:spPr>
            <a:xfrm>
              <a:off x="933450" y="1409351"/>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2" name="正方形/長方形 11">
              <a:extLst>
                <a:ext uri="{FF2B5EF4-FFF2-40B4-BE49-F238E27FC236}">
                  <a16:creationId xmlns:a16="http://schemas.microsoft.com/office/drawing/2014/main" id="{236D3FFA-8FD3-7F82-B87D-B6D6354B18A5}"/>
                </a:ext>
              </a:extLst>
            </p:cNvPr>
            <p:cNvSpPr/>
            <p:nvPr/>
          </p:nvSpPr>
          <p:spPr>
            <a:xfrm>
              <a:off x="2447925" y="-100363"/>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3" name="正方形/長方形 12">
              <a:extLst>
                <a:ext uri="{FF2B5EF4-FFF2-40B4-BE49-F238E27FC236}">
                  <a16:creationId xmlns:a16="http://schemas.microsoft.com/office/drawing/2014/main" id="{B625037A-C498-527D-5940-83F63A3A6B30}"/>
                </a:ext>
              </a:extLst>
            </p:cNvPr>
            <p:cNvSpPr/>
            <p:nvPr/>
          </p:nvSpPr>
          <p:spPr>
            <a:xfrm>
              <a:off x="2447925" y="647350"/>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4" name="正方形/長方形 13">
              <a:extLst>
                <a:ext uri="{FF2B5EF4-FFF2-40B4-BE49-F238E27FC236}">
                  <a16:creationId xmlns:a16="http://schemas.microsoft.com/office/drawing/2014/main" id="{FFF9622E-410B-7953-E8BE-793AD27A409A}"/>
                </a:ext>
              </a:extLst>
            </p:cNvPr>
            <p:cNvSpPr/>
            <p:nvPr/>
          </p:nvSpPr>
          <p:spPr>
            <a:xfrm>
              <a:off x="2447925" y="1409351"/>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5" name="正方形/長方形 14">
              <a:extLst>
                <a:ext uri="{FF2B5EF4-FFF2-40B4-BE49-F238E27FC236}">
                  <a16:creationId xmlns:a16="http://schemas.microsoft.com/office/drawing/2014/main" id="{9A4F26E1-04F5-793E-69AB-A389243DF8EA}"/>
                </a:ext>
              </a:extLst>
            </p:cNvPr>
            <p:cNvSpPr/>
            <p:nvPr/>
          </p:nvSpPr>
          <p:spPr>
            <a:xfrm>
              <a:off x="1181100" y="947388"/>
              <a:ext cx="819150" cy="4048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solidFill>
              </a:endParaRPr>
            </a:p>
          </p:txBody>
        </p:sp>
        <p:sp>
          <p:nvSpPr>
            <p:cNvPr id="16" name="正方形/長方形 15">
              <a:extLst>
                <a:ext uri="{FF2B5EF4-FFF2-40B4-BE49-F238E27FC236}">
                  <a16:creationId xmlns:a16="http://schemas.microsoft.com/office/drawing/2014/main" id="{57893800-ED84-8192-2AF7-455B3D2D2974}"/>
                </a:ext>
              </a:extLst>
            </p:cNvPr>
            <p:cNvSpPr/>
            <p:nvPr/>
          </p:nvSpPr>
          <p:spPr>
            <a:xfrm>
              <a:off x="2695575" y="947388"/>
              <a:ext cx="819150" cy="4048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tx1"/>
                  </a:solidFill>
                </a:rPr>
                <a:t>QR</a:t>
              </a:r>
              <a:r>
                <a:rPr kumimoji="1" lang="ja-JP" altLang="en-US" sz="900" dirty="0">
                  <a:solidFill>
                    <a:schemeClr val="tx1"/>
                  </a:solidFill>
                </a:rPr>
                <a:t>用穴</a:t>
              </a:r>
            </a:p>
          </p:txBody>
        </p:sp>
        <p:sp>
          <p:nvSpPr>
            <p:cNvPr id="17" name="正方形/長方形 16">
              <a:extLst>
                <a:ext uri="{FF2B5EF4-FFF2-40B4-BE49-F238E27FC236}">
                  <a16:creationId xmlns:a16="http://schemas.microsoft.com/office/drawing/2014/main" id="{0DC94688-16BB-826B-0CB0-8864804795F5}"/>
                </a:ext>
              </a:extLst>
            </p:cNvPr>
            <p:cNvSpPr/>
            <p:nvPr/>
          </p:nvSpPr>
          <p:spPr>
            <a:xfrm>
              <a:off x="2695575" y="719745"/>
              <a:ext cx="819150" cy="1435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rPr>
                <a:t>のりづけ</a:t>
              </a:r>
            </a:p>
          </p:txBody>
        </p:sp>
        <p:sp>
          <p:nvSpPr>
            <p:cNvPr id="23" name="正方形/長方形 22">
              <a:extLst>
                <a:ext uri="{FF2B5EF4-FFF2-40B4-BE49-F238E27FC236}">
                  <a16:creationId xmlns:a16="http://schemas.microsoft.com/office/drawing/2014/main" id="{8EB955BB-6271-6C6A-A53F-8FC78096ECF9}"/>
                </a:ext>
              </a:extLst>
            </p:cNvPr>
            <p:cNvSpPr/>
            <p:nvPr/>
          </p:nvSpPr>
          <p:spPr>
            <a:xfrm>
              <a:off x="1366837" y="597178"/>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山折り</a:t>
              </a:r>
            </a:p>
          </p:txBody>
        </p:sp>
        <p:sp>
          <p:nvSpPr>
            <p:cNvPr id="24" name="正方形/長方形 23">
              <a:extLst>
                <a:ext uri="{FF2B5EF4-FFF2-40B4-BE49-F238E27FC236}">
                  <a16:creationId xmlns:a16="http://schemas.microsoft.com/office/drawing/2014/main" id="{BA1E2824-8FC3-8A35-9414-63BD3E96D623}"/>
                </a:ext>
              </a:extLst>
            </p:cNvPr>
            <p:cNvSpPr/>
            <p:nvPr/>
          </p:nvSpPr>
          <p:spPr>
            <a:xfrm>
              <a:off x="1366837" y="1381335"/>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山折り</a:t>
              </a:r>
            </a:p>
          </p:txBody>
        </p:sp>
        <p:sp>
          <p:nvSpPr>
            <p:cNvPr id="25" name="正方形/長方形 24">
              <a:extLst>
                <a:ext uri="{FF2B5EF4-FFF2-40B4-BE49-F238E27FC236}">
                  <a16:creationId xmlns:a16="http://schemas.microsoft.com/office/drawing/2014/main" id="{1ECA9A5D-F7A1-0217-D641-315AEB58F3D5}"/>
                </a:ext>
              </a:extLst>
            </p:cNvPr>
            <p:cNvSpPr/>
            <p:nvPr/>
          </p:nvSpPr>
          <p:spPr>
            <a:xfrm>
              <a:off x="2881312" y="1381335"/>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谷折り</a:t>
              </a:r>
            </a:p>
          </p:txBody>
        </p:sp>
        <p:sp>
          <p:nvSpPr>
            <p:cNvPr id="32" name="四角形: 角を丸くする 31">
              <a:extLst>
                <a:ext uri="{FF2B5EF4-FFF2-40B4-BE49-F238E27FC236}">
                  <a16:creationId xmlns:a16="http://schemas.microsoft.com/office/drawing/2014/main" id="{6106813E-E06A-2067-2811-B54421CF5BFD}"/>
                </a:ext>
              </a:extLst>
            </p:cNvPr>
            <p:cNvSpPr/>
            <p:nvPr/>
          </p:nvSpPr>
          <p:spPr>
            <a:xfrm>
              <a:off x="2452687" y="1488162"/>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sp>
          <p:nvSpPr>
            <p:cNvPr id="26" name="四角形: 角を丸くする 25">
              <a:extLst>
                <a:ext uri="{FF2B5EF4-FFF2-40B4-BE49-F238E27FC236}">
                  <a16:creationId xmlns:a16="http://schemas.microsoft.com/office/drawing/2014/main" id="{3D77F73D-4372-10BF-0B39-2D319EF88D32}"/>
                </a:ext>
              </a:extLst>
            </p:cNvPr>
            <p:cNvSpPr/>
            <p:nvPr/>
          </p:nvSpPr>
          <p:spPr>
            <a:xfrm>
              <a:off x="2500312" y="689654"/>
              <a:ext cx="1219200" cy="671907"/>
            </a:xfrm>
            <a:prstGeom prst="roundRect">
              <a:avLst/>
            </a:prstGeom>
            <a:solidFill>
              <a:srgbClr val="ED7E41">
                <a:alpha val="27843"/>
              </a:srgbClr>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b="1" dirty="0">
                  <a:solidFill>
                    <a:srgbClr val="FF0000"/>
                  </a:solidFill>
                </a:rPr>
                <a:t>カード</a:t>
              </a:r>
              <a:endParaRPr kumimoji="1" lang="en-US" altLang="ja-JP" sz="800" b="1" dirty="0">
                <a:solidFill>
                  <a:srgbClr val="FF0000"/>
                </a:solidFill>
              </a:endParaRPr>
            </a:p>
          </p:txBody>
        </p:sp>
        <p:grpSp>
          <p:nvGrpSpPr>
            <p:cNvPr id="8" name="グループ化 7">
              <a:extLst>
                <a:ext uri="{FF2B5EF4-FFF2-40B4-BE49-F238E27FC236}">
                  <a16:creationId xmlns:a16="http://schemas.microsoft.com/office/drawing/2014/main" id="{31FFBDE3-D128-9675-D162-0852936F72CA}"/>
                </a:ext>
              </a:extLst>
            </p:cNvPr>
            <p:cNvGrpSpPr/>
            <p:nvPr/>
          </p:nvGrpSpPr>
          <p:grpSpPr>
            <a:xfrm>
              <a:off x="2560439" y="1632129"/>
              <a:ext cx="1084362" cy="417723"/>
              <a:chOff x="414338" y="352425"/>
              <a:chExt cx="2247899" cy="1233488"/>
            </a:xfrm>
          </p:grpSpPr>
          <p:sp>
            <p:nvSpPr>
              <p:cNvPr id="4" name="四角形: 角を丸くする 3">
                <a:extLst>
                  <a:ext uri="{FF2B5EF4-FFF2-40B4-BE49-F238E27FC236}">
                    <a16:creationId xmlns:a16="http://schemas.microsoft.com/office/drawing/2014/main" id="{F9798937-12AB-3A8E-E243-3FBD0573F245}"/>
                  </a:ext>
                </a:extLst>
              </p:cNvPr>
              <p:cNvSpPr/>
              <p:nvPr/>
            </p:nvSpPr>
            <p:spPr>
              <a:xfrm>
                <a:off x="414338" y="352425"/>
                <a:ext cx="2247899" cy="123348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4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5" name="直線コネクタ 4">
                <a:extLst>
                  <a:ext uri="{FF2B5EF4-FFF2-40B4-BE49-F238E27FC236}">
                    <a16:creationId xmlns:a16="http://schemas.microsoft.com/office/drawing/2014/main" id="{4917AA28-B7D6-6143-A772-9A1D35915BEF}"/>
                  </a:ext>
                </a:extLst>
              </p:cNvPr>
              <p:cNvCxnSpPr/>
              <p:nvPr/>
            </p:nvCxnSpPr>
            <p:spPr>
              <a:xfrm>
                <a:off x="709613" y="671513"/>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6" name="直線コネクタ 5">
                <a:extLst>
                  <a:ext uri="{FF2B5EF4-FFF2-40B4-BE49-F238E27FC236}">
                    <a16:creationId xmlns:a16="http://schemas.microsoft.com/office/drawing/2014/main" id="{87F25B81-9777-3A1E-1067-23A3AF81AFE2}"/>
                  </a:ext>
                </a:extLst>
              </p:cNvPr>
              <p:cNvCxnSpPr/>
              <p:nvPr/>
            </p:nvCxnSpPr>
            <p:spPr>
              <a:xfrm>
                <a:off x="709613" y="958057"/>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7" name="直線コネクタ 6">
                <a:extLst>
                  <a:ext uri="{FF2B5EF4-FFF2-40B4-BE49-F238E27FC236}">
                    <a16:creationId xmlns:a16="http://schemas.microsoft.com/office/drawing/2014/main" id="{FA71A7DD-A4E1-5403-C080-96843D771B17}"/>
                  </a:ext>
                </a:extLst>
              </p:cNvPr>
              <p:cNvCxnSpPr/>
              <p:nvPr/>
            </p:nvCxnSpPr>
            <p:spPr>
              <a:xfrm>
                <a:off x="709613" y="1272382"/>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
          <p:nvSpPr>
            <p:cNvPr id="27" name="テキスト ボックス 26">
              <a:extLst>
                <a:ext uri="{FF2B5EF4-FFF2-40B4-BE49-F238E27FC236}">
                  <a16:creationId xmlns:a16="http://schemas.microsoft.com/office/drawing/2014/main" id="{3E8248EA-551D-B2A0-D288-93812D9D0056}"/>
                </a:ext>
              </a:extLst>
            </p:cNvPr>
            <p:cNvSpPr txBox="1"/>
            <p:nvPr/>
          </p:nvSpPr>
          <p:spPr>
            <a:xfrm>
              <a:off x="919523" y="649625"/>
              <a:ext cx="1395410" cy="346462"/>
            </a:xfrm>
            <a:prstGeom prst="rect">
              <a:avLst/>
            </a:prstGeom>
            <a:noFill/>
            <a:effectLst>
              <a:softEdge rad="25400"/>
            </a:effectLst>
          </p:spPr>
          <p:txBody>
            <a:bodyPr wrap="square">
              <a:spAutoFit/>
            </a:bodyPr>
            <a:lstStyle/>
            <a:p>
              <a:pPr algn="ctr"/>
              <a:r>
                <a:rPr lang="ja-JP" altLang="en-US" sz="400" b="1" dirty="0">
                  <a:latin typeface="UD デジタル 教科書体 NP-R" panose="02020400000000000000" pitchFamily="18" charset="-128"/>
                  <a:ea typeface="UD デジタル 教科書体 NP-R" panose="02020400000000000000" pitchFamily="18" charset="-128"/>
                </a:rPr>
                <a:t> </a:t>
              </a:r>
              <a:r>
                <a:rPr lang="en-US" altLang="ja-JP" sz="300" b="1" dirty="0">
                  <a:latin typeface="UD デジタル 教科書体 NP-R" panose="02020400000000000000" pitchFamily="18" charset="-128"/>
                  <a:ea typeface="UD デジタル 教科書体 NP-R" panose="02020400000000000000" pitchFamily="18" charset="-128"/>
                </a:rPr>
                <a:t>“</a:t>
              </a:r>
              <a:r>
                <a:rPr lang="ja-JP" altLang="en-US" sz="300" b="1" dirty="0">
                  <a:latin typeface="UD デジタル 教科書体 NP-R" panose="02020400000000000000" pitchFamily="18" charset="-128"/>
                  <a:ea typeface="UD デジタル 教科書体 NP-R" panose="02020400000000000000" pitchFamily="18" charset="-128"/>
                </a:rPr>
                <a:t>名刺代わりに。</a:t>
              </a:r>
              <a:r>
                <a:rPr lang="en-US" altLang="ja-JP" sz="300" b="1" dirty="0">
                  <a:latin typeface="UD デジタル 教科書体 NP-R" panose="02020400000000000000" pitchFamily="18" charset="-128"/>
                  <a:ea typeface="UD デジタル 教科書体 NP-R" panose="02020400000000000000" pitchFamily="18" charset="-128"/>
                </a:rPr>
                <a:t>”</a:t>
              </a:r>
              <a:r>
                <a:rPr lang="ja-JP" altLang="en-US" sz="300" b="1" i="0" dirty="0">
                  <a:effectLst/>
                  <a:latin typeface="UD デジタル 教科書体 NP-R" panose="02020400000000000000" pitchFamily="18" charset="-128"/>
                  <a:ea typeface="UD デジタル 教科書体 NP-R" panose="02020400000000000000" pitchFamily="18" charset="-128"/>
                </a:rPr>
                <a:t>は、出会いにちょっとした贈りものを添えるデジタルギフトサービス。 ギフトの送り先は</a:t>
              </a:r>
              <a:r>
                <a:rPr lang="en-US" altLang="ja-JP" sz="300" b="1" i="0" dirty="0">
                  <a:effectLst/>
                  <a:latin typeface="UD デジタル 教科書体 NP-R" panose="02020400000000000000" pitchFamily="18" charset="-128"/>
                  <a:ea typeface="UD デジタル 教科書体 NP-R" panose="02020400000000000000" pitchFamily="18" charset="-128"/>
                </a:rPr>
                <a:t>QR</a:t>
              </a:r>
              <a:r>
                <a:rPr lang="ja-JP" altLang="en-US" sz="300" b="1" i="0" dirty="0">
                  <a:effectLst/>
                  <a:latin typeface="UD デジタル 教科書体 NP-R" panose="02020400000000000000" pitchFamily="18" charset="-128"/>
                  <a:ea typeface="UD デジタル 教科書体 NP-R" panose="02020400000000000000" pitchFamily="18" charset="-128"/>
                </a:rPr>
                <a:t>コードから指定できます。</a:t>
              </a:r>
              <a:endParaRPr lang="ja-JP" altLang="en-US" sz="400" b="1" dirty="0">
                <a:latin typeface="UD デジタル 教科書体 NP-R" panose="02020400000000000000" pitchFamily="18" charset="-128"/>
                <a:ea typeface="UD デジタル 教科書体 NP-R" panose="02020400000000000000" pitchFamily="18" charset="-128"/>
              </a:endParaRPr>
            </a:p>
          </p:txBody>
        </p:sp>
        <p:sp>
          <p:nvSpPr>
            <p:cNvPr id="28" name="正方形/長方形 27">
              <a:extLst>
                <a:ext uri="{FF2B5EF4-FFF2-40B4-BE49-F238E27FC236}">
                  <a16:creationId xmlns:a16="http://schemas.microsoft.com/office/drawing/2014/main" id="{581E379A-91A8-8BC1-B448-EE6EF8FC0F9F}"/>
                </a:ext>
              </a:extLst>
            </p:cNvPr>
            <p:cNvSpPr/>
            <p:nvPr/>
          </p:nvSpPr>
          <p:spPr>
            <a:xfrm>
              <a:off x="2881312" y="590828"/>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谷折り</a:t>
              </a:r>
            </a:p>
          </p:txBody>
        </p:sp>
        <p:sp>
          <p:nvSpPr>
            <p:cNvPr id="29" name="四角形: 角を丸くする 28">
              <a:extLst>
                <a:ext uri="{FF2B5EF4-FFF2-40B4-BE49-F238E27FC236}">
                  <a16:creationId xmlns:a16="http://schemas.microsoft.com/office/drawing/2014/main" id="{44582389-0E34-ABB2-8B6D-A87DBF5530B4}"/>
                </a:ext>
              </a:extLst>
            </p:cNvPr>
            <p:cNvSpPr/>
            <p:nvPr/>
          </p:nvSpPr>
          <p:spPr>
            <a:xfrm>
              <a:off x="943816" y="-100363"/>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sp>
          <p:nvSpPr>
            <p:cNvPr id="30" name="四角形: 角を丸くする 29">
              <a:extLst>
                <a:ext uri="{FF2B5EF4-FFF2-40B4-BE49-F238E27FC236}">
                  <a16:creationId xmlns:a16="http://schemas.microsoft.com/office/drawing/2014/main" id="{205B201F-414B-A0A3-6EB8-90F0A678BF5F}"/>
                </a:ext>
              </a:extLst>
            </p:cNvPr>
            <p:cNvSpPr/>
            <p:nvPr/>
          </p:nvSpPr>
          <p:spPr>
            <a:xfrm>
              <a:off x="943816" y="1465548"/>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grpSp>
          <p:nvGrpSpPr>
            <p:cNvPr id="39" name="グループ化 38">
              <a:extLst>
                <a:ext uri="{FF2B5EF4-FFF2-40B4-BE49-F238E27FC236}">
                  <a16:creationId xmlns:a16="http://schemas.microsoft.com/office/drawing/2014/main" id="{3383DB9E-07EB-7E54-3E4F-11F3F85CAE0E}"/>
                </a:ext>
              </a:extLst>
            </p:cNvPr>
            <p:cNvGrpSpPr/>
            <p:nvPr/>
          </p:nvGrpSpPr>
          <p:grpSpPr>
            <a:xfrm>
              <a:off x="1235927" y="954859"/>
              <a:ext cx="731798" cy="390885"/>
              <a:chOff x="582978" y="837570"/>
              <a:chExt cx="1887132" cy="1008000"/>
            </a:xfrm>
          </p:grpSpPr>
          <p:sp>
            <p:nvSpPr>
              <p:cNvPr id="35" name="四角形: 角を丸くする 34">
                <a:extLst>
                  <a:ext uri="{FF2B5EF4-FFF2-40B4-BE49-F238E27FC236}">
                    <a16:creationId xmlns:a16="http://schemas.microsoft.com/office/drawing/2014/main" id="{E41B7563-D526-5BF1-B9AB-1F9275B5C71E}"/>
                  </a:ext>
                </a:extLst>
              </p:cNvPr>
              <p:cNvSpPr/>
              <p:nvPr/>
            </p:nvSpPr>
            <p:spPr>
              <a:xfrm>
                <a:off x="582978" y="841888"/>
                <a:ext cx="964834" cy="1003682"/>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600" dirty="0">
                    <a:solidFill>
                      <a:schemeClr val="tx1"/>
                    </a:solidFill>
                    <a:latin typeface="UD デジタル 教科書体 NP-R" panose="02020400000000000000" pitchFamily="18" charset="-128"/>
                    <a:ea typeface="UD デジタル 教科書体 NP-R" panose="02020400000000000000" pitchFamily="18" charset="-128"/>
                  </a:rPr>
                  <a:t>鼎庵</a:t>
                </a:r>
                <a:endParaRPr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gn="ctr"/>
                <a:endParaRPr kumimoji="1" lang="en-US" altLang="ja-JP" sz="4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4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4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400" dirty="0">
                    <a:solidFill>
                      <a:schemeClr val="tx1"/>
                    </a:solidFill>
                    <a:latin typeface="UD デジタル 教科書体 NP-R" panose="02020400000000000000" pitchFamily="18" charset="-128"/>
                    <a:ea typeface="UD デジタル 教科書体 NP-R" panose="02020400000000000000" pitchFamily="18" charset="-128"/>
                  </a:rPr>
                  <a:t>枚入り</a:t>
                </a:r>
              </a:p>
            </p:txBody>
          </p:sp>
          <p:grpSp>
            <p:nvGrpSpPr>
              <p:cNvPr id="36" name="グループ化 35">
                <a:extLst>
                  <a:ext uri="{FF2B5EF4-FFF2-40B4-BE49-F238E27FC236}">
                    <a16:creationId xmlns:a16="http://schemas.microsoft.com/office/drawing/2014/main" id="{72442B6E-2128-E726-0574-1159D197E62B}"/>
                  </a:ext>
                </a:extLst>
              </p:cNvPr>
              <p:cNvGrpSpPr/>
              <p:nvPr/>
            </p:nvGrpSpPr>
            <p:grpSpPr>
              <a:xfrm>
                <a:off x="1462110" y="837570"/>
                <a:ext cx="1008000" cy="1008000"/>
                <a:chOff x="1007265" y="2577396"/>
                <a:chExt cx="962823" cy="928507"/>
              </a:xfrm>
            </p:grpSpPr>
            <p:sp>
              <p:nvSpPr>
                <p:cNvPr id="37" name="四角形: 角を丸くする 36">
                  <a:extLst>
                    <a:ext uri="{FF2B5EF4-FFF2-40B4-BE49-F238E27FC236}">
                      <a16:creationId xmlns:a16="http://schemas.microsoft.com/office/drawing/2014/main" id="{1260C053-03CC-116E-4B75-EA5E263A033D}"/>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600"/>
                </a:p>
              </p:txBody>
            </p:sp>
            <p:pic>
              <p:nvPicPr>
                <p:cNvPr id="38" name="図 37" descr="QR コード&#10;&#10;AI 生成コンテンツは誤りを含む可能性があります。">
                  <a:extLst>
                    <a:ext uri="{FF2B5EF4-FFF2-40B4-BE49-F238E27FC236}">
                      <a16:creationId xmlns:a16="http://schemas.microsoft.com/office/drawing/2014/main" id="{247BE28C-0090-935D-69D6-36A0CA611B7D}"/>
                    </a:ext>
                  </a:extLst>
                </p:cNvPr>
                <p:cNvPicPr>
                  <a:picLocks noChangeAspect="1"/>
                </p:cNvPicPr>
                <p:nvPr/>
              </p:nvPicPr>
              <p:blipFill>
                <a:blip r:embed="rId3"/>
                <a:stretch>
                  <a:fillRect/>
                </a:stretch>
              </p:blipFill>
              <p:spPr>
                <a:xfrm>
                  <a:off x="1042659" y="2598008"/>
                  <a:ext cx="883492" cy="878787"/>
                </a:xfrm>
                <a:prstGeom prst="rect">
                  <a:avLst/>
                </a:prstGeom>
              </p:spPr>
            </p:pic>
          </p:grpSp>
        </p:grpSp>
        <p:sp>
          <p:nvSpPr>
            <p:cNvPr id="31" name="四角形: 角を丸くする 30">
              <a:extLst>
                <a:ext uri="{FF2B5EF4-FFF2-40B4-BE49-F238E27FC236}">
                  <a16:creationId xmlns:a16="http://schemas.microsoft.com/office/drawing/2014/main" id="{02AA48DE-1E7E-91E1-25E9-534FDBBE0100}"/>
                </a:ext>
              </a:extLst>
            </p:cNvPr>
            <p:cNvSpPr/>
            <p:nvPr/>
          </p:nvSpPr>
          <p:spPr>
            <a:xfrm>
              <a:off x="2452687" y="-103241"/>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sp>
          <p:nvSpPr>
            <p:cNvPr id="34" name="四角形: 角を丸くする 33">
              <a:extLst>
                <a:ext uri="{FF2B5EF4-FFF2-40B4-BE49-F238E27FC236}">
                  <a16:creationId xmlns:a16="http://schemas.microsoft.com/office/drawing/2014/main" id="{A69DA3EA-2F8F-7725-E3DA-F651B1ADF29D}"/>
                </a:ext>
              </a:extLst>
            </p:cNvPr>
            <p:cNvSpPr/>
            <p:nvPr/>
          </p:nvSpPr>
          <p:spPr>
            <a:xfrm>
              <a:off x="1181100" y="946709"/>
              <a:ext cx="819150" cy="403066"/>
            </a:xfrm>
            <a:prstGeom prst="roundRect">
              <a:avLst>
                <a:gd name="adj" fmla="val 0"/>
              </a:avLst>
            </a:prstGeom>
            <a:solidFill>
              <a:srgbClr val="ED7E41">
                <a:alpha val="27843"/>
              </a:srgbClr>
            </a:solidFill>
            <a:ln>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b="1" dirty="0">
                  <a:solidFill>
                    <a:srgbClr val="FF0000"/>
                  </a:solidFill>
                </a:rPr>
                <a:t>カード裏面</a:t>
              </a:r>
              <a:endParaRPr kumimoji="1" lang="en-US" altLang="ja-JP" sz="2400" b="1" dirty="0">
                <a:solidFill>
                  <a:srgbClr val="FF0000"/>
                </a:solidFill>
              </a:endParaRPr>
            </a:p>
          </p:txBody>
        </p:sp>
      </p:grpSp>
      <p:sp>
        <p:nvSpPr>
          <p:cNvPr id="2" name="タイトル 1">
            <a:extLst>
              <a:ext uri="{FF2B5EF4-FFF2-40B4-BE49-F238E27FC236}">
                <a16:creationId xmlns:a16="http://schemas.microsoft.com/office/drawing/2014/main" id="{DAADF0B3-C950-334F-3A86-2C39592F0A91}"/>
              </a:ext>
            </a:extLst>
          </p:cNvPr>
          <p:cNvSpPr>
            <a:spLocks noGrp="1"/>
          </p:cNvSpPr>
          <p:nvPr>
            <p:ph type="title"/>
          </p:nvPr>
        </p:nvSpPr>
        <p:spPr>
          <a:xfrm>
            <a:off x="0" y="-691"/>
            <a:ext cx="2669977" cy="375883"/>
          </a:xfrm>
        </p:spPr>
        <p:txBody>
          <a:bodyPr/>
          <a:lstStyle/>
          <a:p>
            <a:r>
              <a:rPr kumimoji="1" lang="ja-JP" altLang="en-US" dirty="0"/>
              <a:t>ラッピング台紙</a:t>
            </a:r>
          </a:p>
        </p:txBody>
      </p:sp>
    </p:spTree>
    <p:extLst>
      <p:ext uri="{BB962C8B-B14F-4D97-AF65-F5344CB8AC3E}">
        <p14:creationId xmlns:p14="http://schemas.microsoft.com/office/powerpoint/2010/main" val="10801027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08910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C9764E-C9D4-0387-B40D-4C367D272D68}"/>
              </a:ext>
            </a:extLst>
          </p:cNvPr>
          <p:cNvSpPr>
            <a:spLocks noGrp="1"/>
          </p:cNvSpPr>
          <p:nvPr>
            <p:ph type="title"/>
          </p:nvPr>
        </p:nvSpPr>
        <p:spPr/>
        <p:txBody>
          <a:bodyPr/>
          <a:lstStyle/>
          <a:p>
            <a:r>
              <a:rPr kumimoji="1" lang="en-US" altLang="ja-JP" sz="2000" dirty="0"/>
              <a:t>D.</a:t>
            </a:r>
            <a:r>
              <a:rPr kumimoji="1" lang="ja-JP" altLang="en-US" dirty="0"/>
              <a:t>すべての商品に使用可能なカード</a:t>
            </a:r>
          </a:p>
        </p:txBody>
      </p:sp>
      <p:sp>
        <p:nvSpPr>
          <p:cNvPr id="3" name="コンテンツ プレースホルダー 2">
            <a:extLst>
              <a:ext uri="{FF2B5EF4-FFF2-40B4-BE49-F238E27FC236}">
                <a16:creationId xmlns:a16="http://schemas.microsoft.com/office/drawing/2014/main" id="{54CC76A1-6F23-A972-4DC6-47E3C331AC49}"/>
              </a:ext>
            </a:extLst>
          </p:cNvPr>
          <p:cNvSpPr>
            <a:spLocks noGrp="1"/>
          </p:cNvSpPr>
          <p:nvPr>
            <p:ph idx="1"/>
          </p:nvPr>
        </p:nvSpPr>
        <p:spPr/>
        <p:txBody>
          <a:bodyPr/>
          <a:lstStyle/>
          <a:p>
            <a:r>
              <a:rPr lang="ja-JP" altLang="en-US" dirty="0"/>
              <a:t>メモ欄あり</a:t>
            </a:r>
            <a:endParaRPr lang="en-US" altLang="ja-JP" dirty="0"/>
          </a:p>
          <a:p>
            <a:r>
              <a:rPr lang="ja-JP" altLang="en-US" dirty="0"/>
              <a:t>金券に必要な情報不足</a:t>
            </a:r>
            <a:r>
              <a:rPr lang="en-US" altLang="ja-JP" dirty="0"/>
              <a:t>(</a:t>
            </a:r>
            <a:r>
              <a:rPr lang="ja-JP" altLang="en-US" dirty="0"/>
              <a:t>発行者・問い合わせ先</a:t>
            </a:r>
            <a:r>
              <a:rPr lang="en-US" altLang="ja-JP" dirty="0"/>
              <a:t>)</a:t>
            </a:r>
          </a:p>
          <a:p>
            <a:r>
              <a:rPr lang="ja-JP" altLang="en-US" dirty="0"/>
              <a:t>内容量・商品の記載ができないため金券となる場合は使用できない可能性あり</a:t>
            </a:r>
            <a:endParaRPr kumimoji="1" lang="ja-JP" altLang="en-US" dirty="0"/>
          </a:p>
        </p:txBody>
      </p:sp>
    </p:spTree>
    <p:extLst>
      <p:ext uri="{BB962C8B-B14F-4D97-AF65-F5344CB8AC3E}">
        <p14:creationId xmlns:p14="http://schemas.microsoft.com/office/powerpoint/2010/main" val="16852801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50346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7E42B-C851-48D3-2622-2928E8C97F87}"/>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17765138-8A96-BE1A-10BF-AF6E0567BFA1}"/>
              </a:ext>
            </a:extLst>
          </p:cNvPr>
          <p:cNvSpPr/>
          <p:nvPr/>
        </p:nvSpPr>
        <p:spPr>
          <a:xfrm>
            <a:off x="4761" y="0"/>
            <a:ext cx="3090864"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9" name="グループ化 8">
            <a:extLst>
              <a:ext uri="{FF2B5EF4-FFF2-40B4-BE49-F238E27FC236}">
                <a16:creationId xmlns:a16="http://schemas.microsoft.com/office/drawing/2014/main" id="{33F2E229-5112-C238-1E9B-0E26B2641BA3}"/>
              </a:ext>
            </a:extLst>
          </p:cNvPr>
          <p:cNvGrpSpPr/>
          <p:nvPr/>
        </p:nvGrpSpPr>
        <p:grpSpPr>
          <a:xfrm>
            <a:off x="1043812" y="468343"/>
            <a:ext cx="1008000" cy="1008000"/>
            <a:chOff x="1007265" y="2577396"/>
            <a:chExt cx="962823" cy="928507"/>
          </a:xfrm>
        </p:grpSpPr>
        <p:sp>
          <p:nvSpPr>
            <p:cNvPr id="10" name="四角形: 角を丸くする 9">
              <a:extLst>
                <a:ext uri="{FF2B5EF4-FFF2-40B4-BE49-F238E27FC236}">
                  <a16:creationId xmlns:a16="http://schemas.microsoft.com/office/drawing/2014/main" id="{673C313B-2632-A2E7-DC61-A0CDFF3694B8}"/>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QR コード&#10;&#10;AI 生成コンテンツは誤りを含む可能性があります。">
              <a:extLst>
                <a:ext uri="{FF2B5EF4-FFF2-40B4-BE49-F238E27FC236}">
                  <a16:creationId xmlns:a16="http://schemas.microsoft.com/office/drawing/2014/main" id="{3C21897E-09FF-5EB5-C50F-71E1D547359B}"/>
                </a:ext>
              </a:extLst>
            </p:cNvPr>
            <p:cNvPicPr>
              <a:picLocks noChangeAspect="1"/>
            </p:cNvPicPr>
            <p:nvPr/>
          </p:nvPicPr>
          <p:blipFill>
            <a:blip r:embed="rId3"/>
            <a:stretch>
              <a:fillRect/>
            </a:stretch>
          </p:blipFill>
          <p:spPr>
            <a:xfrm>
              <a:off x="1042659" y="2598008"/>
              <a:ext cx="883492" cy="878787"/>
            </a:xfrm>
            <a:prstGeom prst="rect">
              <a:avLst/>
            </a:prstGeom>
          </p:spPr>
        </p:pic>
      </p:grpSp>
    </p:spTree>
    <p:extLst>
      <p:ext uri="{BB962C8B-B14F-4D97-AF65-F5344CB8AC3E}">
        <p14:creationId xmlns:p14="http://schemas.microsoft.com/office/powerpoint/2010/main" val="14106434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859B3-0CF8-CB1B-0895-C0F8206916B2}"/>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E1BC5854-C0BD-A9F9-2856-050AE6BACC55}"/>
              </a:ext>
            </a:extLst>
          </p:cNvPr>
          <p:cNvSpPr/>
          <p:nvPr/>
        </p:nvSpPr>
        <p:spPr>
          <a:xfrm>
            <a:off x="57150" y="15044"/>
            <a:ext cx="2990852" cy="1929643"/>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7764C3B2-B66C-B8B2-CAFC-FB79C72A7249}"/>
              </a:ext>
            </a:extLst>
          </p:cNvPr>
          <p:cNvSpPr/>
          <p:nvPr/>
        </p:nvSpPr>
        <p:spPr>
          <a:xfrm>
            <a:off x="170287" y="132149"/>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8A09514E-B336-688C-B389-6710FC57DDB7}"/>
              </a:ext>
            </a:extLst>
          </p:cNvPr>
          <p:cNvGrpSpPr/>
          <p:nvPr/>
        </p:nvGrpSpPr>
        <p:grpSpPr>
          <a:xfrm>
            <a:off x="170288" y="203490"/>
            <a:ext cx="2720550" cy="390450"/>
            <a:chOff x="425450" y="774699"/>
            <a:chExt cx="2996650" cy="390450"/>
          </a:xfrm>
        </p:grpSpPr>
        <p:sp>
          <p:nvSpPr>
            <p:cNvPr id="10" name="四角形: 角を丸くする 9">
              <a:extLst>
                <a:ext uri="{FF2B5EF4-FFF2-40B4-BE49-F238E27FC236}">
                  <a16:creationId xmlns:a16="http://schemas.microsoft.com/office/drawing/2014/main" id="{654B0951-75D6-593B-AED0-E94EE618228E}"/>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17CF0691-4BFE-906B-273A-C1B030AFBCE9}"/>
                </a:ext>
              </a:extLst>
            </p:cNvPr>
            <p:cNvSpPr/>
            <p:nvPr/>
          </p:nvSpPr>
          <p:spPr>
            <a:xfrm>
              <a:off x="1385933" y="874669"/>
              <a:ext cx="1544806"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CE93DF2E-E183-60C8-62D2-57805CF770C0}"/>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96405920-7124-28F9-FCAA-D1DEAA6FCDB1}"/>
              </a:ext>
            </a:extLst>
          </p:cNvPr>
          <p:cNvGrpSpPr/>
          <p:nvPr/>
        </p:nvGrpSpPr>
        <p:grpSpPr>
          <a:xfrm>
            <a:off x="214313" y="665282"/>
            <a:ext cx="2676525" cy="1111132"/>
            <a:chOff x="414338" y="352425"/>
            <a:chExt cx="2247899" cy="1233488"/>
          </a:xfrm>
        </p:grpSpPr>
        <p:sp>
          <p:nvSpPr>
            <p:cNvPr id="3" name="四角形: 角を丸くする 2">
              <a:extLst>
                <a:ext uri="{FF2B5EF4-FFF2-40B4-BE49-F238E27FC236}">
                  <a16:creationId xmlns:a16="http://schemas.microsoft.com/office/drawing/2014/main" id="{1411B7D8-062A-6E97-B8A9-B88FA64327DD}"/>
                </a:ext>
              </a:extLst>
            </p:cNvPr>
            <p:cNvSpPr/>
            <p:nvPr/>
          </p:nvSpPr>
          <p:spPr>
            <a:xfrm>
              <a:off x="414338" y="352425"/>
              <a:ext cx="2247899" cy="123348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6" name="直線コネクタ 5">
              <a:extLst>
                <a:ext uri="{FF2B5EF4-FFF2-40B4-BE49-F238E27FC236}">
                  <a16:creationId xmlns:a16="http://schemas.microsoft.com/office/drawing/2014/main" id="{CBD0075F-FAE6-4BF1-6FD1-467522D1577C}"/>
                </a:ext>
              </a:extLst>
            </p:cNvPr>
            <p:cNvCxnSpPr/>
            <p:nvPr/>
          </p:nvCxnSpPr>
          <p:spPr>
            <a:xfrm>
              <a:off x="717518" y="672650"/>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7" name="直線コネクタ 6">
              <a:extLst>
                <a:ext uri="{FF2B5EF4-FFF2-40B4-BE49-F238E27FC236}">
                  <a16:creationId xmlns:a16="http://schemas.microsoft.com/office/drawing/2014/main" id="{CA4D78EA-45EC-8B0F-F157-FD3AF919A021}"/>
                </a:ext>
              </a:extLst>
            </p:cNvPr>
            <p:cNvCxnSpPr/>
            <p:nvPr/>
          </p:nvCxnSpPr>
          <p:spPr>
            <a:xfrm>
              <a:off x="717518" y="959195"/>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8" name="直線コネクタ 7">
              <a:extLst>
                <a:ext uri="{FF2B5EF4-FFF2-40B4-BE49-F238E27FC236}">
                  <a16:creationId xmlns:a16="http://schemas.microsoft.com/office/drawing/2014/main" id="{A715C63C-1B43-983B-0617-DC5AC95CD9BE}"/>
                </a:ext>
              </a:extLst>
            </p:cNvPr>
            <p:cNvCxnSpPr/>
            <p:nvPr/>
          </p:nvCxnSpPr>
          <p:spPr>
            <a:xfrm>
              <a:off x="717518" y="1273519"/>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Tree>
    <p:extLst>
      <p:ext uri="{BB962C8B-B14F-4D97-AF65-F5344CB8AC3E}">
        <p14:creationId xmlns:p14="http://schemas.microsoft.com/office/powerpoint/2010/main" val="500608937"/>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866</TotalTime>
  <Words>833</Words>
  <Application>Microsoft Office PowerPoint</Application>
  <PresentationFormat>ユーザー設定</PresentationFormat>
  <Paragraphs>144</Paragraphs>
  <Slides>33</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33</vt:i4>
      </vt:variant>
    </vt:vector>
  </HeadingPairs>
  <TitlesOfParts>
    <vt:vector size="39" baseType="lpstr">
      <vt:lpstr>UD デジタル 教科書体 NP-R</vt:lpstr>
      <vt:lpstr>游ゴシック</vt:lpstr>
      <vt:lpstr>Aptos</vt:lpstr>
      <vt:lpstr>Aptos Display</vt:lpstr>
      <vt:lpstr>Arial</vt:lpstr>
      <vt:lpstr>Office テーマ</vt:lpstr>
      <vt:lpstr>デザイン案一覧</vt:lpstr>
      <vt:lpstr>PowerPoint プレゼンテーション</vt:lpstr>
      <vt:lpstr>A.特定の商品用，カード単体</vt:lpstr>
      <vt:lpstr>PowerPoint プレゼンテーション</vt:lpstr>
      <vt:lpstr>PowerPoint プレゼンテーション</vt:lpstr>
      <vt:lpstr>PowerPoint プレゼンテーション</vt:lpstr>
      <vt:lpstr>B.特定の商品用，カード単体</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C.特定の商品用，ラッピングあり</vt:lpstr>
      <vt:lpstr>PowerPoint プレゼンテーション</vt:lpstr>
      <vt:lpstr>PowerPoint プレゼンテーション</vt:lpstr>
      <vt:lpstr>PowerPoint プレゼンテーション</vt:lpstr>
      <vt:lpstr>ラッピング台紙</vt:lpstr>
      <vt:lpstr>PowerPoint プレゼンテーション</vt:lpstr>
      <vt:lpstr>D.すべての商品に使用可能なカード</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伊藤　悠大</dc:creator>
  <cp:lastModifiedBy>yudai itou</cp:lastModifiedBy>
  <cp:revision>107</cp:revision>
  <cp:lastPrinted>2026-03-03T07:54:59Z</cp:lastPrinted>
  <dcterms:created xsi:type="dcterms:W3CDTF">2026-01-29T04:40:41Z</dcterms:created>
  <dcterms:modified xsi:type="dcterms:W3CDTF">2026-03-12T05:07:43Z</dcterms:modified>
</cp:coreProperties>
</file>