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0" r:id="rId4"/>
    <p:sldId id="259" r:id="rId5"/>
    <p:sldId id="258" r:id="rId6"/>
  </p:sldIdLst>
  <p:sldSz cx="6858000" cy="9906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8" y="31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A8C309-BF74-D17C-0A9D-38755A36D6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7686C8-8938-5A9F-C7BB-34F4C4238A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r">
              <a:defRPr sz="1200"/>
            </a:lvl1pPr>
          </a:lstStyle>
          <a:p>
            <a:fld id="{7455B2F6-CDDA-4468-A1D4-4A031BF30260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0EFD35-F19D-FD0B-C260-45B58969FF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4"/>
            <a:ext cx="2919413" cy="495300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44146B-FF60-9651-4E0D-0E38DA499D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4"/>
            <a:ext cx="2919412" cy="495300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r">
              <a:defRPr sz="1200"/>
            </a:lvl1pPr>
          </a:lstStyle>
          <a:p>
            <a:fld id="{A3477DDB-056B-49AA-9688-099DDB109A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2790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381" cy="494846"/>
          </a:xfrm>
          <a:prstGeom prst="rect">
            <a:avLst/>
          </a:prstGeom>
        </p:spPr>
        <p:txBody>
          <a:bodyPr vert="horz" lIns="73292" tIns="36646" rIns="73292" bIns="36646" rtlCol="0"/>
          <a:lstStyle>
            <a:lvl1pPr algn="l">
              <a:defRPr sz="10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115" y="0"/>
            <a:ext cx="2919380" cy="494846"/>
          </a:xfrm>
          <a:prstGeom prst="rect">
            <a:avLst/>
          </a:prstGeom>
        </p:spPr>
        <p:txBody>
          <a:bodyPr vert="horz" lIns="73292" tIns="36646" rIns="73292" bIns="36646" rtlCol="0"/>
          <a:lstStyle>
            <a:lvl1pPr algn="r">
              <a:defRPr sz="1000"/>
            </a:lvl1pPr>
          </a:lstStyle>
          <a:p>
            <a:fld id="{DEA92E1B-E4CD-425D-9FF3-1D4B05620A0A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3488"/>
            <a:ext cx="2303463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3292" tIns="36646" rIns="73292" bIns="36646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704" y="4748229"/>
            <a:ext cx="5388356" cy="3884797"/>
          </a:xfrm>
          <a:prstGeom prst="rect">
            <a:avLst/>
          </a:prstGeom>
        </p:spPr>
        <p:txBody>
          <a:bodyPr vert="horz" lIns="73292" tIns="36646" rIns="73292" bIns="36646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467"/>
            <a:ext cx="2919381" cy="494846"/>
          </a:xfrm>
          <a:prstGeom prst="rect">
            <a:avLst/>
          </a:prstGeom>
        </p:spPr>
        <p:txBody>
          <a:bodyPr vert="horz" lIns="73292" tIns="36646" rIns="73292" bIns="36646" rtlCol="0" anchor="b"/>
          <a:lstStyle>
            <a:lvl1pPr algn="l">
              <a:defRPr sz="10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115" y="9371467"/>
            <a:ext cx="2919380" cy="494846"/>
          </a:xfrm>
          <a:prstGeom prst="rect">
            <a:avLst/>
          </a:prstGeom>
        </p:spPr>
        <p:txBody>
          <a:bodyPr vert="horz" lIns="73292" tIns="36646" rIns="73292" bIns="36646" rtlCol="0" anchor="b"/>
          <a:lstStyle>
            <a:lvl1pPr algn="r">
              <a:defRPr sz="1000"/>
            </a:lvl1pPr>
          </a:lstStyle>
          <a:p>
            <a:fld id="{5627F52F-2912-46FE-9DD7-AA495BB604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197105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448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048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01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8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208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26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307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702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66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99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6404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50A30-90D7-485A-B792-D7379965FC98}" type="datetimeFigureOut">
              <a:rPr kumimoji="1" lang="ja-JP" altLang="en-US" smtClean="0"/>
              <a:t>2026/2/9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39768-FFA0-44B0-AF1B-171AFAD802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462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5EDE298-B8B9-42DC-991F-A04D0EB70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48167" y="0"/>
            <a:ext cx="7154333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9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DC44F-94DA-3818-FA59-2B61621D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0E616218-1E0B-3089-1A5D-EB17CD88FF9D}"/>
              </a:ext>
            </a:extLst>
          </p:cNvPr>
          <p:cNvGrpSpPr/>
          <p:nvPr/>
        </p:nvGrpSpPr>
        <p:grpSpPr>
          <a:xfrm>
            <a:off x="-13500" y="-4725"/>
            <a:ext cx="6886574" cy="9931122"/>
            <a:chOff x="-13500" y="-4725"/>
            <a:chExt cx="6886574" cy="9931122"/>
          </a:xfrm>
          <a:noFill/>
        </p:grpSpPr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4BB0DA9D-3555-53E8-0E17-30424FF28F5B}"/>
                </a:ext>
              </a:extLst>
            </p:cNvPr>
            <p:cNvSpPr/>
            <p:nvPr/>
          </p:nvSpPr>
          <p:spPr>
            <a:xfrm>
              <a:off x="0" y="4103325"/>
              <a:ext cx="6873074" cy="2372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917FAA1A-F891-119A-57B6-6F5AC9C99715}"/>
                </a:ext>
              </a:extLst>
            </p:cNvPr>
            <p:cNvSpPr/>
            <p:nvPr/>
          </p:nvSpPr>
          <p:spPr>
            <a:xfrm>
              <a:off x="3429000" y="17145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72408041-AB7B-1476-601C-C5E76D242863}"/>
                </a:ext>
              </a:extLst>
            </p:cNvPr>
            <p:cNvSpPr/>
            <p:nvPr/>
          </p:nvSpPr>
          <p:spPr>
            <a:xfrm>
              <a:off x="1711800" y="17145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BAF0FBD0-0DD5-E0FF-47B9-E6550B7BCCCF}"/>
                </a:ext>
              </a:extLst>
            </p:cNvPr>
            <p:cNvSpPr/>
            <p:nvPr/>
          </p:nvSpPr>
          <p:spPr>
            <a:xfrm>
              <a:off x="-13500" y="1727326"/>
              <a:ext cx="1717200" cy="474967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CA3DE302-EEEB-84EB-03CF-45A329158C8A}"/>
                </a:ext>
              </a:extLst>
            </p:cNvPr>
            <p:cNvSpPr/>
            <p:nvPr/>
          </p:nvSpPr>
          <p:spPr>
            <a:xfrm>
              <a:off x="5151600" y="1727324"/>
              <a:ext cx="1717200" cy="474967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3D7FF6B1-EE1F-B5B2-C165-F1E4E96E8700}"/>
                </a:ext>
              </a:extLst>
            </p:cNvPr>
            <p:cNvSpPr/>
            <p:nvPr/>
          </p:nvSpPr>
          <p:spPr>
            <a:xfrm>
              <a:off x="1705052" y="1727325"/>
              <a:ext cx="3445199" cy="2372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二等辺三角形 59">
              <a:extLst>
                <a:ext uri="{FF2B5EF4-FFF2-40B4-BE49-F238E27FC236}">
                  <a16:creationId xmlns:a16="http://schemas.microsoft.com/office/drawing/2014/main" id="{FF85F01E-D287-E9D2-1D00-5A84F8C04830}"/>
                </a:ext>
              </a:extLst>
            </p:cNvPr>
            <p:cNvSpPr/>
            <p:nvPr/>
          </p:nvSpPr>
          <p:spPr>
            <a:xfrm rot="8100000">
              <a:off x="2250542" y="505136"/>
              <a:ext cx="2387637" cy="2429076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二等辺三角形 60">
              <a:extLst>
                <a:ext uri="{FF2B5EF4-FFF2-40B4-BE49-F238E27FC236}">
                  <a16:creationId xmlns:a16="http://schemas.microsoft.com/office/drawing/2014/main" id="{8A8E66EC-209C-81C4-93ED-B15C19B27E7A}"/>
                </a:ext>
              </a:extLst>
            </p:cNvPr>
            <p:cNvSpPr/>
            <p:nvPr/>
          </p:nvSpPr>
          <p:spPr>
            <a:xfrm rot="18900000">
              <a:off x="2226797" y="6985286"/>
              <a:ext cx="2387637" cy="2429076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9F4363E8-C214-604F-3A77-F95BCBA03BFA}"/>
                </a:ext>
              </a:extLst>
            </p:cNvPr>
            <p:cNvSpPr/>
            <p:nvPr/>
          </p:nvSpPr>
          <p:spPr>
            <a:xfrm>
              <a:off x="34290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5D549F30-BB8F-FD03-A757-9AC997BDCC65}"/>
                </a:ext>
              </a:extLst>
            </p:cNvPr>
            <p:cNvSpPr/>
            <p:nvPr/>
          </p:nvSpPr>
          <p:spPr>
            <a:xfrm>
              <a:off x="51462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E3F6D3BB-83F1-195E-6A63-B64AB9897B4B}"/>
                </a:ext>
              </a:extLst>
            </p:cNvPr>
            <p:cNvSpPr/>
            <p:nvPr/>
          </p:nvSpPr>
          <p:spPr>
            <a:xfrm>
              <a:off x="-54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FC14917C-8FDD-3361-59E6-F63FDF1D37D7}"/>
                </a:ext>
              </a:extLst>
            </p:cNvPr>
            <p:cNvSpPr/>
            <p:nvPr/>
          </p:nvSpPr>
          <p:spPr>
            <a:xfrm>
              <a:off x="17118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6" name="二等辺三角形 65">
              <a:extLst>
                <a:ext uri="{FF2B5EF4-FFF2-40B4-BE49-F238E27FC236}">
                  <a16:creationId xmlns:a16="http://schemas.microsoft.com/office/drawing/2014/main" id="{DB981427-0DF3-44E6-DF28-1E8EE5F4CBE1}"/>
                </a:ext>
              </a:extLst>
            </p:cNvPr>
            <p:cNvSpPr/>
            <p:nvPr/>
          </p:nvSpPr>
          <p:spPr>
            <a:xfrm>
              <a:off x="2925" y="6491997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二等辺三角形 66">
              <a:extLst>
                <a:ext uri="{FF2B5EF4-FFF2-40B4-BE49-F238E27FC236}">
                  <a16:creationId xmlns:a16="http://schemas.microsoft.com/office/drawing/2014/main" id="{B866F849-9AD3-8C17-19EA-634B9CF74CBE}"/>
                </a:ext>
              </a:extLst>
            </p:cNvPr>
            <p:cNvSpPr/>
            <p:nvPr/>
          </p:nvSpPr>
          <p:spPr>
            <a:xfrm rot="16200000">
              <a:off x="3430576" y="6494922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8" name="二等辺三角形 67">
              <a:extLst>
                <a:ext uri="{FF2B5EF4-FFF2-40B4-BE49-F238E27FC236}">
                  <a16:creationId xmlns:a16="http://schemas.microsoft.com/office/drawing/2014/main" id="{55242D8D-3593-1822-52BE-EB1E70D783C1}"/>
                </a:ext>
              </a:extLst>
            </p:cNvPr>
            <p:cNvSpPr/>
            <p:nvPr/>
          </p:nvSpPr>
          <p:spPr>
            <a:xfrm rot="10800000">
              <a:off x="3427651" y="-1049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二等辺三角形 68">
              <a:extLst>
                <a:ext uri="{FF2B5EF4-FFF2-40B4-BE49-F238E27FC236}">
                  <a16:creationId xmlns:a16="http://schemas.microsoft.com/office/drawing/2014/main" id="{844E0424-1BC8-89E7-0900-FB50FE6FB755}"/>
                </a:ext>
              </a:extLst>
            </p:cNvPr>
            <p:cNvSpPr/>
            <p:nvPr/>
          </p:nvSpPr>
          <p:spPr>
            <a:xfrm rot="5400000">
              <a:off x="0" y="-1800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8A8570E-DBE6-8445-1A89-18EEC4189519}"/>
                </a:ext>
              </a:extLst>
            </p:cNvPr>
            <p:cNvSpPr/>
            <p:nvPr/>
          </p:nvSpPr>
          <p:spPr>
            <a:xfrm>
              <a:off x="3429000" y="4733493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57C25965-87C1-4295-E78A-F29BA2845C06}"/>
                </a:ext>
              </a:extLst>
            </p:cNvPr>
            <p:cNvSpPr/>
            <p:nvPr/>
          </p:nvSpPr>
          <p:spPr>
            <a:xfrm>
              <a:off x="1711800" y="4733493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ADFFA703-6F62-5752-EF48-DC044F4E64C9}"/>
                </a:ext>
              </a:extLst>
            </p:cNvPr>
            <p:cNvSpPr/>
            <p:nvPr/>
          </p:nvSpPr>
          <p:spPr>
            <a:xfrm>
              <a:off x="2836822" y="8499566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カード</a:t>
              </a:r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3989F58F-20ED-2A5B-3A31-7E4755FFFF28}"/>
                </a:ext>
              </a:extLst>
            </p:cNvPr>
            <p:cNvSpPr/>
            <p:nvPr/>
          </p:nvSpPr>
          <p:spPr>
            <a:xfrm>
              <a:off x="201655" y="8499566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E85B77AB-956E-30D5-5944-6832EBB5A32E}"/>
                </a:ext>
              </a:extLst>
            </p:cNvPr>
            <p:cNvSpPr/>
            <p:nvPr/>
          </p:nvSpPr>
          <p:spPr>
            <a:xfrm>
              <a:off x="5383989" y="644493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3621DECB-C4F9-C554-5B6F-AA859AE6838B}"/>
                </a:ext>
              </a:extLst>
            </p:cNvPr>
            <p:cNvSpPr/>
            <p:nvPr/>
          </p:nvSpPr>
          <p:spPr>
            <a:xfrm>
              <a:off x="201655" y="644493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35D94108-137E-C1E6-6566-B9506C23F321}"/>
                </a:ext>
              </a:extLst>
            </p:cNvPr>
            <p:cNvSpPr/>
            <p:nvPr/>
          </p:nvSpPr>
          <p:spPr>
            <a:xfrm>
              <a:off x="5383989" y="8499566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6CF20EDB-8079-BBB2-9B55-F5C52934F241}"/>
                </a:ext>
              </a:extLst>
            </p:cNvPr>
            <p:cNvSpPr/>
            <p:nvPr/>
          </p:nvSpPr>
          <p:spPr>
            <a:xfrm>
              <a:off x="2836822" y="277934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見開き上</a:t>
              </a: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00089870-EFCF-8DAA-C1D1-2F7716852E4A}"/>
                </a:ext>
              </a:extLst>
            </p:cNvPr>
            <p:cNvSpPr/>
            <p:nvPr/>
          </p:nvSpPr>
          <p:spPr>
            <a:xfrm>
              <a:off x="2897781" y="5309471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見開きカード影</a:t>
              </a:r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005FB4CB-2B05-35D0-8947-503ABBA4918F}"/>
                </a:ext>
              </a:extLst>
            </p:cNvPr>
            <p:cNvSpPr/>
            <p:nvPr/>
          </p:nvSpPr>
          <p:spPr>
            <a:xfrm>
              <a:off x="2836822" y="4222311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見開き下</a:t>
              </a: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1C5F1716-7C51-353F-5698-D268E423A4C6}"/>
                </a:ext>
              </a:extLst>
            </p:cNvPr>
            <p:cNvSpPr/>
            <p:nvPr/>
          </p:nvSpPr>
          <p:spPr>
            <a:xfrm>
              <a:off x="2897782" y="7204752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見開きカード裏</a:t>
              </a:r>
            </a:p>
          </p:txBody>
        </p:sp>
        <p:cxnSp>
          <p:nvCxnSpPr>
            <p:cNvPr id="81" name="直線コネクタ 80">
              <a:extLst>
                <a:ext uri="{FF2B5EF4-FFF2-40B4-BE49-F238E27FC236}">
                  <a16:creationId xmlns:a16="http://schemas.microsoft.com/office/drawing/2014/main" id="{4477B3A7-BB2C-3235-115E-53DEEE3E69EC}"/>
                </a:ext>
              </a:extLst>
            </p:cNvPr>
            <p:cNvCxnSpPr>
              <a:stCxn id="57" idx="1"/>
              <a:endCxn id="58" idx="3"/>
            </p:cNvCxnSpPr>
            <p:nvPr/>
          </p:nvCxnSpPr>
          <p:spPr>
            <a:xfrm flipV="1">
              <a:off x="-13500" y="4102162"/>
              <a:ext cx="6882300" cy="1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C9EDC4E8-7F69-4C49-1EB4-001CFBAB52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2175" y="2588374"/>
              <a:ext cx="842625" cy="841301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C39D833E-8EBE-CA2B-6D69-081A4A72C367}"/>
                </a:ext>
              </a:extLst>
            </p:cNvPr>
            <p:cNvCxnSpPr>
              <a:cxnSpLocks/>
            </p:cNvCxnSpPr>
            <p:nvPr/>
          </p:nvCxnSpPr>
          <p:spPr>
            <a:xfrm>
              <a:off x="882119" y="2593410"/>
              <a:ext cx="844479" cy="843151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1D5FC8E6-4B89-3C1B-F3BF-05725E2B57FD}"/>
                </a:ext>
              </a:extLst>
            </p:cNvPr>
            <p:cNvSpPr/>
            <p:nvPr/>
          </p:nvSpPr>
          <p:spPr>
            <a:xfrm rot="10800000">
              <a:off x="4884047" y="2444245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差込</a:t>
              </a: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F8E8259E-E889-EAD8-F103-87C39E965C70}"/>
                </a:ext>
              </a:extLst>
            </p:cNvPr>
            <p:cNvSpPr/>
            <p:nvPr/>
          </p:nvSpPr>
          <p:spPr>
            <a:xfrm rot="10800000">
              <a:off x="2824110" y="1014429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差込</a:t>
              </a: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D8B8A7EC-1173-1A4A-E479-3F1D0611A225}"/>
                </a:ext>
              </a:extLst>
            </p:cNvPr>
            <p:cNvSpPr/>
            <p:nvPr/>
          </p:nvSpPr>
          <p:spPr>
            <a:xfrm rot="10800000">
              <a:off x="146120" y="336177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3E52666A-85F7-0839-76A3-8F9E1118355F}"/>
                </a:ext>
              </a:extLst>
            </p:cNvPr>
            <p:cNvSpPr/>
            <p:nvPr/>
          </p:nvSpPr>
          <p:spPr>
            <a:xfrm rot="10800000">
              <a:off x="5383988" y="336177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FB03BE5C-DDF8-B65F-069A-CA3A7A3BBFDC}"/>
                </a:ext>
              </a:extLst>
            </p:cNvPr>
            <p:cNvSpPr/>
            <p:nvPr/>
          </p:nvSpPr>
          <p:spPr>
            <a:xfrm rot="10800000">
              <a:off x="858818" y="2444245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差込</a:t>
              </a: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6DCD8207-203D-E8A8-1F06-07043ABF1C64}"/>
                </a:ext>
              </a:extLst>
            </p:cNvPr>
            <p:cNvSpPr/>
            <p:nvPr/>
          </p:nvSpPr>
          <p:spPr>
            <a:xfrm>
              <a:off x="5383988" y="5132404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裏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0915D6EC-F157-62B3-0B43-B82129258AD8}"/>
                </a:ext>
              </a:extLst>
            </p:cNvPr>
            <p:cNvSpPr/>
            <p:nvPr/>
          </p:nvSpPr>
          <p:spPr>
            <a:xfrm>
              <a:off x="276855" y="5132404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裏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2B0C015D-3DC9-259F-B05A-8F7C07C356FF}"/>
                </a:ext>
              </a:extLst>
            </p:cNvPr>
            <p:cNvSpPr/>
            <p:nvPr/>
          </p:nvSpPr>
          <p:spPr>
            <a:xfrm>
              <a:off x="5219299" y="671238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耳</a:t>
              </a: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348DB09E-F9C6-953A-EAC3-5BD76F175EF0}"/>
                </a:ext>
              </a:extLst>
            </p:cNvPr>
            <p:cNvSpPr/>
            <p:nvPr/>
          </p:nvSpPr>
          <p:spPr>
            <a:xfrm>
              <a:off x="624349" y="671238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耳</a:t>
              </a:r>
            </a:p>
          </p:txBody>
        </p:sp>
      </p:grp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EAE12E96-D8B6-6807-EABC-4F8147FC0516}"/>
              </a:ext>
            </a:extLst>
          </p:cNvPr>
          <p:cNvSpPr/>
          <p:nvPr/>
        </p:nvSpPr>
        <p:spPr>
          <a:xfrm>
            <a:off x="65085" y="5823292"/>
            <a:ext cx="1576230" cy="60002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発行者　：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r"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r"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イノベーションアンドコンサルティング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r"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〒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010−8502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秋⽥市手形学園町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1−1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　　　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r">
              <a:lnSpc>
                <a:spcPts val="600"/>
              </a:lnSpc>
            </a:pP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info@auic.or.jp</a:t>
            </a:r>
          </a:p>
          <a:p>
            <a:pPr algn="r">
              <a:lnSpc>
                <a:spcPts val="600"/>
              </a:lnSpc>
            </a:pP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有効期限：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r"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表紙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QR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コードを参照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(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最大発行後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年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)</a:t>
            </a:r>
          </a:p>
        </p:txBody>
      </p:sp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8141248C-C020-ECF5-5EC3-6A53BA062C47}"/>
              </a:ext>
            </a:extLst>
          </p:cNvPr>
          <p:cNvSpPr/>
          <p:nvPr/>
        </p:nvSpPr>
        <p:spPr>
          <a:xfrm>
            <a:off x="5204700" y="5155875"/>
            <a:ext cx="1576230" cy="60002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600"/>
              </a:lnSpc>
            </a:pPr>
            <a:r>
              <a:rPr kumimoji="1" lang="ja-JP" altLang="en-US" sz="11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名刺代わりに。</a:t>
            </a:r>
            <a:endParaRPr kumimoji="1" lang="en-US" altLang="ja-JP" sz="11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1FE10346-F75A-7A21-31D5-B2E165FE7E70}"/>
              </a:ext>
            </a:extLst>
          </p:cNvPr>
          <p:cNvGrpSpPr/>
          <p:nvPr/>
        </p:nvGrpSpPr>
        <p:grpSpPr>
          <a:xfrm>
            <a:off x="1942688" y="1919288"/>
            <a:ext cx="2998723" cy="1345778"/>
            <a:chOff x="414338" y="352425"/>
            <a:chExt cx="2247899" cy="1233488"/>
          </a:xfrm>
          <a:solidFill>
            <a:schemeClr val="bg1"/>
          </a:solidFill>
        </p:grpSpPr>
        <p:sp>
          <p:nvSpPr>
            <p:cNvPr id="97" name="四角形: 角を丸くする 96">
              <a:extLst>
                <a:ext uri="{FF2B5EF4-FFF2-40B4-BE49-F238E27FC236}">
                  <a16:creationId xmlns:a16="http://schemas.microsoft.com/office/drawing/2014/main" id="{15CD7CF9-6DFE-3EC2-78A0-8244993BB215}"/>
                </a:ext>
              </a:extLst>
            </p:cNvPr>
            <p:cNvSpPr/>
            <p:nvPr/>
          </p:nvSpPr>
          <p:spPr>
            <a:xfrm>
              <a:off x="414338" y="352425"/>
              <a:ext cx="2247899" cy="1233488"/>
            </a:xfrm>
            <a:prstGeom prst="roundRect">
              <a:avLst>
                <a:gd name="adj" fmla="val 666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A16ECB3C-3E45-E4A0-CED1-BF01BC891B8F}"/>
                </a:ext>
              </a:extLst>
            </p:cNvPr>
            <p:cNvCxnSpPr>
              <a:cxnSpLocks/>
            </p:cNvCxnSpPr>
            <p:nvPr/>
          </p:nvCxnSpPr>
          <p:spPr>
            <a:xfrm>
              <a:off x="710725" y="638255"/>
              <a:ext cx="1633537" cy="0"/>
            </a:xfrm>
            <a:prstGeom prst="line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CE44D301-E33B-43CC-465F-6F4955FF5C10}"/>
                </a:ext>
              </a:extLst>
            </p:cNvPr>
            <p:cNvCxnSpPr>
              <a:cxnSpLocks/>
            </p:cNvCxnSpPr>
            <p:nvPr/>
          </p:nvCxnSpPr>
          <p:spPr>
            <a:xfrm>
              <a:off x="710725" y="954855"/>
              <a:ext cx="1633537" cy="0"/>
            </a:xfrm>
            <a:prstGeom prst="line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F9E7931A-CFE3-DC63-A6AF-A022E6D12FB8}"/>
                </a:ext>
              </a:extLst>
            </p:cNvPr>
            <p:cNvCxnSpPr>
              <a:cxnSpLocks/>
            </p:cNvCxnSpPr>
            <p:nvPr/>
          </p:nvCxnSpPr>
          <p:spPr>
            <a:xfrm>
              <a:off x="710725" y="1271457"/>
              <a:ext cx="1633537" cy="0"/>
            </a:xfrm>
            <a:prstGeom prst="line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D95E9739-0617-E76A-86CD-120275DFE1AA}"/>
              </a:ext>
            </a:extLst>
          </p:cNvPr>
          <p:cNvSpPr txBox="1"/>
          <p:nvPr/>
        </p:nvSpPr>
        <p:spPr>
          <a:xfrm>
            <a:off x="2034659" y="4198649"/>
            <a:ext cx="2819401" cy="477054"/>
          </a:xfrm>
          <a:prstGeom prst="rect">
            <a:avLst/>
          </a:prstGeom>
          <a:solidFill>
            <a:schemeClr val="bg1"/>
          </a:solidFill>
          <a:effectLst>
            <a:softEdge rad="25400"/>
          </a:effectLst>
        </p:spPr>
        <p:txBody>
          <a:bodyPr wrap="square">
            <a:spAutoFit/>
          </a:bodyPr>
          <a:lstStyle/>
          <a:p>
            <a:pPr algn="ctr"/>
            <a:r>
              <a:rPr lang="ja-JP" altLang="en-US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</a:t>
            </a:r>
            <a:r>
              <a: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“</a:t>
            </a:r>
            <a:r>
              <a:rPr lang="ja-JP" altLang="en-US" sz="8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名刺代わりに。</a:t>
            </a:r>
            <a:r>
              <a:rPr lang="en-US" altLang="ja-JP" sz="8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”</a:t>
            </a:r>
            <a:r>
              <a:rPr lang="ja-JP" altLang="en-US" sz="800" b="1" i="0" dirty="0">
                <a:effectLst/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は、出会いにちょっとした贈りものを添えるデジタルギフトサービス。 ギフトの送り先は</a:t>
            </a:r>
            <a:r>
              <a:rPr lang="en-US" altLang="ja-JP" sz="800" b="1" i="0" dirty="0">
                <a:effectLst/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QR</a:t>
            </a:r>
            <a:r>
              <a:rPr lang="ja-JP" altLang="en-US" sz="800" b="1" i="0" dirty="0">
                <a:effectLst/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コードから指定できます。</a:t>
            </a:r>
            <a:endParaRPr lang="ja-JP" altLang="en-US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D8747C65-EE2D-E16D-5938-30ED1AA10DA8}"/>
              </a:ext>
            </a:extLst>
          </p:cNvPr>
          <p:cNvSpPr txBox="1"/>
          <p:nvPr/>
        </p:nvSpPr>
        <p:spPr>
          <a:xfrm>
            <a:off x="2034659" y="4955873"/>
            <a:ext cx="2819401" cy="1338828"/>
          </a:xfrm>
          <a:prstGeom prst="rect">
            <a:avLst/>
          </a:prstGeom>
          <a:solidFill>
            <a:schemeClr val="bg1"/>
          </a:solidFill>
          <a:effectLst>
            <a:softEdge rad="25400"/>
          </a:effectLst>
        </p:spPr>
        <p:txBody>
          <a:bodyPr wrap="square">
            <a:spAutoFit/>
          </a:bodyPr>
          <a:lstStyle/>
          <a:p>
            <a:pPr algn="ctr"/>
            <a:r>
              <a:rPr lang="ja-JP" altLang="en-US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</a:t>
            </a:r>
            <a:endParaRPr lang="en-US" altLang="ja-JP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endParaRPr lang="en-US" altLang="ja-JP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endParaRPr lang="en-US" altLang="ja-JP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lang="ja-JP" altLang="en-US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具体的な手順とか</a:t>
            </a:r>
            <a:endParaRPr lang="en-US" altLang="ja-JP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endParaRPr lang="en-US" altLang="ja-JP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endParaRPr lang="en-US" altLang="ja-JP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endParaRPr lang="en-US" altLang="ja-JP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endParaRPr lang="en-US" altLang="ja-JP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endParaRPr lang="ja-JP" altLang="en-US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0951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17E51-F5A5-4538-BC82-5CB73028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33B5D1DE-7636-59B7-2DA5-417A9C3B017F}"/>
              </a:ext>
            </a:extLst>
          </p:cNvPr>
          <p:cNvGrpSpPr/>
          <p:nvPr/>
        </p:nvGrpSpPr>
        <p:grpSpPr>
          <a:xfrm>
            <a:off x="7197532" y="-25122"/>
            <a:ext cx="6886574" cy="9931122"/>
            <a:chOff x="-13500" y="-4725"/>
            <a:chExt cx="6886574" cy="9931122"/>
          </a:xfrm>
          <a:noFill/>
        </p:grpSpPr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6B097305-9E7B-5EF7-32D5-ACCEA9B029F6}"/>
                </a:ext>
              </a:extLst>
            </p:cNvPr>
            <p:cNvSpPr/>
            <p:nvPr/>
          </p:nvSpPr>
          <p:spPr>
            <a:xfrm>
              <a:off x="0" y="4103325"/>
              <a:ext cx="6873074" cy="2372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7F43AF5D-1C64-DD15-F5B7-3B8C1D194BD9}"/>
                </a:ext>
              </a:extLst>
            </p:cNvPr>
            <p:cNvSpPr/>
            <p:nvPr/>
          </p:nvSpPr>
          <p:spPr>
            <a:xfrm>
              <a:off x="3429000" y="17145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7FD56452-92D7-D830-7C7B-8507222384F2}"/>
                </a:ext>
              </a:extLst>
            </p:cNvPr>
            <p:cNvSpPr/>
            <p:nvPr/>
          </p:nvSpPr>
          <p:spPr>
            <a:xfrm>
              <a:off x="1711800" y="17145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304F861B-D6FA-C6CB-67AA-8BD02A06694D}"/>
                </a:ext>
              </a:extLst>
            </p:cNvPr>
            <p:cNvSpPr/>
            <p:nvPr/>
          </p:nvSpPr>
          <p:spPr>
            <a:xfrm>
              <a:off x="-13500" y="1727326"/>
              <a:ext cx="1717200" cy="474967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F41C2462-197A-C72C-2C64-88A2CCA2FC3B}"/>
                </a:ext>
              </a:extLst>
            </p:cNvPr>
            <p:cNvSpPr/>
            <p:nvPr/>
          </p:nvSpPr>
          <p:spPr>
            <a:xfrm>
              <a:off x="5151600" y="1727324"/>
              <a:ext cx="1717200" cy="474967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9DFB4B37-2C2A-7046-41DB-7CCBD8D34A00}"/>
                </a:ext>
              </a:extLst>
            </p:cNvPr>
            <p:cNvSpPr/>
            <p:nvPr/>
          </p:nvSpPr>
          <p:spPr>
            <a:xfrm>
              <a:off x="1705052" y="1727325"/>
              <a:ext cx="3445199" cy="2372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二等辺三角形 59">
              <a:extLst>
                <a:ext uri="{FF2B5EF4-FFF2-40B4-BE49-F238E27FC236}">
                  <a16:creationId xmlns:a16="http://schemas.microsoft.com/office/drawing/2014/main" id="{4E7A7767-1B7C-3A8A-E949-82594DE4D519}"/>
                </a:ext>
              </a:extLst>
            </p:cNvPr>
            <p:cNvSpPr/>
            <p:nvPr/>
          </p:nvSpPr>
          <p:spPr>
            <a:xfrm rot="8100000">
              <a:off x="2250542" y="505136"/>
              <a:ext cx="2387637" cy="2429076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二等辺三角形 60">
              <a:extLst>
                <a:ext uri="{FF2B5EF4-FFF2-40B4-BE49-F238E27FC236}">
                  <a16:creationId xmlns:a16="http://schemas.microsoft.com/office/drawing/2014/main" id="{39C62C10-CA2A-B03F-1DA0-25A1410EF283}"/>
                </a:ext>
              </a:extLst>
            </p:cNvPr>
            <p:cNvSpPr/>
            <p:nvPr/>
          </p:nvSpPr>
          <p:spPr>
            <a:xfrm rot="18900000">
              <a:off x="2226797" y="6985286"/>
              <a:ext cx="2387637" cy="2429076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4FB8A06E-50D2-6BB8-6605-71E37202A7D0}"/>
                </a:ext>
              </a:extLst>
            </p:cNvPr>
            <p:cNvSpPr/>
            <p:nvPr/>
          </p:nvSpPr>
          <p:spPr>
            <a:xfrm>
              <a:off x="34290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E534FA0B-BF2F-BE22-72B2-E22B67BF36B1}"/>
                </a:ext>
              </a:extLst>
            </p:cNvPr>
            <p:cNvSpPr/>
            <p:nvPr/>
          </p:nvSpPr>
          <p:spPr>
            <a:xfrm>
              <a:off x="51462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34301834-AFE6-FEF1-7707-8F7F747D5CC5}"/>
                </a:ext>
              </a:extLst>
            </p:cNvPr>
            <p:cNvSpPr/>
            <p:nvPr/>
          </p:nvSpPr>
          <p:spPr>
            <a:xfrm>
              <a:off x="-54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E7DCB39D-8AD4-E28B-6B2F-70FAF92AC653}"/>
                </a:ext>
              </a:extLst>
            </p:cNvPr>
            <p:cNvSpPr/>
            <p:nvPr/>
          </p:nvSpPr>
          <p:spPr>
            <a:xfrm>
              <a:off x="17118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6" name="二等辺三角形 65">
              <a:extLst>
                <a:ext uri="{FF2B5EF4-FFF2-40B4-BE49-F238E27FC236}">
                  <a16:creationId xmlns:a16="http://schemas.microsoft.com/office/drawing/2014/main" id="{655A630B-875A-4F45-907E-D74DDE497E2D}"/>
                </a:ext>
              </a:extLst>
            </p:cNvPr>
            <p:cNvSpPr/>
            <p:nvPr/>
          </p:nvSpPr>
          <p:spPr>
            <a:xfrm>
              <a:off x="2925" y="6491997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二等辺三角形 66">
              <a:extLst>
                <a:ext uri="{FF2B5EF4-FFF2-40B4-BE49-F238E27FC236}">
                  <a16:creationId xmlns:a16="http://schemas.microsoft.com/office/drawing/2014/main" id="{F5E61AAA-FD7A-544F-20FC-0E82D83F3DAB}"/>
                </a:ext>
              </a:extLst>
            </p:cNvPr>
            <p:cNvSpPr/>
            <p:nvPr/>
          </p:nvSpPr>
          <p:spPr>
            <a:xfrm rot="16200000">
              <a:off x="3430576" y="6494922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8" name="二等辺三角形 67">
              <a:extLst>
                <a:ext uri="{FF2B5EF4-FFF2-40B4-BE49-F238E27FC236}">
                  <a16:creationId xmlns:a16="http://schemas.microsoft.com/office/drawing/2014/main" id="{6A826846-E123-4238-32B7-7CD7A0CFFC96}"/>
                </a:ext>
              </a:extLst>
            </p:cNvPr>
            <p:cNvSpPr/>
            <p:nvPr/>
          </p:nvSpPr>
          <p:spPr>
            <a:xfrm rot="10800000">
              <a:off x="3427651" y="-1049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二等辺三角形 68">
              <a:extLst>
                <a:ext uri="{FF2B5EF4-FFF2-40B4-BE49-F238E27FC236}">
                  <a16:creationId xmlns:a16="http://schemas.microsoft.com/office/drawing/2014/main" id="{4787CAED-15E3-F6FD-4A09-7FA2D186E379}"/>
                </a:ext>
              </a:extLst>
            </p:cNvPr>
            <p:cNvSpPr/>
            <p:nvPr/>
          </p:nvSpPr>
          <p:spPr>
            <a:xfrm rot="5400000">
              <a:off x="0" y="-1800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C789F3E3-19FD-B6D0-B3A5-1EAAAB1C8208}"/>
                </a:ext>
              </a:extLst>
            </p:cNvPr>
            <p:cNvSpPr/>
            <p:nvPr/>
          </p:nvSpPr>
          <p:spPr>
            <a:xfrm>
              <a:off x="3429000" y="4733493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7511B82D-D3DE-1864-8E29-3E775DCEAF87}"/>
                </a:ext>
              </a:extLst>
            </p:cNvPr>
            <p:cNvSpPr/>
            <p:nvPr/>
          </p:nvSpPr>
          <p:spPr>
            <a:xfrm>
              <a:off x="1711800" y="4733493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6F69EDB4-766E-6DBA-9BF6-0B292F587422}"/>
                </a:ext>
              </a:extLst>
            </p:cNvPr>
            <p:cNvSpPr/>
            <p:nvPr/>
          </p:nvSpPr>
          <p:spPr>
            <a:xfrm>
              <a:off x="2836822" y="8499566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カード</a:t>
              </a:r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B6C40D29-30A4-9E86-41CB-23CE918E5999}"/>
                </a:ext>
              </a:extLst>
            </p:cNvPr>
            <p:cNvSpPr/>
            <p:nvPr/>
          </p:nvSpPr>
          <p:spPr>
            <a:xfrm>
              <a:off x="201655" y="8499566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F38E26A3-1959-BE09-B704-38DB9BEB553D}"/>
                </a:ext>
              </a:extLst>
            </p:cNvPr>
            <p:cNvSpPr/>
            <p:nvPr/>
          </p:nvSpPr>
          <p:spPr>
            <a:xfrm>
              <a:off x="5383989" y="644493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1723164E-A3F5-0DA3-E156-FA12E372AAD2}"/>
                </a:ext>
              </a:extLst>
            </p:cNvPr>
            <p:cNvSpPr/>
            <p:nvPr/>
          </p:nvSpPr>
          <p:spPr>
            <a:xfrm>
              <a:off x="201655" y="644493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E00BA516-C601-01A4-1BF0-1F7A01A674E2}"/>
                </a:ext>
              </a:extLst>
            </p:cNvPr>
            <p:cNvSpPr/>
            <p:nvPr/>
          </p:nvSpPr>
          <p:spPr>
            <a:xfrm>
              <a:off x="5383989" y="8499566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C26DF2AF-6657-BB13-38D6-C8EE19823C7B}"/>
                </a:ext>
              </a:extLst>
            </p:cNvPr>
            <p:cNvSpPr/>
            <p:nvPr/>
          </p:nvSpPr>
          <p:spPr>
            <a:xfrm>
              <a:off x="2836822" y="277934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見開き上</a:t>
              </a: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0A2BF225-0BFD-3ADD-37FB-7EE59CE9B933}"/>
                </a:ext>
              </a:extLst>
            </p:cNvPr>
            <p:cNvSpPr/>
            <p:nvPr/>
          </p:nvSpPr>
          <p:spPr>
            <a:xfrm>
              <a:off x="2897781" y="5309471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見開きカード影</a:t>
              </a:r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CCC1BEC4-199F-6637-2FDF-D71713FB0885}"/>
                </a:ext>
              </a:extLst>
            </p:cNvPr>
            <p:cNvSpPr/>
            <p:nvPr/>
          </p:nvSpPr>
          <p:spPr>
            <a:xfrm>
              <a:off x="2836822" y="4222311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見開き下</a:t>
              </a: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2A75C80B-1880-C030-A7E8-AB12C55B0121}"/>
                </a:ext>
              </a:extLst>
            </p:cNvPr>
            <p:cNvSpPr/>
            <p:nvPr/>
          </p:nvSpPr>
          <p:spPr>
            <a:xfrm>
              <a:off x="2897782" y="7204752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見開きカード裏</a:t>
              </a:r>
            </a:p>
          </p:txBody>
        </p:sp>
        <p:cxnSp>
          <p:nvCxnSpPr>
            <p:cNvPr id="81" name="直線コネクタ 80">
              <a:extLst>
                <a:ext uri="{FF2B5EF4-FFF2-40B4-BE49-F238E27FC236}">
                  <a16:creationId xmlns:a16="http://schemas.microsoft.com/office/drawing/2014/main" id="{252438DC-AFBB-9A5B-235F-CB319726635B}"/>
                </a:ext>
              </a:extLst>
            </p:cNvPr>
            <p:cNvCxnSpPr>
              <a:stCxn id="57" idx="1"/>
              <a:endCxn id="58" idx="3"/>
            </p:cNvCxnSpPr>
            <p:nvPr/>
          </p:nvCxnSpPr>
          <p:spPr>
            <a:xfrm flipV="1">
              <a:off x="-13500" y="4102162"/>
              <a:ext cx="6882300" cy="1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5AED7346-1664-B74D-ECB2-93EA37F7F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2175" y="2588374"/>
              <a:ext cx="842625" cy="841301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709356C5-3392-FB70-4D8D-0159AE8BE88F}"/>
                </a:ext>
              </a:extLst>
            </p:cNvPr>
            <p:cNvCxnSpPr>
              <a:cxnSpLocks/>
            </p:cNvCxnSpPr>
            <p:nvPr/>
          </p:nvCxnSpPr>
          <p:spPr>
            <a:xfrm>
              <a:off x="882119" y="2593410"/>
              <a:ext cx="844479" cy="843151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A065718C-C9E5-E972-28D7-1D8D5B86C476}"/>
                </a:ext>
              </a:extLst>
            </p:cNvPr>
            <p:cNvSpPr/>
            <p:nvPr/>
          </p:nvSpPr>
          <p:spPr>
            <a:xfrm rot="10800000">
              <a:off x="4884047" y="2444245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差込</a:t>
              </a: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B37E680D-BEA8-A0A8-4E11-49EED3D2EFAB}"/>
                </a:ext>
              </a:extLst>
            </p:cNvPr>
            <p:cNvSpPr/>
            <p:nvPr/>
          </p:nvSpPr>
          <p:spPr>
            <a:xfrm rot="10800000">
              <a:off x="2824110" y="1014429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差込</a:t>
              </a: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C0D5883A-78C1-7FDE-63D6-7682B96A76F7}"/>
                </a:ext>
              </a:extLst>
            </p:cNvPr>
            <p:cNvSpPr/>
            <p:nvPr/>
          </p:nvSpPr>
          <p:spPr>
            <a:xfrm rot="10800000">
              <a:off x="146120" y="336177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BABFE346-E5FA-8160-405D-B966901F3F3B}"/>
                </a:ext>
              </a:extLst>
            </p:cNvPr>
            <p:cNvSpPr/>
            <p:nvPr/>
          </p:nvSpPr>
          <p:spPr>
            <a:xfrm rot="10800000">
              <a:off x="5383988" y="336177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77CC13DB-074B-FA51-17D7-28C3D83ADC92}"/>
                </a:ext>
              </a:extLst>
            </p:cNvPr>
            <p:cNvSpPr/>
            <p:nvPr/>
          </p:nvSpPr>
          <p:spPr>
            <a:xfrm rot="10800000">
              <a:off x="858818" y="2444245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差込</a:t>
              </a: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941BA17D-1051-9248-8896-96FE6FAD2655}"/>
                </a:ext>
              </a:extLst>
            </p:cNvPr>
            <p:cNvSpPr/>
            <p:nvPr/>
          </p:nvSpPr>
          <p:spPr>
            <a:xfrm>
              <a:off x="5383988" y="5132404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裏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2B8F3E00-9100-6CE4-9E0E-209107178197}"/>
                </a:ext>
              </a:extLst>
            </p:cNvPr>
            <p:cNvSpPr/>
            <p:nvPr/>
          </p:nvSpPr>
          <p:spPr>
            <a:xfrm>
              <a:off x="276855" y="5132404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裏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E33B8B97-3539-A901-9326-B5CBA307F86B}"/>
                </a:ext>
              </a:extLst>
            </p:cNvPr>
            <p:cNvSpPr/>
            <p:nvPr/>
          </p:nvSpPr>
          <p:spPr>
            <a:xfrm>
              <a:off x="5219299" y="671238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耳</a:t>
              </a: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8C9B38E9-84A7-3238-D3F2-F580ED84C22F}"/>
                </a:ext>
              </a:extLst>
            </p:cNvPr>
            <p:cNvSpPr/>
            <p:nvPr/>
          </p:nvSpPr>
          <p:spPr>
            <a:xfrm>
              <a:off x="624349" y="671238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耳</a:t>
              </a:r>
            </a:p>
          </p:txBody>
        </p:sp>
      </p:grp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F037FEAE-C93D-6249-401C-4965BE2C0B43}"/>
              </a:ext>
            </a:extLst>
          </p:cNvPr>
          <p:cNvSpPr/>
          <p:nvPr/>
        </p:nvSpPr>
        <p:spPr>
          <a:xfrm>
            <a:off x="-133350" y="5375268"/>
            <a:ext cx="1837050" cy="977254"/>
          </a:xfrm>
          <a:prstGeom prst="roundRect">
            <a:avLst>
              <a:gd name="adj" fmla="val 13961"/>
            </a:avLst>
          </a:prstGeom>
          <a:solidFill>
            <a:schemeClr val="bg1"/>
          </a:soli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・発行者：</a:t>
            </a:r>
            <a:b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　　秋田大学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　　イノベーションアンドコンサルティング　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　　〒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010−8502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秋⽥市手形学園町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1−1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　　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>
              <a:lnSpc>
                <a:spcPts val="600"/>
              </a:lnSpc>
            </a:pP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・連絡先：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　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info@auic.or.jp</a:t>
            </a:r>
          </a:p>
          <a:p>
            <a:pPr algn="r">
              <a:lnSpc>
                <a:spcPts val="600"/>
              </a:lnSpc>
            </a:pP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・有効期限：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>
              <a:lnSpc>
                <a:spcPts val="600"/>
              </a:lnSpc>
            </a:pP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　　表紙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QR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コードを参照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(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最大発行後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年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)</a:t>
            </a:r>
          </a:p>
        </p:txBody>
      </p:sp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E935ED76-BAF1-4675-1DB6-0B72A2408DB8}"/>
              </a:ext>
            </a:extLst>
          </p:cNvPr>
          <p:cNvSpPr/>
          <p:nvPr/>
        </p:nvSpPr>
        <p:spPr>
          <a:xfrm>
            <a:off x="5161274" y="5375267"/>
            <a:ext cx="1816395" cy="977253"/>
          </a:xfrm>
          <a:prstGeom prst="roundRect">
            <a:avLst>
              <a:gd name="adj" fmla="val 14542"/>
            </a:avLst>
          </a:prstGeom>
          <a:solidFill>
            <a:schemeClr val="bg1"/>
          </a:soli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ts val="600"/>
              </a:lnSpc>
            </a:pPr>
            <a:r>
              <a:rPr kumimoji="1" lang="ja-JP" altLang="en-US" sz="11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　　名刺代わりに。</a:t>
            </a:r>
            <a:endParaRPr kumimoji="1" lang="en-US" altLang="ja-JP" sz="11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F55CA3AC-1F2B-4065-6470-0A9E6353BE94}"/>
              </a:ext>
            </a:extLst>
          </p:cNvPr>
          <p:cNvGrpSpPr/>
          <p:nvPr/>
        </p:nvGrpSpPr>
        <p:grpSpPr>
          <a:xfrm>
            <a:off x="1942688" y="1880345"/>
            <a:ext cx="2998723" cy="2026882"/>
            <a:chOff x="414338" y="352425"/>
            <a:chExt cx="2247899" cy="1233488"/>
          </a:xfrm>
          <a:solidFill>
            <a:schemeClr val="bg1"/>
          </a:solidFill>
        </p:grpSpPr>
        <p:sp>
          <p:nvSpPr>
            <p:cNvPr id="97" name="四角形: 角を丸くする 96">
              <a:extLst>
                <a:ext uri="{FF2B5EF4-FFF2-40B4-BE49-F238E27FC236}">
                  <a16:creationId xmlns:a16="http://schemas.microsoft.com/office/drawing/2014/main" id="{30520B90-BF30-DB46-405C-E73E70D9926A}"/>
                </a:ext>
              </a:extLst>
            </p:cNvPr>
            <p:cNvSpPr/>
            <p:nvPr/>
          </p:nvSpPr>
          <p:spPr>
            <a:xfrm>
              <a:off x="414338" y="352425"/>
              <a:ext cx="2247899" cy="1233488"/>
            </a:xfrm>
            <a:prstGeom prst="roundRect">
              <a:avLst>
                <a:gd name="adj" fmla="val 666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4901B38B-BEED-8883-77FA-7426D9BBDEAF}"/>
                </a:ext>
              </a:extLst>
            </p:cNvPr>
            <p:cNvCxnSpPr>
              <a:cxnSpLocks/>
            </p:cNvCxnSpPr>
            <p:nvPr/>
          </p:nvCxnSpPr>
          <p:spPr>
            <a:xfrm>
              <a:off x="710725" y="670715"/>
              <a:ext cx="1633537" cy="0"/>
            </a:xfrm>
            <a:prstGeom prst="line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A9BF13D5-1175-5E46-414F-416981B0E8A1}"/>
                </a:ext>
              </a:extLst>
            </p:cNvPr>
            <p:cNvCxnSpPr>
              <a:cxnSpLocks/>
            </p:cNvCxnSpPr>
            <p:nvPr/>
          </p:nvCxnSpPr>
          <p:spPr>
            <a:xfrm>
              <a:off x="710725" y="978040"/>
              <a:ext cx="1633537" cy="0"/>
            </a:xfrm>
            <a:prstGeom prst="line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48330671-F5F1-40DB-2199-9E4784C5F8B2}"/>
                </a:ext>
              </a:extLst>
            </p:cNvPr>
            <p:cNvCxnSpPr>
              <a:cxnSpLocks/>
            </p:cNvCxnSpPr>
            <p:nvPr/>
          </p:nvCxnSpPr>
          <p:spPr>
            <a:xfrm>
              <a:off x="710725" y="1285368"/>
              <a:ext cx="1633537" cy="0"/>
            </a:xfrm>
            <a:prstGeom prst="line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111DFA28-AD69-6320-869C-D8682484A110}"/>
              </a:ext>
            </a:extLst>
          </p:cNvPr>
          <p:cNvSpPr txBox="1"/>
          <p:nvPr/>
        </p:nvSpPr>
        <p:spPr>
          <a:xfrm>
            <a:off x="1936087" y="6973889"/>
            <a:ext cx="3005323" cy="587782"/>
          </a:xfrm>
          <a:prstGeom prst="roundRect">
            <a:avLst>
              <a:gd name="adj" fmla="val 32548"/>
            </a:avLst>
          </a:prstGeom>
          <a:solidFill>
            <a:schemeClr val="bg1"/>
          </a:solidFill>
          <a:effectLst>
            <a:softEdge rad="25400"/>
          </a:effectLst>
        </p:spPr>
        <p:txBody>
          <a:bodyPr wrap="square">
            <a:spAutoFit/>
          </a:bodyPr>
          <a:lstStyle/>
          <a:p>
            <a:pPr algn="ctr"/>
            <a:r>
              <a:rPr lang="ja-JP" altLang="en-US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</a:t>
            </a:r>
            <a:r>
              <a: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“</a:t>
            </a:r>
            <a:r>
              <a:rPr lang="ja-JP" altLang="en-US" sz="8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名刺代わりに。</a:t>
            </a:r>
            <a:r>
              <a:rPr lang="en-US" altLang="ja-JP" sz="8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”</a:t>
            </a:r>
            <a:r>
              <a:rPr lang="ja-JP" altLang="en-US" sz="800" b="1" i="0" dirty="0">
                <a:effectLst/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は、出会いにちょっとした贈りものを添えるデジタルギフトサービス。 ギフトの</a:t>
            </a:r>
            <a:r>
              <a:rPr lang="ja-JP" altLang="en-US" sz="8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受け取り</a:t>
            </a:r>
            <a:r>
              <a:rPr lang="ja-JP" altLang="en-US" sz="800" b="1" i="0" dirty="0">
                <a:effectLst/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先を</a:t>
            </a:r>
            <a:r>
              <a:rPr lang="en-US" altLang="ja-JP" sz="800" b="1" i="0" dirty="0">
                <a:effectLst/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QR</a:t>
            </a:r>
            <a:r>
              <a:rPr lang="ja-JP" altLang="en-US" sz="800" b="1" i="0" dirty="0">
                <a:effectLst/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コードから指定できます。</a:t>
            </a:r>
            <a:endParaRPr lang="ja-JP" altLang="en-US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C22F3AAA-928B-A1FE-0041-083379FB7AF3}"/>
              </a:ext>
            </a:extLst>
          </p:cNvPr>
          <p:cNvSpPr txBox="1"/>
          <p:nvPr/>
        </p:nvSpPr>
        <p:spPr>
          <a:xfrm>
            <a:off x="1886521" y="4841171"/>
            <a:ext cx="3054890" cy="1481257"/>
          </a:xfrm>
          <a:prstGeom prst="roundRect">
            <a:avLst/>
          </a:prstGeom>
          <a:solidFill>
            <a:schemeClr val="bg1"/>
          </a:solidFill>
          <a:effectLst>
            <a:softEdge rad="25400"/>
          </a:effectLst>
        </p:spPr>
        <p:txBody>
          <a:bodyPr wrap="square" anchor="ctr">
            <a:spAutoFit/>
          </a:bodyPr>
          <a:lstStyle/>
          <a:p>
            <a:pPr algn="ctr"/>
            <a:r>
              <a:rPr lang="ja-JP" altLang="en-US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ギフトを受け取るには</a:t>
            </a:r>
            <a:endParaRPr lang="en-US" altLang="ja-JP" sz="900" b="1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１．</a:t>
            </a:r>
            <a:r>
              <a:rPr lang="en-US" altLang="ja-JP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QR</a:t>
            </a:r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コードをスマートフォン等で読み込む</a:t>
            </a:r>
            <a:endParaRPr lang="en-US" altLang="ja-JP" sz="900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２．カード裏側の</a:t>
            </a:r>
            <a:r>
              <a:rPr lang="en-US" altLang="ja-JP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</a:t>
            </a:r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コード</a:t>
            </a:r>
            <a:r>
              <a:rPr lang="en-US" altLang="ja-JP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(</a:t>
            </a:r>
            <a:r>
              <a:rPr lang="ja-JP" altLang="en-US" sz="90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８桁</a:t>
            </a:r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の数字</a:t>
            </a:r>
            <a:r>
              <a:rPr lang="en-US" altLang="ja-JP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)</a:t>
            </a:r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を入力</a:t>
            </a:r>
            <a:endParaRPr lang="en-US" altLang="ja-JP" sz="900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３．お届け先住所を入力</a:t>
            </a:r>
            <a:endParaRPr lang="en-US" altLang="ja-JP" sz="900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４．発送状況なども確認できます</a:t>
            </a:r>
            <a:endParaRPr lang="en-US" altLang="ja-JP" sz="900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endParaRPr lang="en-US" altLang="ja-JP" sz="900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荷物を送る方もメッセージを送れます。同じ</a:t>
            </a:r>
            <a:r>
              <a:rPr lang="en-US" altLang="ja-JP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QR</a:t>
            </a:r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コードを読み込んで</a:t>
            </a:r>
            <a:r>
              <a:rPr lang="en-US" altLang="ja-JP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</a:t>
            </a:r>
            <a:r>
              <a:rPr lang="ja-JP" altLang="en-US" sz="9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コードを入力し、一番下のチャット欄で会話できます。</a:t>
            </a:r>
            <a:endParaRPr lang="en-US" altLang="ja-JP" sz="900" dirty="0"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577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89694-3474-C11B-BB97-8F99992C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6695BDC-71AD-8AAA-3ECE-E56AC60CD611}"/>
              </a:ext>
            </a:extLst>
          </p:cNvPr>
          <p:cNvGrpSpPr/>
          <p:nvPr/>
        </p:nvGrpSpPr>
        <p:grpSpPr>
          <a:xfrm>
            <a:off x="-321558" y="-455676"/>
            <a:ext cx="7501116" cy="10817352"/>
            <a:chOff x="-321558" y="-223365"/>
            <a:chExt cx="7501116" cy="10817352"/>
          </a:xfrm>
        </p:grpSpPr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5A66DF76-FBBA-AA91-17E8-2626BC390A8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321558" y="-223365"/>
              <a:ext cx="7501116" cy="10817352"/>
              <a:chOff x="-13500" y="-4725"/>
              <a:chExt cx="6886574" cy="9931122"/>
            </a:xfrm>
            <a:noFill/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6C18322A-886D-0816-57E9-8086F105100B}"/>
                  </a:ext>
                </a:extLst>
              </p:cNvPr>
              <p:cNvSpPr/>
              <p:nvPr/>
            </p:nvSpPr>
            <p:spPr>
              <a:xfrm>
                <a:off x="0" y="4103325"/>
                <a:ext cx="6873074" cy="23724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D2B4AC8C-3A22-1CB0-75DF-6095C1119402}"/>
                  </a:ext>
                </a:extLst>
              </p:cNvPr>
              <p:cNvSpPr/>
              <p:nvPr/>
            </p:nvSpPr>
            <p:spPr>
              <a:xfrm>
                <a:off x="3429000" y="1714500"/>
                <a:ext cx="1717200" cy="17172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233312E0-A635-812D-2F85-AD9C37D0BDCB}"/>
                  </a:ext>
                </a:extLst>
              </p:cNvPr>
              <p:cNvSpPr/>
              <p:nvPr/>
            </p:nvSpPr>
            <p:spPr>
              <a:xfrm>
                <a:off x="1711800" y="1714500"/>
                <a:ext cx="1717200" cy="17172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8085ECDD-A3A1-4487-3F63-53BC9175D1A0}"/>
                  </a:ext>
                </a:extLst>
              </p:cNvPr>
              <p:cNvSpPr/>
              <p:nvPr/>
            </p:nvSpPr>
            <p:spPr>
              <a:xfrm>
                <a:off x="-13500" y="1727326"/>
                <a:ext cx="1717200" cy="474967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5F555B6F-E78A-FBDD-8562-AFFC1E96D268}"/>
                  </a:ext>
                </a:extLst>
              </p:cNvPr>
              <p:cNvSpPr/>
              <p:nvPr/>
            </p:nvSpPr>
            <p:spPr>
              <a:xfrm>
                <a:off x="5151600" y="1727324"/>
                <a:ext cx="1717200" cy="474967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18EF7AFE-04CE-D7FE-E4E2-26683156BA6F}"/>
                  </a:ext>
                </a:extLst>
              </p:cNvPr>
              <p:cNvSpPr/>
              <p:nvPr/>
            </p:nvSpPr>
            <p:spPr>
              <a:xfrm>
                <a:off x="1705052" y="1727325"/>
                <a:ext cx="3445199" cy="23724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二等辺三角形 59">
                <a:extLst>
                  <a:ext uri="{FF2B5EF4-FFF2-40B4-BE49-F238E27FC236}">
                    <a16:creationId xmlns:a16="http://schemas.microsoft.com/office/drawing/2014/main" id="{176B855F-4B1E-AEA9-C98E-4DA9F61B15B1}"/>
                  </a:ext>
                </a:extLst>
              </p:cNvPr>
              <p:cNvSpPr/>
              <p:nvPr/>
            </p:nvSpPr>
            <p:spPr>
              <a:xfrm rot="8100000">
                <a:off x="2250542" y="505136"/>
                <a:ext cx="2387637" cy="2429076"/>
              </a:xfrm>
              <a:prstGeom prst="triangle">
                <a:avLst>
                  <a:gd name="adj" fmla="val 0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二等辺三角形 60">
                <a:extLst>
                  <a:ext uri="{FF2B5EF4-FFF2-40B4-BE49-F238E27FC236}">
                    <a16:creationId xmlns:a16="http://schemas.microsoft.com/office/drawing/2014/main" id="{32F6C9AB-58C0-5C65-9B62-5BF3CD56E8C0}"/>
                  </a:ext>
                </a:extLst>
              </p:cNvPr>
              <p:cNvSpPr/>
              <p:nvPr/>
            </p:nvSpPr>
            <p:spPr>
              <a:xfrm rot="18900000">
                <a:off x="2226797" y="6985286"/>
                <a:ext cx="2387637" cy="2429076"/>
              </a:xfrm>
              <a:prstGeom prst="triangle">
                <a:avLst>
                  <a:gd name="adj" fmla="val 0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706D69E3-D14F-2292-6CCC-61066F29BDC7}"/>
                  </a:ext>
                </a:extLst>
              </p:cNvPr>
              <p:cNvSpPr/>
              <p:nvPr/>
            </p:nvSpPr>
            <p:spPr>
              <a:xfrm>
                <a:off x="3429000" y="6474300"/>
                <a:ext cx="1717200" cy="17172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F04855D8-2C50-D5DE-132D-AFA03D1718C0}"/>
                  </a:ext>
                </a:extLst>
              </p:cNvPr>
              <p:cNvSpPr/>
              <p:nvPr/>
            </p:nvSpPr>
            <p:spPr>
              <a:xfrm>
                <a:off x="5146200" y="6474300"/>
                <a:ext cx="1717200" cy="17172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C5120A91-B9F9-8886-1C6F-956B61BE4C5E}"/>
                  </a:ext>
                </a:extLst>
              </p:cNvPr>
              <p:cNvSpPr/>
              <p:nvPr/>
            </p:nvSpPr>
            <p:spPr>
              <a:xfrm>
                <a:off x="-5400" y="6474300"/>
                <a:ext cx="1717200" cy="17172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正方形/長方形 64">
                <a:extLst>
                  <a:ext uri="{FF2B5EF4-FFF2-40B4-BE49-F238E27FC236}">
                    <a16:creationId xmlns:a16="http://schemas.microsoft.com/office/drawing/2014/main" id="{D7D214FB-A3D7-A130-00C3-B04FBC33B438}"/>
                  </a:ext>
                </a:extLst>
              </p:cNvPr>
              <p:cNvSpPr/>
              <p:nvPr/>
            </p:nvSpPr>
            <p:spPr>
              <a:xfrm>
                <a:off x="1711800" y="6474300"/>
                <a:ext cx="1717200" cy="17172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二等辺三角形 65">
                <a:extLst>
                  <a:ext uri="{FF2B5EF4-FFF2-40B4-BE49-F238E27FC236}">
                    <a16:creationId xmlns:a16="http://schemas.microsoft.com/office/drawing/2014/main" id="{62D682E6-B7DB-F5DD-C48C-BCD7B804766E}"/>
                  </a:ext>
                </a:extLst>
              </p:cNvPr>
              <p:cNvSpPr/>
              <p:nvPr/>
            </p:nvSpPr>
            <p:spPr>
              <a:xfrm>
                <a:off x="2925" y="6491997"/>
                <a:ext cx="3434400" cy="3428550"/>
              </a:xfrm>
              <a:prstGeom prst="triangle">
                <a:avLst>
                  <a:gd name="adj" fmla="val 0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二等辺三角形 66">
                <a:extLst>
                  <a:ext uri="{FF2B5EF4-FFF2-40B4-BE49-F238E27FC236}">
                    <a16:creationId xmlns:a16="http://schemas.microsoft.com/office/drawing/2014/main" id="{CFE1B068-82C2-88D8-35D9-5865D7F245BF}"/>
                  </a:ext>
                </a:extLst>
              </p:cNvPr>
              <p:cNvSpPr/>
              <p:nvPr/>
            </p:nvSpPr>
            <p:spPr>
              <a:xfrm rot="16200000">
                <a:off x="3430576" y="6494922"/>
                <a:ext cx="3434400" cy="3428550"/>
              </a:xfrm>
              <a:prstGeom prst="triangle">
                <a:avLst>
                  <a:gd name="adj" fmla="val 0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二等辺三角形 67">
                <a:extLst>
                  <a:ext uri="{FF2B5EF4-FFF2-40B4-BE49-F238E27FC236}">
                    <a16:creationId xmlns:a16="http://schemas.microsoft.com/office/drawing/2014/main" id="{5F3986F6-4268-84D3-2FF9-ED7A5E2D5C7B}"/>
                  </a:ext>
                </a:extLst>
              </p:cNvPr>
              <p:cNvSpPr/>
              <p:nvPr/>
            </p:nvSpPr>
            <p:spPr>
              <a:xfrm rot="10800000">
                <a:off x="3427651" y="-1049"/>
                <a:ext cx="3434400" cy="3428550"/>
              </a:xfrm>
              <a:prstGeom prst="triangle">
                <a:avLst>
                  <a:gd name="adj" fmla="val 0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二等辺三角形 68">
                <a:extLst>
                  <a:ext uri="{FF2B5EF4-FFF2-40B4-BE49-F238E27FC236}">
                    <a16:creationId xmlns:a16="http://schemas.microsoft.com/office/drawing/2014/main" id="{95062F40-FDC8-A9BF-C53B-0ACC044E6878}"/>
                  </a:ext>
                </a:extLst>
              </p:cNvPr>
              <p:cNvSpPr/>
              <p:nvPr/>
            </p:nvSpPr>
            <p:spPr>
              <a:xfrm rot="5400000">
                <a:off x="0" y="-1800"/>
                <a:ext cx="3434400" cy="3428550"/>
              </a:xfrm>
              <a:prstGeom prst="triangle">
                <a:avLst>
                  <a:gd name="adj" fmla="val 0"/>
                </a:avLst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正方形/長方形 69">
                <a:extLst>
                  <a:ext uri="{FF2B5EF4-FFF2-40B4-BE49-F238E27FC236}">
                    <a16:creationId xmlns:a16="http://schemas.microsoft.com/office/drawing/2014/main" id="{BD0E264B-3618-2A98-4A1A-68521D83B124}"/>
                  </a:ext>
                </a:extLst>
              </p:cNvPr>
              <p:cNvSpPr/>
              <p:nvPr/>
            </p:nvSpPr>
            <p:spPr>
              <a:xfrm>
                <a:off x="3429000" y="4733493"/>
                <a:ext cx="1717200" cy="17172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正方形/長方形 70">
                <a:extLst>
                  <a:ext uri="{FF2B5EF4-FFF2-40B4-BE49-F238E27FC236}">
                    <a16:creationId xmlns:a16="http://schemas.microsoft.com/office/drawing/2014/main" id="{7584DCDC-3FB7-021F-7F29-613CB6477FBE}"/>
                  </a:ext>
                </a:extLst>
              </p:cNvPr>
              <p:cNvSpPr/>
              <p:nvPr/>
            </p:nvSpPr>
            <p:spPr>
              <a:xfrm>
                <a:off x="1711800" y="4733493"/>
                <a:ext cx="1717200" cy="17172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D2839CC7-7E4E-C17E-BA16-A497956C6998}"/>
                  </a:ext>
                </a:extLst>
              </p:cNvPr>
              <p:cNvSpPr/>
              <p:nvPr/>
            </p:nvSpPr>
            <p:spPr>
              <a:xfrm>
                <a:off x="2836822" y="8499566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カード</a:t>
                </a:r>
              </a:p>
            </p:txBody>
          </p:sp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64E76420-8482-15FD-4BFD-8457E3340427}"/>
                  </a:ext>
                </a:extLst>
              </p:cNvPr>
              <p:cNvSpPr/>
              <p:nvPr/>
            </p:nvSpPr>
            <p:spPr>
              <a:xfrm>
                <a:off x="201655" y="8499566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削除</a:t>
                </a:r>
              </a:p>
            </p:txBody>
          </p:sp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E6F0DEC0-C32D-F663-D5A9-E1C8F90A6894}"/>
                  </a:ext>
                </a:extLst>
              </p:cNvPr>
              <p:cNvSpPr/>
              <p:nvPr/>
            </p:nvSpPr>
            <p:spPr>
              <a:xfrm>
                <a:off x="5383989" y="644493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削除</a:t>
                </a:r>
              </a:p>
            </p:txBody>
          </p:sp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5FB91EDD-A8D3-9F41-176F-61D55B8A26F5}"/>
                  </a:ext>
                </a:extLst>
              </p:cNvPr>
              <p:cNvSpPr/>
              <p:nvPr/>
            </p:nvSpPr>
            <p:spPr>
              <a:xfrm>
                <a:off x="201655" y="644493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削除</a:t>
                </a:r>
              </a:p>
            </p:txBody>
          </p:sp>
          <p:sp>
            <p:nvSpPr>
              <p:cNvPr id="76" name="正方形/長方形 75">
                <a:extLst>
                  <a:ext uri="{FF2B5EF4-FFF2-40B4-BE49-F238E27FC236}">
                    <a16:creationId xmlns:a16="http://schemas.microsoft.com/office/drawing/2014/main" id="{293453EC-093C-1843-53F8-B2F45EFCC1D7}"/>
                  </a:ext>
                </a:extLst>
              </p:cNvPr>
              <p:cNvSpPr/>
              <p:nvPr/>
            </p:nvSpPr>
            <p:spPr>
              <a:xfrm>
                <a:off x="5383989" y="8499566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削除</a:t>
                </a:r>
              </a:p>
            </p:txBody>
          </p: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367A34AE-CB9F-1BD6-6690-DB3EA641057C}"/>
                  </a:ext>
                </a:extLst>
              </p:cNvPr>
              <p:cNvSpPr/>
              <p:nvPr/>
            </p:nvSpPr>
            <p:spPr>
              <a:xfrm>
                <a:off x="2836822" y="2779340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見開き上</a:t>
                </a:r>
              </a:p>
            </p:txBody>
          </p:sp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88349DB5-EA52-886B-C5C9-48BCB3B5F145}"/>
                  </a:ext>
                </a:extLst>
              </p:cNvPr>
              <p:cNvSpPr/>
              <p:nvPr/>
            </p:nvSpPr>
            <p:spPr>
              <a:xfrm>
                <a:off x="2897781" y="5309471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見開きカード影</a:t>
                </a:r>
              </a:p>
            </p:txBody>
          </p:sp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061D1D27-87F5-729F-30A0-79A583037F4F}"/>
                  </a:ext>
                </a:extLst>
              </p:cNvPr>
              <p:cNvSpPr/>
              <p:nvPr/>
            </p:nvSpPr>
            <p:spPr>
              <a:xfrm>
                <a:off x="2836822" y="4222311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見開き下</a:t>
                </a:r>
              </a:p>
            </p:txBody>
          </p:sp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C0251F8D-4416-1C75-8967-1D355960084A}"/>
                  </a:ext>
                </a:extLst>
              </p:cNvPr>
              <p:cNvSpPr/>
              <p:nvPr/>
            </p:nvSpPr>
            <p:spPr>
              <a:xfrm>
                <a:off x="2897782" y="7204752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見開きカード裏</a:t>
                </a:r>
              </a:p>
            </p:txBody>
          </p:sp>
          <p:cxnSp>
            <p:nvCxnSpPr>
              <p:cNvPr id="81" name="直線コネクタ 80">
                <a:extLst>
                  <a:ext uri="{FF2B5EF4-FFF2-40B4-BE49-F238E27FC236}">
                    <a16:creationId xmlns:a16="http://schemas.microsoft.com/office/drawing/2014/main" id="{98346F0C-26D2-3F0D-A8F0-3F5DD87FCBDB}"/>
                  </a:ext>
                </a:extLst>
              </p:cNvPr>
              <p:cNvCxnSpPr>
                <a:stCxn id="57" idx="1"/>
                <a:endCxn id="58" idx="3"/>
              </p:cNvCxnSpPr>
              <p:nvPr/>
            </p:nvCxnSpPr>
            <p:spPr>
              <a:xfrm flipV="1">
                <a:off x="-13500" y="4102162"/>
                <a:ext cx="6882300" cy="1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線コネクタ 81">
                <a:extLst>
                  <a:ext uri="{FF2B5EF4-FFF2-40B4-BE49-F238E27FC236}">
                    <a16:creationId xmlns:a16="http://schemas.microsoft.com/office/drawing/2014/main" id="{69142AFD-58F3-6E92-1D26-64EF653D5C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62175" y="2588374"/>
                <a:ext cx="842625" cy="841301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線コネクタ 82">
                <a:extLst>
                  <a:ext uri="{FF2B5EF4-FFF2-40B4-BE49-F238E27FC236}">
                    <a16:creationId xmlns:a16="http://schemas.microsoft.com/office/drawing/2014/main" id="{25601DE1-C94E-F493-FF0A-7195A2C7F9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119" y="2593410"/>
                <a:ext cx="844479" cy="843151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F203DDAB-FDC4-A086-0613-2118ED83FF6B}"/>
                  </a:ext>
                </a:extLst>
              </p:cNvPr>
              <p:cNvSpPr/>
              <p:nvPr/>
            </p:nvSpPr>
            <p:spPr>
              <a:xfrm rot="10800000">
                <a:off x="4884047" y="2444245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正面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差込</a:t>
                </a:r>
              </a:p>
            </p:txBody>
          </p: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E269D441-EBDF-2BC3-842F-027D6B13DBAF}"/>
                  </a:ext>
                </a:extLst>
              </p:cNvPr>
              <p:cNvSpPr/>
              <p:nvPr/>
            </p:nvSpPr>
            <p:spPr>
              <a:xfrm rot="10800000">
                <a:off x="2824110" y="1014429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正面　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差込</a:t>
                </a:r>
              </a:p>
            </p:txBody>
          </p:sp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BD9A7CB2-B722-64A3-E5D2-BC04E06D5616}"/>
                  </a:ext>
                </a:extLst>
              </p:cNvPr>
              <p:cNvSpPr/>
              <p:nvPr/>
            </p:nvSpPr>
            <p:spPr>
              <a:xfrm rot="10800000">
                <a:off x="146120" y="3361770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正面　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229F739C-A705-0FF0-A035-81D9DE120E9A}"/>
                  </a:ext>
                </a:extLst>
              </p:cNvPr>
              <p:cNvSpPr/>
              <p:nvPr/>
            </p:nvSpPr>
            <p:spPr>
              <a:xfrm rot="10800000">
                <a:off x="5383988" y="3361770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正面　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91BCD6BE-3A88-AC2F-4942-DC0B3F678B45}"/>
                  </a:ext>
                </a:extLst>
              </p:cNvPr>
              <p:cNvSpPr/>
              <p:nvPr/>
            </p:nvSpPr>
            <p:spPr>
              <a:xfrm rot="10800000">
                <a:off x="858818" y="2444245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正面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差込</a:t>
                </a:r>
              </a:p>
            </p:txBody>
          </p:sp>
          <p:sp>
            <p:nvSpPr>
              <p:cNvPr id="89" name="正方形/長方形 88">
                <a:extLst>
                  <a:ext uri="{FF2B5EF4-FFF2-40B4-BE49-F238E27FC236}">
                    <a16:creationId xmlns:a16="http://schemas.microsoft.com/office/drawing/2014/main" id="{332631D7-0348-CAB1-9C10-C6580EF82124}"/>
                  </a:ext>
                </a:extLst>
              </p:cNvPr>
              <p:cNvSpPr/>
              <p:nvPr/>
            </p:nvSpPr>
            <p:spPr>
              <a:xfrm>
                <a:off x="5383988" y="5132404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裏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正方形/長方形 89">
                <a:extLst>
                  <a:ext uri="{FF2B5EF4-FFF2-40B4-BE49-F238E27FC236}">
                    <a16:creationId xmlns:a16="http://schemas.microsoft.com/office/drawing/2014/main" id="{433F4BD6-EAB4-6D1D-7AFA-D4D9665B0E0F}"/>
                  </a:ext>
                </a:extLst>
              </p:cNvPr>
              <p:cNvSpPr/>
              <p:nvPr/>
            </p:nvSpPr>
            <p:spPr>
              <a:xfrm>
                <a:off x="276855" y="5132404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裏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正方形/長方形 90">
                <a:extLst>
                  <a:ext uri="{FF2B5EF4-FFF2-40B4-BE49-F238E27FC236}">
                    <a16:creationId xmlns:a16="http://schemas.microsoft.com/office/drawing/2014/main" id="{01EB5451-1E46-58E8-3B31-1E5902BFA3F4}"/>
                  </a:ext>
                </a:extLst>
              </p:cNvPr>
              <p:cNvSpPr/>
              <p:nvPr/>
            </p:nvSpPr>
            <p:spPr>
              <a:xfrm>
                <a:off x="5219299" y="6712380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正面　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耳</a:t>
                </a:r>
              </a:p>
            </p:txBody>
          </p:sp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B96CA4DA-03F0-6E05-6E47-45C5560B698A}"/>
                  </a:ext>
                </a:extLst>
              </p:cNvPr>
              <p:cNvSpPr/>
              <p:nvPr/>
            </p:nvSpPr>
            <p:spPr>
              <a:xfrm>
                <a:off x="624349" y="6712380"/>
                <a:ext cx="1217655" cy="48572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正面　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耳</a:t>
                </a:r>
              </a:p>
            </p:txBody>
          </p:sp>
        </p:grpSp>
        <p:sp>
          <p:nvSpPr>
            <p:cNvPr id="94" name="四角形: 角を丸くする 93">
              <a:extLst>
                <a:ext uri="{FF2B5EF4-FFF2-40B4-BE49-F238E27FC236}">
                  <a16:creationId xmlns:a16="http://schemas.microsoft.com/office/drawing/2014/main" id="{73F080F6-0AC1-77E4-DA85-4059B76C8E30}"/>
                </a:ext>
              </a:extLst>
            </p:cNvPr>
            <p:cNvSpPr/>
            <p:nvPr/>
          </p:nvSpPr>
          <p:spPr>
            <a:xfrm>
              <a:off x="9655" y="5851830"/>
              <a:ext cx="1576230" cy="600028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ts val="600"/>
                </a:lnSpc>
              </a:pP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発行者　：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r">
                <a:lnSpc>
                  <a:spcPts val="600"/>
                </a:lnSpc>
              </a:pP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r">
                <a:lnSpc>
                  <a:spcPts val="600"/>
                </a:lnSpc>
              </a:pP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イノベーションアンドコンサルティング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r">
                <a:lnSpc>
                  <a:spcPts val="600"/>
                </a:lnSpc>
              </a:pP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〒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010−8502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秋⽥市手形学園町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1−1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　　　　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r">
                <a:lnSpc>
                  <a:spcPts val="600"/>
                </a:lnSpc>
              </a:pP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info@auic.or.jp</a:t>
              </a:r>
            </a:p>
            <a:p>
              <a:pPr algn="r">
                <a:lnSpc>
                  <a:spcPts val="600"/>
                </a:lnSpc>
              </a:pP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>
                <a:lnSpc>
                  <a:spcPts val="600"/>
                </a:lnSpc>
              </a:pP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有効期限：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r">
                <a:lnSpc>
                  <a:spcPts val="600"/>
                </a:lnSpc>
              </a:pP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表紙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QR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コードを参照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(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最大発行後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年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)</a:t>
              </a:r>
            </a:p>
          </p:txBody>
        </p:sp>
        <p:sp>
          <p:nvSpPr>
            <p:cNvPr id="95" name="四角形: 角を丸くする 94">
              <a:extLst>
                <a:ext uri="{FF2B5EF4-FFF2-40B4-BE49-F238E27FC236}">
                  <a16:creationId xmlns:a16="http://schemas.microsoft.com/office/drawing/2014/main" id="{C1BF8855-4236-84ED-67DA-D4D8A8E026B4}"/>
                </a:ext>
              </a:extLst>
            </p:cNvPr>
            <p:cNvSpPr/>
            <p:nvPr/>
          </p:nvSpPr>
          <p:spPr>
            <a:xfrm>
              <a:off x="5291230" y="5185311"/>
              <a:ext cx="1576230" cy="600028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00"/>
                </a:lnSpc>
              </a:pPr>
              <a:r>
                <a:rPr kumimoji="1" lang="ja-JP" altLang="en-US" sz="11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名刺代わりに。</a:t>
              </a:r>
              <a:endParaRPr kumimoji="1" lang="en-US" altLang="ja-JP" sz="11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09A4FA26-B98A-3E34-B0F2-8A355CDB1D3C}"/>
                </a:ext>
              </a:extLst>
            </p:cNvPr>
            <p:cNvGrpSpPr/>
            <p:nvPr/>
          </p:nvGrpSpPr>
          <p:grpSpPr>
            <a:xfrm>
              <a:off x="1933683" y="1910866"/>
              <a:ext cx="2998723" cy="2025806"/>
              <a:chOff x="414338" y="352425"/>
              <a:chExt cx="2247899" cy="1233488"/>
            </a:xfrm>
            <a:solidFill>
              <a:schemeClr val="bg1"/>
            </a:solidFill>
          </p:grpSpPr>
          <p:sp>
            <p:nvSpPr>
              <p:cNvPr id="97" name="四角形: 角を丸くする 96">
                <a:extLst>
                  <a:ext uri="{FF2B5EF4-FFF2-40B4-BE49-F238E27FC236}">
                    <a16:creationId xmlns:a16="http://schemas.microsoft.com/office/drawing/2014/main" id="{F97A813E-2C8E-6369-EB05-AE6301A6BB71}"/>
                  </a:ext>
                </a:extLst>
              </p:cNvPr>
              <p:cNvSpPr/>
              <p:nvPr/>
            </p:nvSpPr>
            <p:spPr>
              <a:xfrm>
                <a:off x="414338" y="352425"/>
                <a:ext cx="2247899" cy="1233488"/>
              </a:xfrm>
              <a:prstGeom prst="roundRect">
                <a:avLst>
                  <a:gd name="adj" fmla="val 666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endParaRPr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995FE258-C471-0987-9BF8-C36A2FB6DC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6445" y="690452"/>
                <a:ext cx="1633537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5E2C7A5B-9604-A48F-15B0-78B408E10A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585" y="989654"/>
                <a:ext cx="1633537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0" name="直線コネクタ 99">
                <a:extLst>
                  <a:ext uri="{FF2B5EF4-FFF2-40B4-BE49-F238E27FC236}">
                    <a16:creationId xmlns:a16="http://schemas.microsoft.com/office/drawing/2014/main" id="{DBC1CD1A-288B-1319-037F-E37FE669E1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585" y="1288856"/>
                <a:ext cx="1633537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59D5B086-E9C3-1EAE-B099-CAD8893FCD6A}"/>
                </a:ext>
              </a:extLst>
            </p:cNvPr>
            <p:cNvSpPr txBox="1"/>
            <p:nvPr/>
          </p:nvSpPr>
          <p:spPr>
            <a:xfrm>
              <a:off x="2023343" y="4318145"/>
              <a:ext cx="2819401" cy="477054"/>
            </a:xfrm>
            <a:prstGeom prst="rect">
              <a:avLst/>
            </a:prstGeom>
            <a:solidFill>
              <a:schemeClr val="bg1"/>
            </a:solidFill>
            <a:effectLst>
              <a:softEdge rad="25400"/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900" b="1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</a:t>
              </a:r>
              <a:r>
                <a:rPr lang="en-US" altLang="ja-JP" sz="900" b="1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“</a:t>
              </a:r>
              <a:r>
                <a:rPr lang="ja-JP" altLang="en-US" sz="800" b="1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名刺代わりに。</a:t>
              </a:r>
              <a:r>
                <a:rPr lang="en-US" altLang="ja-JP" sz="800" b="1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”</a:t>
              </a:r>
              <a:r>
                <a:rPr lang="ja-JP" altLang="en-US" sz="800" b="1" i="0" dirty="0">
                  <a:effectLst/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は、出会いにちょっとした贈りものを添えるデジタルギフトサービス。 ギフトの送り先は</a:t>
              </a:r>
              <a:r>
                <a:rPr lang="en-US" altLang="ja-JP" sz="800" b="1" i="0" dirty="0">
                  <a:effectLst/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QR</a:t>
              </a:r>
              <a:r>
                <a:rPr lang="ja-JP" altLang="en-US" sz="800" b="1" i="0" dirty="0">
                  <a:effectLst/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コードから指定できます。</a:t>
              </a:r>
              <a:endParaRPr lang="ja-JP" altLang="en-US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069027D7-8CED-665F-0D5C-41E1EFCEA6B0}"/>
                </a:ext>
              </a:extLst>
            </p:cNvPr>
            <p:cNvSpPr txBox="1"/>
            <p:nvPr/>
          </p:nvSpPr>
          <p:spPr>
            <a:xfrm>
              <a:off x="2023343" y="5189617"/>
              <a:ext cx="2819401" cy="1338828"/>
            </a:xfrm>
            <a:prstGeom prst="rect">
              <a:avLst/>
            </a:prstGeom>
            <a:solidFill>
              <a:schemeClr val="bg1"/>
            </a:solidFill>
            <a:effectLst>
              <a:softEdge rad="25400"/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900" b="1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</a:t>
              </a:r>
              <a:endPara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endPara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endPara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lang="ja-JP" altLang="en-US" sz="900" b="1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具体的な手順とか</a:t>
              </a:r>
              <a:endPara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endPara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endPara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endPara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endParaRPr lang="en-US" altLang="ja-JP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endParaRPr lang="ja-JP" altLang="en-US" sz="900" b="1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241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5B17-933B-AEF9-3294-9A8561E1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988CE32F-5ED4-6EBA-FC38-D17A2E9B5088}"/>
              </a:ext>
            </a:extLst>
          </p:cNvPr>
          <p:cNvGrpSpPr/>
          <p:nvPr/>
        </p:nvGrpSpPr>
        <p:grpSpPr>
          <a:xfrm>
            <a:off x="-13500" y="-4725"/>
            <a:ext cx="6886574" cy="9931122"/>
            <a:chOff x="-13500" y="-4725"/>
            <a:chExt cx="6886574" cy="9931122"/>
          </a:xfrm>
          <a:noFill/>
        </p:grpSpPr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65F3FFAB-CF77-B388-65AD-0CFD938522EE}"/>
                </a:ext>
              </a:extLst>
            </p:cNvPr>
            <p:cNvSpPr/>
            <p:nvPr/>
          </p:nvSpPr>
          <p:spPr>
            <a:xfrm>
              <a:off x="0" y="4103325"/>
              <a:ext cx="6873074" cy="2372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F0CA422A-140C-CA5E-052E-838D95972AD5}"/>
                </a:ext>
              </a:extLst>
            </p:cNvPr>
            <p:cNvSpPr/>
            <p:nvPr/>
          </p:nvSpPr>
          <p:spPr>
            <a:xfrm>
              <a:off x="3429000" y="17145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949BA18E-9D83-87AB-7F9D-DE13EBF91A28}"/>
                </a:ext>
              </a:extLst>
            </p:cNvPr>
            <p:cNvSpPr/>
            <p:nvPr/>
          </p:nvSpPr>
          <p:spPr>
            <a:xfrm>
              <a:off x="1711800" y="17145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E7B25EB9-53B0-D99C-3B98-7F36C98A53D9}"/>
                </a:ext>
              </a:extLst>
            </p:cNvPr>
            <p:cNvSpPr/>
            <p:nvPr/>
          </p:nvSpPr>
          <p:spPr>
            <a:xfrm>
              <a:off x="-13500" y="1727326"/>
              <a:ext cx="1717200" cy="474967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6CE1BFCA-BB02-8B9F-7BE1-F34E0CF83DB0}"/>
                </a:ext>
              </a:extLst>
            </p:cNvPr>
            <p:cNvSpPr/>
            <p:nvPr/>
          </p:nvSpPr>
          <p:spPr>
            <a:xfrm>
              <a:off x="5151600" y="1727324"/>
              <a:ext cx="1717200" cy="474967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53846CD9-F59A-C2CB-FD36-8E2A5EB92EBF}"/>
                </a:ext>
              </a:extLst>
            </p:cNvPr>
            <p:cNvSpPr/>
            <p:nvPr/>
          </p:nvSpPr>
          <p:spPr>
            <a:xfrm>
              <a:off x="1705052" y="1727325"/>
              <a:ext cx="3445199" cy="2372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" name="二等辺三角形 1">
              <a:extLst>
                <a:ext uri="{FF2B5EF4-FFF2-40B4-BE49-F238E27FC236}">
                  <a16:creationId xmlns:a16="http://schemas.microsoft.com/office/drawing/2014/main" id="{F9380842-DA4A-0B54-C0E9-C94E74E751FE}"/>
                </a:ext>
              </a:extLst>
            </p:cNvPr>
            <p:cNvSpPr/>
            <p:nvPr/>
          </p:nvSpPr>
          <p:spPr>
            <a:xfrm rot="8100000">
              <a:off x="2250542" y="505136"/>
              <a:ext cx="2387637" cy="2429076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8D2E477E-637D-DD7C-64CC-F6331F633906}"/>
                </a:ext>
              </a:extLst>
            </p:cNvPr>
            <p:cNvSpPr/>
            <p:nvPr/>
          </p:nvSpPr>
          <p:spPr>
            <a:xfrm rot="18900000">
              <a:off x="2226797" y="6985286"/>
              <a:ext cx="2387637" cy="2429076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F55171A-C084-38F1-F0A9-DB71927F66E6}"/>
                </a:ext>
              </a:extLst>
            </p:cNvPr>
            <p:cNvSpPr/>
            <p:nvPr/>
          </p:nvSpPr>
          <p:spPr>
            <a:xfrm>
              <a:off x="34290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6BD54F5-E09B-0781-6CBD-3D64E04D0816}"/>
                </a:ext>
              </a:extLst>
            </p:cNvPr>
            <p:cNvSpPr/>
            <p:nvPr/>
          </p:nvSpPr>
          <p:spPr>
            <a:xfrm>
              <a:off x="51462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004B6C9-AF52-DAE9-90BC-4B5C746F039D}"/>
                </a:ext>
              </a:extLst>
            </p:cNvPr>
            <p:cNvSpPr/>
            <p:nvPr/>
          </p:nvSpPr>
          <p:spPr>
            <a:xfrm>
              <a:off x="-54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09DEE70D-3EDF-E617-3FE2-C25EB3633FD5}"/>
                </a:ext>
              </a:extLst>
            </p:cNvPr>
            <p:cNvSpPr/>
            <p:nvPr/>
          </p:nvSpPr>
          <p:spPr>
            <a:xfrm>
              <a:off x="1711800" y="6474300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" name="二等辺三角形 2">
              <a:extLst>
                <a:ext uri="{FF2B5EF4-FFF2-40B4-BE49-F238E27FC236}">
                  <a16:creationId xmlns:a16="http://schemas.microsoft.com/office/drawing/2014/main" id="{4FF8F3FC-6DA2-0E04-7F48-41BB2EFDC70B}"/>
                </a:ext>
              </a:extLst>
            </p:cNvPr>
            <p:cNvSpPr/>
            <p:nvPr/>
          </p:nvSpPr>
          <p:spPr>
            <a:xfrm>
              <a:off x="2925" y="6491997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二等辺三角形 3">
              <a:extLst>
                <a:ext uri="{FF2B5EF4-FFF2-40B4-BE49-F238E27FC236}">
                  <a16:creationId xmlns:a16="http://schemas.microsoft.com/office/drawing/2014/main" id="{99A7BC3D-E612-31D5-4161-444F337DE139}"/>
                </a:ext>
              </a:extLst>
            </p:cNvPr>
            <p:cNvSpPr/>
            <p:nvPr/>
          </p:nvSpPr>
          <p:spPr>
            <a:xfrm rot="16200000">
              <a:off x="3430576" y="6494922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二等辺三角形 45">
              <a:extLst>
                <a:ext uri="{FF2B5EF4-FFF2-40B4-BE49-F238E27FC236}">
                  <a16:creationId xmlns:a16="http://schemas.microsoft.com/office/drawing/2014/main" id="{F3B0681F-D87C-6B87-0153-E900DC2BDCD0}"/>
                </a:ext>
              </a:extLst>
            </p:cNvPr>
            <p:cNvSpPr/>
            <p:nvPr/>
          </p:nvSpPr>
          <p:spPr>
            <a:xfrm rot="10800000">
              <a:off x="3427651" y="-1049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二等辺三角形 46">
              <a:extLst>
                <a:ext uri="{FF2B5EF4-FFF2-40B4-BE49-F238E27FC236}">
                  <a16:creationId xmlns:a16="http://schemas.microsoft.com/office/drawing/2014/main" id="{72917D8A-A022-2230-84CA-AAB91E53BC7C}"/>
                </a:ext>
              </a:extLst>
            </p:cNvPr>
            <p:cNvSpPr/>
            <p:nvPr/>
          </p:nvSpPr>
          <p:spPr>
            <a:xfrm rot="5400000">
              <a:off x="0" y="-1800"/>
              <a:ext cx="3434400" cy="3428550"/>
            </a:xfrm>
            <a:prstGeom prst="triangle">
              <a:avLst>
                <a:gd name="adj" fmla="val 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02D6763A-4AB5-880A-75FE-AB8FE10CA4FF}"/>
                </a:ext>
              </a:extLst>
            </p:cNvPr>
            <p:cNvSpPr/>
            <p:nvPr/>
          </p:nvSpPr>
          <p:spPr>
            <a:xfrm>
              <a:off x="3429000" y="4733493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D8F972FD-70C9-88CA-3D83-80ECA5877FEB}"/>
                </a:ext>
              </a:extLst>
            </p:cNvPr>
            <p:cNvSpPr/>
            <p:nvPr/>
          </p:nvSpPr>
          <p:spPr>
            <a:xfrm>
              <a:off x="1711800" y="4733493"/>
              <a:ext cx="1717200" cy="1717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F3C73B3-FE64-439D-E73B-20101521F7F4}"/>
                </a:ext>
              </a:extLst>
            </p:cNvPr>
            <p:cNvSpPr/>
            <p:nvPr/>
          </p:nvSpPr>
          <p:spPr>
            <a:xfrm>
              <a:off x="2836822" y="8499566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カード</a:t>
              </a: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CBD55DAB-6C88-5F54-E986-ECB423D8E5EE}"/>
                </a:ext>
              </a:extLst>
            </p:cNvPr>
            <p:cNvSpPr/>
            <p:nvPr/>
          </p:nvSpPr>
          <p:spPr>
            <a:xfrm>
              <a:off x="201655" y="8499566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6C2AA3B4-6418-F365-A75B-7AD14C78BA53}"/>
                </a:ext>
              </a:extLst>
            </p:cNvPr>
            <p:cNvSpPr/>
            <p:nvPr/>
          </p:nvSpPr>
          <p:spPr>
            <a:xfrm>
              <a:off x="5383989" y="644493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6EB655DC-8827-8352-CA43-824B85708FE7}"/>
                </a:ext>
              </a:extLst>
            </p:cNvPr>
            <p:cNvSpPr/>
            <p:nvPr/>
          </p:nvSpPr>
          <p:spPr>
            <a:xfrm>
              <a:off x="201655" y="644493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95E1D9BA-75FA-6C05-B7B7-FE3A57622A61}"/>
                </a:ext>
              </a:extLst>
            </p:cNvPr>
            <p:cNvSpPr/>
            <p:nvPr/>
          </p:nvSpPr>
          <p:spPr>
            <a:xfrm>
              <a:off x="5383989" y="8499566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削除</a:t>
              </a: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F8548697-409F-F610-B30F-E97E2B1E5FED}"/>
                </a:ext>
              </a:extLst>
            </p:cNvPr>
            <p:cNvSpPr/>
            <p:nvPr/>
          </p:nvSpPr>
          <p:spPr>
            <a:xfrm>
              <a:off x="2836822" y="277934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見開き上</a:t>
              </a: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E9B09566-47D3-7E59-F42A-1432E3CBC96C}"/>
                </a:ext>
              </a:extLst>
            </p:cNvPr>
            <p:cNvSpPr/>
            <p:nvPr/>
          </p:nvSpPr>
          <p:spPr>
            <a:xfrm>
              <a:off x="2897781" y="5309471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見開きカード影</a:t>
              </a: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FE8FC0C5-FE69-B470-0AFD-E3950BF60EFB}"/>
                </a:ext>
              </a:extLst>
            </p:cNvPr>
            <p:cNvSpPr/>
            <p:nvPr/>
          </p:nvSpPr>
          <p:spPr>
            <a:xfrm>
              <a:off x="2836822" y="4222311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見開き下</a:t>
              </a: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8A25338E-10ED-9987-E623-D3F8F15AC1D6}"/>
                </a:ext>
              </a:extLst>
            </p:cNvPr>
            <p:cNvSpPr/>
            <p:nvPr/>
          </p:nvSpPr>
          <p:spPr>
            <a:xfrm>
              <a:off x="2897782" y="7204752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見開きカード裏</a:t>
              </a:r>
            </a:p>
          </p:txBody>
        </p: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62041C14-12CA-BD48-791A-60C249F23610}"/>
                </a:ext>
              </a:extLst>
            </p:cNvPr>
            <p:cNvCxnSpPr>
              <a:stCxn id="48" idx="1"/>
              <a:endCxn id="49" idx="3"/>
            </p:cNvCxnSpPr>
            <p:nvPr/>
          </p:nvCxnSpPr>
          <p:spPr>
            <a:xfrm flipV="1">
              <a:off x="-13500" y="4102162"/>
              <a:ext cx="6882300" cy="1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FB5F33D7-DA1D-75B6-E522-27DFF17E0A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2175" y="2588374"/>
              <a:ext cx="842625" cy="841301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83353FF3-1884-D09E-B305-171F49957EF4}"/>
                </a:ext>
              </a:extLst>
            </p:cNvPr>
            <p:cNvCxnSpPr>
              <a:cxnSpLocks/>
            </p:cNvCxnSpPr>
            <p:nvPr/>
          </p:nvCxnSpPr>
          <p:spPr>
            <a:xfrm>
              <a:off x="882119" y="2593410"/>
              <a:ext cx="844479" cy="843151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5CE3ACA1-3DB9-0534-1412-37732438EE18}"/>
                </a:ext>
              </a:extLst>
            </p:cNvPr>
            <p:cNvSpPr/>
            <p:nvPr/>
          </p:nvSpPr>
          <p:spPr>
            <a:xfrm rot="10800000">
              <a:off x="4884047" y="2444245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差込</a:t>
              </a: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D5C1179C-3971-004A-934A-B3F520235F89}"/>
                </a:ext>
              </a:extLst>
            </p:cNvPr>
            <p:cNvSpPr/>
            <p:nvPr/>
          </p:nvSpPr>
          <p:spPr>
            <a:xfrm rot="10800000">
              <a:off x="2824110" y="1014429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差込</a:t>
              </a:r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D17E9E04-4D4A-7B7B-3E12-F850F768DCC4}"/>
                </a:ext>
              </a:extLst>
            </p:cNvPr>
            <p:cNvSpPr/>
            <p:nvPr/>
          </p:nvSpPr>
          <p:spPr>
            <a:xfrm rot="10800000">
              <a:off x="146120" y="336177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B405BA58-6279-88CD-47EE-CDC5DF84D52F}"/>
                </a:ext>
              </a:extLst>
            </p:cNvPr>
            <p:cNvSpPr/>
            <p:nvPr/>
          </p:nvSpPr>
          <p:spPr>
            <a:xfrm rot="10800000">
              <a:off x="5383988" y="336177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7BC63A98-37F0-4EA1-DF02-4A5C204B399D}"/>
                </a:ext>
              </a:extLst>
            </p:cNvPr>
            <p:cNvSpPr/>
            <p:nvPr/>
          </p:nvSpPr>
          <p:spPr>
            <a:xfrm rot="10800000">
              <a:off x="858818" y="2444245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差込</a:t>
              </a: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E2ACC455-A64D-7CD3-87AD-F86D50B017C7}"/>
                </a:ext>
              </a:extLst>
            </p:cNvPr>
            <p:cNvSpPr/>
            <p:nvPr/>
          </p:nvSpPr>
          <p:spPr>
            <a:xfrm>
              <a:off x="5383988" y="5132404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裏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291F9E87-8D65-B156-321D-A77AF0153340}"/>
                </a:ext>
              </a:extLst>
            </p:cNvPr>
            <p:cNvSpPr/>
            <p:nvPr/>
          </p:nvSpPr>
          <p:spPr>
            <a:xfrm>
              <a:off x="276855" y="5132404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裏</a:t>
              </a:r>
              <a:endParaRPr kumimoji="1" lang="en-US" altLang="ja-JP" dirty="0">
                <a:solidFill>
                  <a:schemeClr val="tx1"/>
                </a:solidFill>
              </a:endParaRP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206A238C-BA81-17C4-A2E7-F9C208FAA41A}"/>
                </a:ext>
              </a:extLst>
            </p:cNvPr>
            <p:cNvSpPr/>
            <p:nvPr/>
          </p:nvSpPr>
          <p:spPr>
            <a:xfrm>
              <a:off x="5219299" y="671238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耳</a:t>
              </a: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B9DDB549-DBCE-DB82-8ECD-27E73814D64C}"/>
                </a:ext>
              </a:extLst>
            </p:cNvPr>
            <p:cNvSpPr/>
            <p:nvPr/>
          </p:nvSpPr>
          <p:spPr>
            <a:xfrm>
              <a:off x="624349" y="6712380"/>
              <a:ext cx="1217655" cy="48572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正面　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5278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488</TotalTime>
  <Words>416</Words>
  <Application>Microsoft Office PowerPoint</Application>
  <PresentationFormat>A4 210 x 297 mm</PresentationFormat>
  <Paragraphs>152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UD デジタル 教科書体 NP-R</vt:lpstr>
      <vt:lpstr>游ゴシック</vt:lpstr>
      <vt:lpstr>Arial</vt:lpstr>
      <vt:lpstr>Calibri</vt:lpstr>
      <vt:lpstr>Calibri Light</vt:lpstr>
      <vt:lpstr>Office 2013 - 2022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14149774@avis.akita-u.ac.jp</dc:creator>
  <cp:lastModifiedBy>yudai itou</cp:lastModifiedBy>
  <cp:revision>28</cp:revision>
  <cp:lastPrinted>2026-02-09T06:57:47Z</cp:lastPrinted>
  <dcterms:created xsi:type="dcterms:W3CDTF">2026-02-05T03:56:34Z</dcterms:created>
  <dcterms:modified xsi:type="dcterms:W3CDTF">2026-02-09T06:57:49Z</dcterms:modified>
</cp:coreProperties>
</file>