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83" r:id="rId2"/>
    <p:sldId id="292" r:id="rId3"/>
    <p:sldId id="293" r:id="rId4"/>
    <p:sldId id="294" r:id="rId5"/>
  </p:sldIdLst>
  <p:sldSz cx="3095625" cy="194468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 autoAdjust="0"/>
    <p:restoredTop sz="94601"/>
  </p:normalViewPr>
  <p:slideViewPr>
    <p:cSldViewPr snapToGrid="0">
      <p:cViewPr varScale="1">
        <p:scale>
          <a:sx n="400" d="100"/>
          <a:sy n="400" d="100"/>
        </p:scale>
        <p:origin x="1832" y="3720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675" y="4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/>
          <a:lstStyle>
            <a:lvl1pPr algn="r">
              <a:defRPr sz="1300"/>
            </a:lvl1pPr>
          </a:lstStyle>
          <a:p>
            <a:fld id="{DFB49DE1-FB4B-4CFB-9A42-CC282F575BD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03275" y="1279525"/>
            <a:ext cx="549751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58" tIns="46880" rIns="93758" bIns="4688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738" y="4925915"/>
            <a:ext cx="5682595" cy="4028966"/>
          </a:xfrm>
          <a:prstGeom prst="rect">
            <a:avLst/>
          </a:prstGeom>
        </p:spPr>
        <p:txBody>
          <a:bodyPr vert="horz" lIns="93758" tIns="46880" rIns="93758" bIns="4688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4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675" y="9722076"/>
            <a:ext cx="3078755" cy="512541"/>
          </a:xfrm>
          <a:prstGeom prst="rect">
            <a:avLst/>
          </a:prstGeom>
        </p:spPr>
        <p:txBody>
          <a:bodyPr vert="horz" lIns="93758" tIns="46880" rIns="93758" bIns="46880" rtlCol="0" anchor="b"/>
          <a:lstStyle>
            <a:lvl1pPr algn="r">
              <a:defRPr sz="13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247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3D65-4864-6D71-A4F1-B535EB41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91102F8-0101-2A13-E0C8-FF6C18471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27D793-D090-97AA-939A-F62319E6B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83762D-89E9-72FF-12B7-BBDA87F05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6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647801" y="392264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661270" y="1384028"/>
              <a:ext cx="1762019" cy="243529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9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AUTELM</a:t>
              </a:r>
              <a:r>
                <a:rPr kumimoji="1" lang="ja-JP" altLang="en-US" sz="9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9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HP</a:t>
              </a:r>
              <a:r>
                <a:rPr kumimoji="1" lang="ja-JP" altLang="en-US" sz="9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開設記念！</a:t>
              </a:r>
              <a:endParaRPr kumimoji="1" lang="en-US" altLang="ja-JP" sz="9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9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限定“アクリルキーホルダー”</a:t>
              </a:r>
              <a:endParaRPr kumimoji="1" lang="en-US" altLang="ja-JP" sz="9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9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プレゼント！</a:t>
              </a:r>
              <a:endParaRPr kumimoji="1" lang="en-US" altLang="ja-JP" sz="9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7D24D90A-A1AB-C0C5-52D1-456539EAF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4065" y="1206941"/>
            <a:ext cx="542925" cy="54292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B7ACA9E-F2DC-C16E-D18D-34F09B812694}"/>
              </a:ext>
            </a:extLst>
          </p:cNvPr>
          <p:cNvGrpSpPr/>
          <p:nvPr/>
        </p:nvGrpSpPr>
        <p:grpSpPr>
          <a:xfrm>
            <a:off x="27616" y="1184325"/>
            <a:ext cx="719775" cy="642937"/>
            <a:chOff x="738930" y="555863"/>
            <a:chExt cx="1323512" cy="1182224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C091C0B-7D45-EDAF-5289-60C6DAC8E5B1}"/>
                </a:ext>
              </a:extLst>
            </p:cNvPr>
            <p:cNvSpPr/>
            <p:nvPr/>
          </p:nvSpPr>
          <p:spPr>
            <a:xfrm>
              <a:off x="1029261" y="609599"/>
              <a:ext cx="726514" cy="10382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894C301-7CD6-230B-FCA8-B9E7F91E6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504" b="89994" l="9980" r="89970">
                          <a14:foregroundMark x1="41758" y1="10951" x2="41758" y2="10951"/>
                          <a14:foregroundMark x1="49206" y1="7504" x2="49206" y2="7504"/>
                          <a14:foregroundMark x1="49950" y1="31518" x2="49950" y2="31518"/>
                          <a14:foregroundMark x1="49950" y1="32462" x2="49950" y2="32462"/>
                          <a14:foregroundMark x1="45531" y1="43747" x2="45531" y2="43747"/>
                          <a14:foregroundMark x1="49355" y1="43079" x2="49355" y2="4307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30" y="555863"/>
              <a:ext cx="1323512" cy="1182224"/>
            </a:xfrm>
            <a:prstGeom prst="rect">
              <a:avLst/>
            </a:prstGeom>
          </p:spPr>
        </p:pic>
      </p:grpSp>
      <p:pic>
        <p:nvPicPr>
          <p:cNvPr id="27" name="図 26">
            <a:extLst>
              <a:ext uri="{FF2B5EF4-FFF2-40B4-BE49-F238E27FC236}">
                <a16:creationId xmlns:a16="http://schemas.microsoft.com/office/drawing/2014/main" id="{D1DFAD95-1484-497B-EBC6-7A18A125C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 b="8167"/>
          <a:stretch>
            <a:fillRect/>
          </a:stretch>
        </p:blipFill>
        <p:spPr>
          <a:xfrm>
            <a:off x="62934" y="49955"/>
            <a:ext cx="2958692" cy="1113532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3926109-6577-4D2E-B90E-5D658BEEA052}"/>
              </a:ext>
            </a:extLst>
          </p:cNvPr>
          <p:cNvSpPr txBox="1"/>
          <p:nvPr/>
        </p:nvSpPr>
        <p:spPr>
          <a:xfrm>
            <a:off x="17345" y="29117"/>
            <a:ext cx="31200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秋田大学医学部附属病院　医療</a:t>
            </a:r>
            <a:r>
              <a:rPr kumimoji="1" lang="en-US" altLang="ja-JP" sz="800" dirty="0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DX</a:t>
            </a:r>
            <a:r>
              <a:rPr kumimoji="1" lang="ja-JP" altLang="en-US" sz="800"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センター　遠隔医療推進部門</a:t>
            </a:r>
            <a:endParaRPr lang="ja-JP" alt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A0A6-C627-E1EF-2C33-DA04DC22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EAF51891-B1C8-606F-A2C1-2A0867C04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1" y="52539"/>
            <a:ext cx="2968625" cy="1658256"/>
          </a:xfrm>
          <a:prstGeom prst="rect">
            <a:avLst/>
          </a:prstGeom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A011A14-8162-9C9E-72DA-74130FD97DCF}"/>
              </a:ext>
            </a:extLst>
          </p:cNvPr>
          <p:cNvGrpSpPr/>
          <p:nvPr/>
        </p:nvGrpSpPr>
        <p:grpSpPr>
          <a:xfrm>
            <a:off x="-1" y="0"/>
            <a:ext cx="3095625" cy="1944688"/>
            <a:chOff x="-1" y="0"/>
            <a:chExt cx="3095625" cy="1944688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0D33596-4E8C-FA2E-94F2-F225C44EF270}"/>
                </a:ext>
              </a:extLst>
            </p:cNvPr>
            <p:cNvSpPr/>
            <p:nvPr/>
          </p:nvSpPr>
          <p:spPr>
            <a:xfrm>
              <a:off x="-1" y="1311275"/>
              <a:ext cx="3095625" cy="63341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5720E82F-A8F7-2F33-47EE-2CB001A1ABD0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4CDE62F3-3BB3-74A0-99E7-D86D84B26F9B}"/>
                </a:ext>
              </a:extLst>
            </p:cNvPr>
            <p:cNvSpPr/>
            <p:nvPr/>
          </p:nvSpPr>
          <p:spPr>
            <a:xfrm>
              <a:off x="187536" y="1346585"/>
              <a:ext cx="2673852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]</a:t>
              </a:r>
            </a:p>
            <a:p>
              <a:pPr algn="ctr"/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秋田大学医学部附属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病院医療</a:t>
              </a:r>
              <a:r>
                <a:rPr kumimoji="1" lang="en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DX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センター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遠隔医療推進部門（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AUTELM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）</a:t>
              </a:r>
              <a:endParaRPr kumimoji="1" lang="ja-JP" altLang="en-US" sz="6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  <a:p>
              <a:pPr algn="ctr"/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018-801-7179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e-mail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：</a:t>
              </a:r>
              <a:r>
                <a:rPr kumimoji="1" lang="en-US" altLang="ja-JP" sz="600" dirty="0" err="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enkakuiryo@jimu.akita-u.ac.jp</a:t>
              </a:r>
              <a:endParaRPr kumimoji="1" lang="en-US" altLang="ja-JP" sz="6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31B99F23-31CE-7A6B-4F83-670E40C768CA}"/>
                </a:ext>
              </a:extLst>
            </p:cNvPr>
            <p:cNvSpPr/>
            <p:nvPr/>
          </p:nvSpPr>
          <p:spPr>
            <a:xfrm>
              <a:off x="185099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0784653-FBC6-D3E0-BA33-72F3C11E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4" y="1749035"/>
              <a:ext cx="111515" cy="111515"/>
            </a:xfrm>
            <a:prstGeom prst="rect">
              <a:avLst/>
            </a:prstGeom>
          </p:spPr>
        </p:pic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3A89654-52CD-8259-04C3-44FB7968F3C3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65A8138-A193-8964-3E58-12327A506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601" y="1694602"/>
            <a:ext cx="180346" cy="18034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F3CE2B4-1639-A804-B192-568F0F0BDBF8}"/>
              </a:ext>
            </a:extLst>
          </p:cNvPr>
          <p:cNvGrpSpPr/>
          <p:nvPr/>
        </p:nvGrpSpPr>
        <p:grpSpPr>
          <a:xfrm>
            <a:off x="187535" y="250086"/>
            <a:ext cx="2720550" cy="843154"/>
            <a:chOff x="187535" y="250086"/>
            <a:chExt cx="2720550" cy="84315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D7911D8-43BC-4865-C884-1862B419F732}"/>
                </a:ext>
              </a:extLst>
            </p:cNvPr>
            <p:cNvGrpSpPr/>
            <p:nvPr/>
          </p:nvGrpSpPr>
          <p:grpSpPr>
            <a:xfrm>
              <a:off x="187535" y="250086"/>
              <a:ext cx="2720550" cy="843154"/>
              <a:chOff x="187535" y="250086"/>
              <a:chExt cx="2720550" cy="843154"/>
            </a:xfrm>
          </p:grpSpPr>
          <p:sp>
            <p:nvSpPr>
              <p:cNvPr id="12" name="四角形: 角を丸くする 15">
                <a:extLst>
                  <a:ext uri="{FF2B5EF4-FFF2-40B4-BE49-F238E27FC236}">
                    <a16:creationId xmlns:a16="http://schemas.microsoft.com/office/drawing/2014/main" id="{318066C9-5C42-E361-FFDB-1EEE2FAF9211}"/>
                  </a:ext>
                </a:extLst>
              </p:cNvPr>
              <p:cNvSpPr/>
              <p:nvPr/>
            </p:nvSpPr>
            <p:spPr>
              <a:xfrm>
                <a:off x="234235" y="250086"/>
                <a:ext cx="2627152" cy="843154"/>
              </a:xfrm>
              <a:prstGeom prst="roundRect">
                <a:avLst>
                  <a:gd name="adj" fmla="val 13559"/>
                </a:avLst>
              </a:prstGeom>
              <a:solidFill>
                <a:schemeClr val="bg1"/>
              </a:solidFill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6000" rIns="72000" bIns="0" rtlCol="0" anchor="b">
                <a:noAutofit/>
              </a:bodyPr>
              <a:lstStyle/>
              <a:p>
                <a:pPr algn="ctr"/>
                <a:r>
                  <a:rPr kumimoji="1" lang="ja-JP" altLang="en-US" sz="5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本カードを破損・紛失された場合、または使用期限を過ぎた場合は、お品ものを</a:t>
                </a:r>
                <a:endParaRPr kumimoji="1" lang="en-US" altLang="ja-JP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  <a:p>
                <a:pPr algn="ctr"/>
                <a:r>
                  <a:rPr kumimoji="1" lang="ja-JP" altLang="en-US" sz="5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 ご提供できかねますので、あらかじめご了承くださいますようお願いいたします。</a:t>
                </a:r>
              </a:p>
            </p:txBody>
          </p:sp>
          <p:sp>
            <p:nvSpPr>
              <p:cNvPr id="13" name="四角形: 角を丸くする 4">
                <a:extLst>
                  <a:ext uri="{FF2B5EF4-FFF2-40B4-BE49-F238E27FC236}">
                    <a16:creationId xmlns:a16="http://schemas.microsoft.com/office/drawing/2014/main" id="{97BAF284-F840-2EDB-B5E3-E30F9BC403F1}"/>
                  </a:ext>
                </a:extLst>
              </p:cNvPr>
              <p:cNvSpPr/>
              <p:nvPr/>
            </p:nvSpPr>
            <p:spPr>
              <a:xfrm>
                <a:off x="299236" y="559911"/>
                <a:ext cx="564212" cy="211760"/>
              </a:xfrm>
              <a:prstGeom prst="roundRect">
                <a:avLst>
                  <a:gd name="adj" fmla="val 666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ja-JP" sz="8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PINCODE</a:t>
                </a:r>
              </a:p>
            </p:txBody>
          </p:sp>
          <p:sp>
            <p:nvSpPr>
              <p:cNvPr id="14" name="四角形: 角を丸くする 24">
                <a:extLst>
                  <a:ext uri="{FF2B5EF4-FFF2-40B4-BE49-F238E27FC236}">
                    <a16:creationId xmlns:a16="http://schemas.microsoft.com/office/drawing/2014/main" id="{CE56329B-1BC2-807D-CE78-A3DB62613095}"/>
                  </a:ext>
                </a:extLst>
              </p:cNvPr>
              <p:cNvSpPr/>
              <p:nvPr/>
            </p:nvSpPr>
            <p:spPr>
              <a:xfrm>
                <a:off x="187535" y="287429"/>
                <a:ext cx="2720550" cy="164630"/>
              </a:xfrm>
              <a:prstGeom prst="roundRect">
                <a:avLst>
                  <a:gd name="adj" fmla="val 17073"/>
                </a:avLst>
              </a:prstGeom>
              <a:noFill/>
              <a:ln w="635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［使用期限：</a:t>
                </a:r>
                <a:r>
                  <a:rPr kumimoji="1" lang="en-US" altLang="ja-JP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2027</a:t>
                </a:r>
                <a:r>
                  <a:rPr kumimoji="1" lang="ja-JP" altLang="en-US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年 </a:t>
                </a:r>
                <a:r>
                  <a:rPr kumimoji="1" lang="en-US" altLang="ja-JP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</a:t>
                </a:r>
                <a:r>
                  <a:rPr kumimoji="1" lang="ja-JP" altLang="en-US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月 </a:t>
                </a:r>
                <a:r>
                  <a:rPr kumimoji="1" lang="en-US" altLang="ja-JP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31</a:t>
                </a:r>
                <a:r>
                  <a:rPr kumimoji="1" lang="ja-JP" altLang="en-US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 日 </a:t>
                </a:r>
                <a:r>
                  <a:rPr kumimoji="1" lang="en-US" altLang="ja-JP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23</a:t>
                </a:r>
                <a:r>
                  <a:rPr kumimoji="1" lang="ja-JP" altLang="en-US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：</a:t>
                </a:r>
                <a:r>
                  <a:rPr kumimoji="1" lang="en-US" altLang="ja-JP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59</a:t>
                </a:r>
                <a:r>
                  <a:rPr kumimoji="1" lang="ja-JP" altLang="en-US" sz="600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まで］</a:t>
                </a:r>
              </a:p>
            </p:txBody>
          </p:sp>
        </p:grpSp>
        <p:sp>
          <p:nvSpPr>
            <p:cNvPr id="17" name="四角形: 角を丸くする 1">
              <a:extLst>
                <a:ext uri="{FF2B5EF4-FFF2-40B4-BE49-F238E27FC236}">
                  <a16:creationId xmlns:a16="http://schemas.microsoft.com/office/drawing/2014/main" id="{2D9C1C31-220D-618A-D71A-D1664167847E}"/>
                </a:ext>
              </a:extLst>
            </p:cNvPr>
            <p:cNvSpPr/>
            <p:nvPr/>
          </p:nvSpPr>
          <p:spPr>
            <a:xfrm>
              <a:off x="1013302" y="550515"/>
              <a:ext cx="1429461" cy="215018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12345678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48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0C2D-AFA8-1630-1768-F39160A0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778E138-80AB-49DA-F141-4599262F003D}"/>
              </a:ext>
            </a:extLst>
          </p:cNvPr>
          <p:cNvSpPr/>
          <p:nvPr/>
        </p:nvSpPr>
        <p:spPr>
          <a:xfrm>
            <a:off x="-2" y="-1"/>
            <a:ext cx="3095625" cy="19446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2C801-4DBD-A648-B7CF-EB8D7E2B4A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29" b="18595"/>
          <a:stretch>
            <a:fillRect/>
          </a:stretch>
        </p:blipFill>
        <p:spPr>
          <a:xfrm>
            <a:off x="-3" y="-1"/>
            <a:ext cx="3095625" cy="1944689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5405B71-1C4D-2335-8CF0-9754D447F51E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675C974-2DA1-C7F9-F989-5AFD08E92DAE}"/>
              </a:ext>
            </a:extLst>
          </p:cNvPr>
          <p:cNvSpPr/>
          <p:nvPr/>
        </p:nvSpPr>
        <p:spPr>
          <a:xfrm>
            <a:off x="225420" y="1780315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0811D42-5F89-AE49-CFB6-6710E6444DA3}"/>
              </a:ext>
            </a:extLst>
          </p:cNvPr>
          <p:cNvSpPr/>
          <p:nvPr/>
        </p:nvSpPr>
        <p:spPr>
          <a:xfrm>
            <a:off x="638175" y="1357006"/>
            <a:ext cx="1799353" cy="354998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900" dirty="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AUTELM</a:t>
            </a:r>
            <a:r>
              <a:rPr kumimoji="1" lang="ja-JP" altLang="en-US" sz="90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900" dirty="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HP</a:t>
            </a:r>
            <a:r>
              <a:rPr kumimoji="1" lang="ja-JP" altLang="en-US" sz="90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開設記念</a:t>
            </a:r>
            <a:r>
              <a:rPr kumimoji="1" lang="en-US" altLang="ja-JP" sz="900" dirty="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</a:p>
          <a:p>
            <a:pPr algn="ctr"/>
            <a:r>
              <a:rPr kumimoji="1" lang="ja-JP" altLang="en-US" sz="900" b="1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限定</a:t>
            </a:r>
            <a:r>
              <a:rPr kumimoji="1" lang="en-US" altLang="ja-JP" sz="900" b="1" dirty="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ja-JP" altLang="en-US" sz="900" b="1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“アクリルキーホルダー”</a:t>
            </a:r>
            <a:endParaRPr kumimoji="1" lang="en-AU" altLang="ja-JP" sz="900" b="1" dirty="0">
              <a:ln w="22225">
                <a:noFill/>
                <a:prstDash val="solid"/>
              </a:ln>
              <a:solidFill>
                <a:schemeClr val="accent2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900">
                <a:ln w="22225">
                  <a:noFill/>
                  <a:prstDash val="solid"/>
                </a:ln>
                <a:solidFill>
                  <a:schemeClr val="accent2"/>
                </a:solidFill>
                <a:effectLst>
                  <a:innerShdw>
                    <a:schemeClr val="accent2">
                      <a:alpha val="92000"/>
                    </a:schemeClr>
                  </a:inn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プレゼント！</a:t>
            </a:r>
            <a:endParaRPr kumimoji="1" lang="en-US" altLang="ja-JP" sz="900" dirty="0">
              <a:ln w="22225">
                <a:noFill/>
                <a:prstDash val="solid"/>
              </a:ln>
              <a:solidFill>
                <a:schemeClr val="accent2"/>
              </a:solidFill>
              <a:effectLst>
                <a:innerShdw>
                  <a:schemeClr val="accent2">
                    <a:alpha val="92000"/>
                  </a:schemeClr>
                </a:inn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FD4193-2A6C-8F7C-FB92-AADF1DB43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4" b="3746"/>
          <a:stretch>
            <a:fillRect/>
          </a:stretch>
        </p:blipFill>
        <p:spPr bwMode="auto">
          <a:xfrm>
            <a:off x="88633" y="216035"/>
            <a:ext cx="2927922" cy="1095690"/>
          </a:xfrm>
          <a:prstGeom prst="rect">
            <a:avLst/>
          </a:prstGeom>
          <a:ln>
            <a:noFill/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AA09AC1-4574-CAC4-4371-CE2620109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7" t="2935" r="15905" b="5885"/>
          <a:stretch>
            <a:fillRect/>
          </a:stretch>
        </p:blipFill>
        <p:spPr bwMode="auto">
          <a:xfrm rot="21289927">
            <a:off x="117168" y="1090258"/>
            <a:ext cx="585187" cy="659968"/>
          </a:xfrm>
          <a:prstGeom prst="roundRect">
            <a:avLst>
              <a:gd name="adj" fmla="val 12479"/>
            </a:avLst>
          </a:prstGeom>
          <a:solidFill>
            <a:schemeClr val="accent2"/>
          </a:solidFill>
          <a:ln w="38100">
            <a:solidFill>
              <a:schemeClr val="bg1"/>
            </a:solidFill>
          </a:ln>
          <a:effectLst/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C05FFEC-0022-B49D-A22E-B900A1CC5D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7530" y="1171933"/>
            <a:ext cx="542925" cy="54292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F4530D8-3A34-FF8C-1AAE-166E598D68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124" y="1111076"/>
            <a:ext cx="664929" cy="664929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5183ACF-0122-5E1E-AEC9-7A0FDB7346BA}"/>
              </a:ext>
            </a:extLst>
          </p:cNvPr>
          <p:cNvSpPr txBox="1"/>
          <p:nvPr/>
        </p:nvSpPr>
        <p:spPr>
          <a:xfrm>
            <a:off x="55044" y="37962"/>
            <a:ext cx="29744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b="1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秋田大学医学部附属病院　医療</a:t>
            </a:r>
            <a:r>
              <a:rPr kumimoji="1" lang="en-US" altLang="ja-JP" sz="800" b="1" dirty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DX</a:t>
            </a:r>
            <a:r>
              <a:rPr kumimoji="1" lang="ja-JP" altLang="en-US" sz="800" b="1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センター　遠隔医療推進部門</a:t>
            </a:r>
            <a:endParaRPr lang="ja-JP" altLang="en-US" sz="800" b="1">
              <a:solidFill>
                <a:schemeClr val="accent2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474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92F38-35A1-26A8-9C33-70BE088F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05B4C68-CA7D-85F1-F90B-6F9778381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2" b="32743"/>
          <a:stretch>
            <a:fillRect/>
          </a:stretch>
        </p:blipFill>
        <p:spPr>
          <a:xfrm>
            <a:off x="0" y="58710"/>
            <a:ext cx="3095626" cy="1647966"/>
          </a:xfrm>
          <a:prstGeom prst="rect">
            <a:avLst/>
          </a:prstGeom>
          <a:effectLst>
            <a:softEdge rad="127000"/>
          </a:effectLst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6FEC507-9839-16F9-9823-B79098BA1EB5}"/>
              </a:ext>
            </a:extLst>
          </p:cNvPr>
          <p:cNvGrpSpPr/>
          <p:nvPr/>
        </p:nvGrpSpPr>
        <p:grpSpPr>
          <a:xfrm>
            <a:off x="-1" y="0"/>
            <a:ext cx="3095625" cy="1944688"/>
            <a:chOff x="-1" y="0"/>
            <a:chExt cx="3095625" cy="1944688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F8C986EE-D42A-EC6C-092E-8366D8043751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7B982660-7DEC-73BD-F4C3-25F7032B4719}"/>
                </a:ext>
              </a:extLst>
            </p:cNvPr>
            <p:cNvSpPr/>
            <p:nvPr/>
          </p:nvSpPr>
          <p:spPr>
            <a:xfrm>
              <a:off x="208448" y="1172457"/>
              <a:ext cx="2673852" cy="302565"/>
            </a:xfrm>
            <a:prstGeom prst="roundRect">
              <a:avLst>
                <a:gd name="adj" fmla="val 17073"/>
              </a:avLst>
            </a:prstGeom>
            <a:solidFill>
              <a:srgbClr val="FFFFFF">
                <a:alpha val="94902"/>
              </a:srgbClr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]</a:t>
              </a:r>
            </a:p>
            <a:p>
              <a:pPr algn="ctr"/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秋田大学医学部附属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病院医療</a:t>
              </a:r>
              <a:r>
                <a:rPr kumimoji="1" lang="en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DX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センター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遠隔医療推進部門（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AUTELM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）</a:t>
              </a:r>
              <a:endParaRPr kumimoji="1" lang="ja-JP" altLang="en-US" sz="6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  <a:p>
              <a:pPr algn="ctr"/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018-801-7179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 e-mail</a:t>
              </a:r>
              <a:r>
                <a:rPr kumimoji="1" lang="ja-JP" altLang="en-US" sz="60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：</a:t>
              </a:r>
              <a:r>
                <a:rPr kumimoji="1" lang="en-US" altLang="ja-JP" sz="600" dirty="0" err="1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rPr>
                <a:t>enkakuiryo@jimu.akita-u.ac.jp</a:t>
              </a:r>
              <a:endParaRPr kumimoji="1" lang="en-US" altLang="ja-JP" sz="6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04E78D65-6EFB-3A0D-EAAE-C3CFC4D5B23D}"/>
                </a:ext>
              </a:extLst>
            </p:cNvPr>
            <p:cNvSpPr/>
            <p:nvPr/>
          </p:nvSpPr>
          <p:spPr>
            <a:xfrm>
              <a:off x="185099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8317E0A-4C6C-27B9-F311-9FC627C11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4" y="1749035"/>
              <a:ext cx="111515" cy="111515"/>
            </a:xfrm>
            <a:prstGeom prst="rect">
              <a:avLst/>
            </a:prstGeom>
          </p:spPr>
        </p:pic>
      </p:grpSp>
      <p:pic>
        <p:nvPicPr>
          <p:cNvPr id="8" name="図 7">
            <a:extLst>
              <a:ext uri="{FF2B5EF4-FFF2-40B4-BE49-F238E27FC236}">
                <a16:creationId xmlns:a16="http://schemas.microsoft.com/office/drawing/2014/main" id="{7451CE45-C366-986F-5F6E-66771A25C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215" y="1706676"/>
            <a:ext cx="180346" cy="180346"/>
          </a:xfrm>
          <a:prstGeom prst="rect">
            <a:avLst/>
          </a:prstGeom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4F43CF3-7866-6A7B-64F1-4C4A336DF953}"/>
              </a:ext>
            </a:extLst>
          </p:cNvPr>
          <p:cNvGrpSpPr/>
          <p:nvPr/>
        </p:nvGrpSpPr>
        <p:grpSpPr>
          <a:xfrm>
            <a:off x="97981" y="286944"/>
            <a:ext cx="2807668" cy="843154"/>
            <a:chOff x="131877" y="-1034982"/>
            <a:chExt cx="2807668" cy="843154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195BE381-C979-D11F-7A27-86F37C26B265}"/>
                </a:ext>
              </a:extLst>
            </p:cNvPr>
            <p:cNvGrpSpPr/>
            <p:nvPr/>
          </p:nvGrpSpPr>
          <p:grpSpPr>
            <a:xfrm>
              <a:off x="131877" y="-1034982"/>
              <a:ext cx="2006390" cy="843154"/>
              <a:chOff x="187535" y="250086"/>
              <a:chExt cx="2720550" cy="843154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A56E6B5B-F1D6-B723-535E-D36FBD80C6CF}"/>
                  </a:ext>
                </a:extLst>
              </p:cNvPr>
              <p:cNvGrpSpPr/>
              <p:nvPr/>
            </p:nvGrpSpPr>
            <p:grpSpPr>
              <a:xfrm>
                <a:off x="187535" y="250086"/>
                <a:ext cx="2720550" cy="843154"/>
                <a:chOff x="187535" y="250086"/>
                <a:chExt cx="2720550" cy="843154"/>
              </a:xfrm>
            </p:grpSpPr>
            <p:sp>
              <p:nvSpPr>
                <p:cNvPr id="12" name="四角形: 角を丸くする 15">
                  <a:extLst>
                    <a:ext uri="{FF2B5EF4-FFF2-40B4-BE49-F238E27FC236}">
                      <a16:creationId xmlns:a16="http://schemas.microsoft.com/office/drawing/2014/main" id="{590B4CE5-DCC9-C69D-3215-41F14701EE61}"/>
                    </a:ext>
                  </a:extLst>
                </p:cNvPr>
                <p:cNvSpPr/>
                <p:nvPr/>
              </p:nvSpPr>
              <p:spPr>
                <a:xfrm>
                  <a:off x="234235" y="250086"/>
                  <a:ext cx="2627152" cy="843154"/>
                </a:xfrm>
                <a:prstGeom prst="roundRect">
                  <a:avLst>
                    <a:gd name="adj" fmla="val 13559"/>
                  </a:avLst>
                </a:prstGeom>
                <a:solidFill>
                  <a:srgbClr val="FFFFFF">
                    <a:alpha val="94902"/>
                  </a:srgb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2000" tIns="36000" rIns="72000" bIns="0" rtlCol="0" anchor="b">
                  <a:noAutofit/>
                </a:bodyPr>
                <a:lstStyle/>
                <a:p>
                  <a:pPr algn="ctr"/>
                  <a:r>
                    <a:rPr kumimoji="1" lang="ja-JP" altLang="en-US" sz="5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本カードを破損・紛失された場合、または使用期限を過ぎた場合は、お品</a:t>
                  </a:r>
                  <a:r>
                    <a:rPr kumimoji="1" lang="ja-JP" altLang="en-US" sz="50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ものをご提供</a:t>
                  </a:r>
                  <a:r>
                    <a:rPr kumimoji="1" lang="ja-JP" altLang="en-US" sz="5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できかねますので、あらかじめご了承くださいますようお願いいたします。</a:t>
                  </a:r>
                </a:p>
              </p:txBody>
            </p:sp>
            <p:sp>
              <p:nvSpPr>
                <p:cNvPr id="13" name="四角形: 角を丸くする 4">
                  <a:extLst>
                    <a:ext uri="{FF2B5EF4-FFF2-40B4-BE49-F238E27FC236}">
                      <a16:creationId xmlns:a16="http://schemas.microsoft.com/office/drawing/2014/main" id="{F7791EA4-80C1-EB36-4998-21C865E13142}"/>
                    </a:ext>
                  </a:extLst>
                </p:cNvPr>
                <p:cNvSpPr/>
                <p:nvPr/>
              </p:nvSpPr>
              <p:spPr>
                <a:xfrm>
                  <a:off x="313411" y="533760"/>
                  <a:ext cx="667368" cy="211760"/>
                </a:xfrm>
                <a:prstGeom prst="roundRect">
                  <a:avLst>
                    <a:gd name="adj" fmla="val 6665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kumimoji="1" lang="en-US" altLang="ja-JP" sz="8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PINCODE</a:t>
                  </a:r>
                </a:p>
              </p:txBody>
            </p:sp>
            <p:sp>
              <p:nvSpPr>
                <p:cNvPr id="14" name="四角形: 角を丸くする 24">
                  <a:extLst>
                    <a:ext uri="{FF2B5EF4-FFF2-40B4-BE49-F238E27FC236}">
                      <a16:creationId xmlns:a16="http://schemas.microsoft.com/office/drawing/2014/main" id="{644C2461-8C43-AA08-E17D-6F66BC64713A}"/>
                    </a:ext>
                  </a:extLst>
                </p:cNvPr>
                <p:cNvSpPr/>
                <p:nvPr/>
              </p:nvSpPr>
              <p:spPr>
                <a:xfrm>
                  <a:off x="187535" y="287429"/>
                  <a:ext cx="2720550" cy="164630"/>
                </a:xfrm>
                <a:prstGeom prst="roundRect">
                  <a:avLst>
                    <a:gd name="adj" fmla="val 17073"/>
                  </a:avLst>
                </a:prstGeom>
                <a:no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［使用期限：</a:t>
                  </a:r>
                  <a:r>
                    <a:rPr kumimoji="1" lang="en-US" altLang="ja-JP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2027</a:t>
                  </a:r>
                  <a:r>
                    <a:rPr kumimoji="1" lang="ja-JP" altLang="en-US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年 </a:t>
                  </a:r>
                  <a:r>
                    <a:rPr kumimoji="1" lang="en-US" altLang="ja-JP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</a:t>
                  </a:r>
                  <a:r>
                    <a:rPr kumimoji="1" lang="ja-JP" altLang="en-US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月 </a:t>
                  </a:r>
                  <a:r>
                    <a:rPr kumimoji="1" lang="en-US" altLang="ja-JP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31</a:t>
                  </a:r>
                  <a:r>
                    <a:rPr kumimoji="1" lang="ja-JP" altLang="en-US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 日 </a:t>
                  </a:r>
                  <a:r>
                    <a:rPr kumimoji="1" lang="en-US" altLang="ja-JP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23</a:t>
                  </a:r>
                  <a:r>
                    <a:rPr kumimoji="1" lang="ja-JP" altLang="en-US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：</a:t>
                  </a:r>
                  <a:r>
                    <a:rPr kumimoji="1" lang="en-US" altLang="ja-JP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59</a:t>
                  </a:r>
                  <a:r>
                    <a:rPr kumimoji="1" lang="ja-JP" altLang="en-US" sz="600" dirty="0">
                      <a:solidFill>
                        <a:schemeClr val="tx1"/>
                      </a:solidFill>
                      <a:latin typeface="UD デジタル 教科書体 NP-R" panose="02020400000000000000" pitchFamily="18" charset="-128"/>
                      <a:ea typeface="UD デジタル 教科書体 NP-R" panose="02020400000000000000" pitchFamily="18" charset="-128"/>
                    </a:rPr>
                    <a:t>まで］</a:t>
                  </a:r>
                </a:p>
              </p:txBody>
            </p:sp>
          </p:grpSp>
          <p:sp>
            <p:nvSpPr>
              <p:cNvPr id="17" name="四角形: 角を丸くする 1">
                <a:extLst>
                  <a:ext uri="{FF2B5EF4-FFF2-40B4-BE49-F238E27FC236}">
                    <a16:creationId xmlns:a16="http://schemas.microsoft.com/office/drawing/2014/main" id="{6AE09F98-064C-A3BE-D999-203EFB7206A6}"/>
                  </a:ext>
                </a:extLst>
              </p:cNvPr>
              <p:cNvSpPr/>
              <p:nvPr/>
            </p:nvSpPr>
            <p:spPr>
              <a:xfrm>
                <a:off x="1027479" y="526123"/>
                <a:ext cx="1731189" cy="215018"/>
              </a:xfrm>
              <a:prstGeom prst="roundRect">
                <a:avLst>
                  <a:gd name="adj" fmla="val 666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ja-JP" dirty="0">
                    <a:solidFill>
                      <a:schemeClr val="tx1"/>
                    </a:solidFill>
                    <a:latin typeface="UD デジタル 教科書体 NP-R" panose="02020400000000000000" pitchFamily="18" charset="-128"/>
                    <a:ea typeface="UD デジタル 教科書体 NP-R" panose="02020400000000000000" pitchFamily="18" charset="-128"/>
                  </a:rPr>
                  <a:t>12345678</a:t>
                </a:r>
                <a:endPara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endParaRPr>
              </a:p>
            </p:txBody>
          </p:sp>
        </p:grp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B7DED97-76D4-1C41-E289-282E3A3D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  <a14:imgEffect>
                        <a14:brightnessContrast contrast="100000"/>
                      </a14:imgEffect>
                    </a14:imgLayer>
                  </a14:imgProps>
                </a:ext>
              </a:extLst>
            </a:blip>
            <a:srcRect r="2295"/>
            <a:stretch>
              <a:fillRect/>
            </a:stretch>
          </p:blipFill>
          <p:spPr>
            <a:xfrm>
              <a:off x="2175532" y="-1004383"/>
              <a:ext cx="764013" cy="781956"/>
            </a:xfrm>
            <a:prstGeom prst="rect">
              <a:avLst/>
            </a:prstGeom>
            <a:ln w="38100">
              <a:solidFill>
                <a:schemeClr val="bg1"/>
              </a:solidFill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28181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1343</TotalTime>
  <Words>269</Words>
  <Application>Microsoft Macintosh PowerPoint</Application>
  <PresentationFormat>ユーザー設定</PresentationFormat>
  <Paragraphs>30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Meiryo UI</vt:lpstr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yudaiito</cp:lastModifiedBy>
  <cp:revision>137</cp:revision>
  <cp:lastPrinted>2026-03-24T04:53:58Z</cp:lastPrinted>
  <dcterms:created xsi:type="dcterms:W3CDTF">2026-01-29T04:40:41Z</dcterms:created>
  <dcterms:modified xsi:type="dcterms:W3CDTF">2026-04-15T09:40:23Z</dcterms:modified>
</cp:coreProperties>
</file>