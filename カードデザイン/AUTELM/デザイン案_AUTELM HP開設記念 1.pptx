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93" r:id="rId2"/>
    <p:sldId id="294" r:id="rId3"/>
    <p:sldId id="299" r:id="rId4"/>
    <p:sldId id="295" r:id="rId5"/>
    <p:sldId id="300" r:id="rId6"/>
    <p:sldId id="297" r:id="rId7"/>
    <p:sldId id="283" r:id="rId8"/>
    <p:sldId id="292" r:id="rId9"/>
    <p:sldId id="298" r:id="rId10"/>
    <p:sldId id="296" r:id="rId11"/>
  </p:sldIdLst>
  <p:sldSz cx="3276600" cy="1979613"/>
  <p:notesSz cx="1524000" cy="2819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" userDrawn="1">
          <p15:clr>
            <a:srgbClr val="A4A3A4"/>
          </p15:clr>
        </p15:guide>
        <p15:guide id="2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96217"/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94641"/>
  </p:normalViewPr>
  <p:slideViewPr>
    <p:cSldViewPr snapToGrid="0">
      <p:cViewPr varScale="1">
        <p:scale>
          <a:sx n="400" d="100"/>
          <a:sy n="400" d="100"/>
        </p:scale>
        <p:origin x="1752" y="400"/>
      </p:cViewPr>
      <p:guideLst>
        <p:guide orient="horz" pos="623"/>
        <p:guide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863179" y="1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/>
          <a:lstStyle>
            <a:lvl1pPr algn="r">
              <a:defRPr sz="300"/>
            </a:lvl1pPr>
          </a:lstStyle>
          <a:p>
            <a:fld id="{DFB49DE1-FB4B-4CFB-9A42-CC282F575BDD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25400" y="352425"/>
            <a:ext cx="1574800" cy="95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3484" tIns="11742" rIns="23484" bIns="1174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52471" y="1356976"/>
            <a:ext cx="1219059" cy="1109888"/>
          </a:xfrm>
          <a:prstGeom prst="rect">
            <a:avLst/>
          </a:prstGeom>
        </p:spPr>
        <p:txBody>
          <a:bodyPr vert="horz" lIns="23484" tIns="11742" rIns="23484" bIns="1174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2678208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 anchor="b"/>
          <a:lstStyle>
            <a:lvl1pPr algn="l">
              <a:defRPr sz="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863179" y="2678208"/>
            <a:ext cx="660471" cy="141193"/>
          </a:xfrm>
          <a:prstGeom prst="rect">
            <a:avLst/>
          </a:prstGeom>
        </p:spPr>
        <p:txBody>
          <a:bodyPr vert="horz" lIns="23484" tIns="11742" rIns="23484" bIns="11742" rtlCol="0" anchor="b"/>
          <a:lstStyle>
            <a:lvl1pPr algn="r">
              <a:defRPr sz="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1pPr>
    <a:lvl2pPr marL="126105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2pPr>
    <a:lvl3pPr marL="25221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3pPr>
    <a:lvl4pPr marL="378315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4pPr>
    <a:lvl5pPr marL="50442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5pPr>
    <a:lvl6pPr marL="630526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6pPr>
    <a:lvl7pPr marL="75663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7pPr>
    <a:lvl8pPr marL="882736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8pPr>
    <a:lvl9pPr marL="1008841" algn="l" defTabSz="252211" rtl="0" eaLnBrk="1" latinLnBrk="0" hangingPunct="1">
      <a:defRPr kumimoji="1" sz="3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3D65-4864-6D71-A4F1-B535EB41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1102F8-0101-2A13-E0C8-FF6C18471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27D793-D090-97AA-939A-F62319E6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83762D-89E9-72FF-12B7-BBDA87F05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0DAB-688C-094A-0691-04ACA348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FADC6EE-21F7-5119-D9A2-7061E812D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5D6138-3108-7EF5-43A9-C8F89E225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BB3B28-D632-2A78-A1C3-DD9CED2C4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17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5400" y="352425"/>
            <a:ext cx="1574800" cy="9509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247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2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9575" y="323978"/>
            <a:ext cx="2457450" cy="689199"/>
          </a:xfrm>
        </p:spPr>
        <p:txBody>
          <a:bodyPr anchor="b"/>
          <a:lstStyle>
            <a:lvl1pPr algn="ctr">
              <a:defRPr sz="161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9575" y="1039755"/>
            <a:ext cx="2457450" cy="477948"/>
          </a:xfrm>
        </p:spPr>
        <p:txBody>
          <a:bodyPr/>
          <a:lstStyle>
            <a:lvl1pPr marL="0" indent="0" algn="ctr">
              <a:buNone/>
              <a:defRPr sz="645"/>
            </a:lvl1pPr>
            <a:lvl2pPr marL="122895" indent="0" algn="ctr">
              <a:buNone/>
              <a:defRPr sz="538"/>
            </a:lvl2pPr>
            <a:lvl3pPr marL="245791" indent="0" algn="ctr">
              <a:buNone/>
              <a:defRPr sz="484"/>
            </a:lvl3pPr>
            <a:lvl4pPr marL="368686" indent="0" algn="ctr">
              <a:buNone/>
              <a:defRPr sz="430"/>
            </a:lvl4pPr>
            <a:lvl5pPr marL="491581" indent="0" algn="ctr">
              <a:buNone/>
              <a:defRPr sz="430"/>
            </a:lvl5pPr>
            <a:lvl6pPr marL="614477" indent="0" algn="ctr">
              <a:buNone/>
              <a:defRPr sz="430"/>
            </a:lvl6pPr>
            <a:lvl7pPr marL="737372" indent="0" algn="ctr">
              <a:buNone/>
              <a:defRPr sz="430"/>
            </a:lvl7pPr>
            <a:lvl8pPr marL="860268" indent="0" algn="ctr">
              <a:buNone/>
              <a:defRPr sz="430"/>
            </a:lvl8pPr>
            <a:lvl9pPr marL="983163" indent="0" algn="ctr">
              <a:buNone/>
              <a:defRPr sz="43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2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27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59" y="493529"/>
            <a:ext cx="2826068" cy="823464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59" y="1324783"/>
            <a:ext cx="2826068" cy="433040"/>
          </a:xfrm>
        </p:spPr>
        <p:txBody>
          <a:bodyPr/>
          <a:lstStyle>
            <a:lvl1pPr marL="0" indent="0">
              <a:buNone/>
              <a:defRPr sz="645">
                <a:solidFill>
                  <a:schemeClr val="tx1">
                    <a:tint val="82000"/>
                  </a:schemeClr>
                </a:solidFill>
              </a:defRPr>
            </a:lvl1pPr>
            <a:lvl2pPr marL="122895" indent="0">
              <a:buNone/>
              <a:defRPr sz="538">
                <a:solidFill>
                  <a:schemeClr val="tx1">
                    <a:tint val="82000"/>
                  </a:schemeClr>
                </a:solidFill>
              </a:defRPr>
            </a:lvl2pPr>
            <a:lvl3pPr marL="245791" indent="0">
              <a:buNone/>
              <a:defRPr sz="484">
                <a:solidFill>
                  <a:schemeClr val="tx1">
                    <a:tint val="82000"/>
                  </a:schemeClr>
                </a:solidFill>
              </a:defRPr>
            </a:lvl3pPr>
            <a:lvl4pPr marL="368686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4pPr>
            <a:lvl5pPr marL="491581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5pPr>
            <a:lvl6pPr marL="614477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6pPr>
            <a:lvl7pPr marL="737372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7pPr>
            <a:lvl8pPr marL="860268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8pPr>
            <a:lvl9pPr marL="983163" indent="0">
              <a:buNone/>
              <a:defRPr sz="4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802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266" y="526980"/>
            <a:ext cx="1392555" cy="12560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8779" y="526980"/>
            <a:ext cx="1392555" cy="12560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58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05396"/>
            <a:ext cx="2826068" cy="3826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693" y="485280"/>
            <a:ext cx="1386155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5693" y="723109"/>
            <a:ext cx="1386155" cy="10635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58779" y="485280"/>
            <a:ext cx="1392982" cy="237828"/>
          </a:xfrm>
        </p:spPr>
        <p:txBody>
          <a:bodyPr anchor="b"/>
          <a:lstStyle>
            <a:lvl1pPr marL="0" indent="0">
              <a:buNone/>
              <a:defRPr sz="645" b="1"/>
            </a:lvl1pPr>
            <a:lvl2pPr marL="122895" indent="0">
              <a:buNone/>
              <a:defRPr sz="538" b="1"/>
            </a:lvl2pPr>
            <a:lvl3pPr marL="245791" indent="0">
              <a:buNone/>
              <a:defRPr sz="484" b="1"/>
            </a:lvl3pPr>
            <a:lvl4pPr marL="368686" indent="0">
              <a:buNone/>
              <a:defRPr sz="430" b="1"/>
            </a:lvl4pPr>
            <a:lvl5pPr marL="491581" indent="0">
              <a:buNone/>
              <a:defRPr sz="430" b="1"/>
            </a:lvl5pPr>
            <a:lvl6pPr marL="614477" indent="0">
              <a:buNone/>
              <a:defRPr sz="430" b="1"/>
            </a:lvl6pPr>
            <a:lvl7pPr marL="737372" indent="0">
              <a:buNone/>
              <a:defRPr sz="430" b="1"/>
            </a:lvl7pPr>
            <a:lvl8pPr marL="860268" indent="0">
              <a:buNone/>
              <a:defRPr sz="430" b="1"/>
            </a:lvl8pPr>
            <a:lvl9pPr marL="983163" indent="0">
              <a:buNone/>
              <a:defRPr sz="4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58779" y="723109"/>
            <a:ext cx="1392982" cy="10635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23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51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91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982" y="285028"/>
            <a:ext cx="1658779" cy="1406808"/>
          </a:xfrm>
        </p:spPr>
        <p:txBody>
          <a:bodyPr/>
          <a:lstStyle>
            <a:lvl1pPr>
              <a:defRPr sz="860"/>
            </a:lvl1pPr>
            <a:lvl2pPr>
              <a:defRPr sz="753"/>
            </a:lvl2pPr>
            <a:lvl3pPr>
              <a:defRPr sz="645"/>
            </a:lvl3pPr>
            <a:lvl4pPr>
              <a:defRPr sz="538"/>
            </a:lvl4pPr>
            <a:lvl5pPr>
              <a:defRPr sz="538"/>
            </a:lvl5pPr>
            <a:lvl6pPr>
              <a:defRPr sz="538"/>
            </a:lvl6pPr>
            <a:lvl7pPr>
              <a:defRPr sz="538"/>
            </a:lvl7pPr>
            <a:lvl8pPr>
              <a:defRPr sz="538"/>
            </a:lvl8pPr>
            <a:lvl9pPr>
              <a:defRPr sz="53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80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693" y="131974"/>
            <a:ext cx="1056789" cy="461910"/>
          </a:xfrm>
        </p:spPr>
        <p:txBody>
          <a:bodyPr anchor="b"/>
          <a:lstStyle>
            <a:lvl1pPr>
              <a:defRPr sz="8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2982" y="285028"/>
            <a:ext cx="1658779" cy="1406808"/>
          </a:xfrm>
        </p:spPr>
        <p:txBody>
          <a:bodyPr anchor="t"/>
          <a:lstStyle>
            <a:lvl1pPr marL="0" indent="0">
              <a:buNone/>
              <a:defRPr sz="860"/>
            </a:lvl1pPr>
            <a:lvl2pPr marL="122895" indent="0">
              <a:buNone/>
              <a:defRPr sz="753"/>
            </a:lvl2pPr>
            <a:lvl3pPr marL="245791" indent="0">
              <a:buNone/>
              <a:defRPr sz="645"/>
            </a:lvl3pPr>
            <a:lvl4pPr marL="368686" indent="0">
              <a:buNone/>
              <a:defRPr sz="538"/>
            </a:lvl4pPr>
            <a:lvl5pPr marL="491581" indent="0">
              <a:buNone/>
              <a:defRPr sz="538"/>
            </a:lvl5pPr>
            <a:lvl6pPr marL="614477" indent="0">
              <a:buNone/>
              <a:defRPr sz="538"/>
            </a:lvl6pPr>
            <a:lvl7pPr marL="737372" indent="0">
              <a:buNone/>
              <a:defRPr sz="538"/>
            </a:lvl7pPr>
            <a:lvl8pPr marL="860268" indent="0">
              <a:buNone/>
              <a:defRPr sz="538"/>
            </a:lvl8pPr>
            <a:lvl9pPr marL="983163" indent="0">
              <a:buNone/>
              <a:defRPr sz="53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5693" y="593884"/>
            <a:ext cx="1056789" cy="1100243"/>
          </a:xfrm>
        </p:spPr>
        <p:txBody>
          <a:bodyPr/>
          <a:lstStyle>
            <a:lvl1pPr marL="0" indent="0">
              <a:buNone/>
              <a:defRPr sz="430"/>
            </a:lvl1pPr>
            <a:lvl2pPr marL="122895" indent="0">
              <a:buNone/>
              <a:defRPr sz="376"/>
            </a:lvl2pPr>
            <a:lvl3pPr marL="245791" indent="0">
              <a:buNone/>
              <a:defRPr sz="323"/>
            </a:lvl3pPr>
            <a:lvl4pPr marL="368686" indent="0">
              <a:buNone/>
              <a:defRPr sz="269"/>
            </a:lvl4pPr>
            <a:lvl5pPr marL="491581" indent="0">
              <a:buNone/>
              <a:defRPr sz="269"/>
            </a:lvl5pPr>
            <a:lvl6pPr marL="614477" indent="0">
              <a:buNone/>
              <a:defRPr sz="269"/>
            </a:lvl6pPr>
            <a:lvl7pPr marL="737372" indent="0">
              <a:buNone/>
              <a:defRPr sz="269"/>
            </a:lvl7pPr>
            <a:lvl8pPr marL="860268" indent="0">
              <a:buNone/>
              <a:defRPr sz="269"/>
            </a:lvl8pPr>
            <a:lvl9pPr marL="983163" indent="0">
              <a:buNone/>
              <a:defRPr sz="2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76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4817" y="105396"/>
            <a:ext cx="706517" cy="167763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266" y="105396"/>
            <a:ext cx="2078593" cy="167763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47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266" y="105396"/>
            <a:ext cx="2826068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266" y="526980"/>
            <a:ext cx="2826068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266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5374" y="1834808"/>
            <a:ext cx="1105853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4099" y="1834808"/>
            <a:ext cx="737235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9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5791" rtl="0" eaLnBrk="1" latinLnBrk="0" hangingPunct="1">
        <a:lnSpc>
          <a:spcPct val="90000"/>
        </a:lnSpc>
        <a:spcBef>
          <a:spcPct val="0"/>
        </a:spcBef>
        <a:buNone/>
        <a:defRPr kumimoji="1" sz="1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448" indent="-61448" algn="l" defTabSz="245791" rtl="0" eaLnBrk="1" latinLnBrk="0" hangingPunct="1">
        <a:lnSpc>
          <a:spcPct val="90000"/>
        </a:lnSpc>
        <a:spcBef>
          <a:spcPts val="269"/>
        </a:spcBef>
        <a:buFont typeface="Arial" panose="020B0604020202020204" pitchFamily="34" charset="0"/>
        <a:buChar char="•"/>
        <a:defRPr kumimoji="1" sz="753" kern="1200">
          <a:solidFill>
            <a:schemeClr val="tx1"/>
          </a:solidFill>
          <a:latin typeface="+mn-lt"/>
          <a:ea typeface="+mn-ea"/>
          <a:cs typeface="+mn-cs"/>
        </a:defRPr>
      </a:lvl1pPr>
      <a:lvl2pPr marL="184343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645" kern="1200">
          <a:solidFill>
            <a:schemeClr val="tx1"/>
          </a:solidFill>
          <a:latin typeface="+mn-lt"/>
          <a:ea typeface="+mn-ea"/>
          <a:cs typeface="+mn-cs"/>
        </a:defRPr>
      </a:lvl2pPr>
      <a:lvl3pPr marL="307238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538" kern="1200">
          <a:solidFill>
            <a:schemeClr val="tx1"/>
          </a:solidFill>
          <a:latin typeface="+mn-lt"/>
          <a:ea typeface="+mn-ea"/>
          <a:cs typeface="+mn-cs"/>
        </a:defRPr>
      </a:lvl3pPr>
      <a:lvl4pPr marL="43013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553029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75924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98820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921715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1044611" indent="-61448" algn="l" defTabSz="245791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1pPr>
      <a:lvl2pPr marL="122895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2pPr>
      <a:lvl3pPr marL="24579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3pPr>
      <a:lvl4pPr marL="368686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4pPr>
      <a:lvl5pPr marL="491581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5pPr>
      <a:lvl6pPr marL="614477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6pPr>
      <a:lvl7pPr marL="737372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7pPr>
      <a:lvl8pPr marL="860268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8pPr>
      <a:lvl9pPr marL="983163" algn="l" defTabSz="245791" rtl="0" eaLnBrk="1" latinLnBrk="0" hangingPunct="1">
        <a:defRPr kumimoji="1" sz="4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0C2D-AFA8-1630-1768-F39160A0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778E138-80AB-49DA-F141-4599262F003D}"/>
              </a:ext>
            </a:extLst>
          </p:cNvPr>
          <p:cNvSpPr/>
          <p:nvPr/>
        </p:nvSpPr>
        <p:spPr>
          <a:xfrm>
            <a:off x="62689" y="-1"/>
            <a:ext cx="3151220" cy="19796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2C801-4DBD-A648-B7CF-EB8D7E2B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9" b="18595"/>
          <a:stretch>
            <a:fillRect/>
          </a:stretch>
        </p:blipFill>
        <p:spPr>
          <a:xfrm>
            <a:off x="62688" y="-7199"/>
            <a:ext cx="3151220" cy="19796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5405B71-1C4D-2335-8CF0-9754D447F51E}"/>
              </a:ext>
            </a:extLst>
          </p:cNvPr>
          <p:cNvSpPr/>
          <p:nvPr/>
        </p:nvSpPr>
        <p:spPr>
          <a:xfrm>
            <a:off x="62690" y="5165"/>
            <a:ext cx="3151220" cy="1974448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675C974-2DA1-C7F9-F989-5AFD08E92DAE}"/>
              </a:ext>
            </a:extLst>
          </p:cNvPr>
          <p:cNvSpPr/>
          <p:nvPr/>
        </p:nvSpPr>
        <p:spPr>
          <a:xfrm>
            <a:off x="287288" y="1795306"/>
            <a:ext cx="2702018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0811D42-5F89-AE49-CFB6-6710E6444DA3}"/>
              </a:ext>
            </a:extLst>
          </p:cNvPr>
          <p:cNvSpPr/>
          <p:nvPr/>
        </p:nvSpPr>
        <p:spPr>
          <a:xfrm>
            <a:off x="925681" y="1376119"/>
            <a:ext cx="1605667" cy="36137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HP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開設記念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  <a:p>
            <a:pPr algn="ctr"/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限定</a:t>
            </a:r>
            <a:r>
              <a:rPr kumimoji="1" lang="en-US" altLang="ja-JP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“アクリルキーホルダー”</a:t>
            </a:r>
            <a:endParaRPr kumimoji="1" lang="en-AU" altLang="ja-JP" sz="916" b="1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プレゼント！</a:t>
            </a:r>
            <a:endParaRPr kumimoji="1" lang="en-US" altLang="ja-JP" sz="916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FD4193-2A6C-8F7C-FB92-AADF1DB43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4" b="3746"/>
          <a:stretch>
            <a:fillRect/>
          </a:stretch>
        </p:blipFill>
        <p:spPr bwMode="auto">
          <a:xfrm>
            <a:off x="152915" y="219914"/>
            <a:ext cx="2980505" cy="1115368"/>
          </a:xfrm>
          <a:prstGeom prst="rect">
            <a:avLst/>
          </a:prstGeom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5183ACF-0122-5E1E-AEC9-7A0FDB7346BA}"/>
              </a:ext>
            </a:extLst>
          </p:cNvPr>
          <p:cNvSpPr txBox="1"/>
          <p:nvPr/>
        </p:nvSpPr>
        <p:spPr>
          <a:xfrm>
            <a:off x="118723" y="38643"/>
            <a:ext cx="3027891" cy="2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秋田大学医学部附属病院　医療</a:t>
            </a:r>
            <a:r>
              <a:rPr kumimoji="1" lang="en-US" altLang="ja-JP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　遠隔医療推進部門</a:t>
            </a:r>
            <a:endParaRPr lang="ja-JP" altLang="en-US" sz="814" b="1" dirty="0">
              <a:solidFill>
                <a:srgbClr val="E9621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B445793-5C72-6AA3-0AE1-7DBEB21BEFC4}"/>
              </a:ext>
            </a:extLst>
          </p:cNvPr>
          <p:cNvGrpSpPr/>
          <p:nvPr/>
        </p:nvGrpSpPr>
        <p:grpSpPr>
          <a:xfrm rot="21349987">
            <a:off x="132831" y="516512"/>
            <a:ext cx="826785" cy="1275963"/>
            <a:chOff x="162465" y="1067934"/>
            <a:chExt cx="458808" cy="708070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20E7567C-1CD7-1764-3ECA-4A9029988912}"/>
                </a:ext>
              </a:extLst>
            </p:cNvPr>
            <p:cNvSpPr/>
            <p:nvPr/>
          </p:nvSpPr>
          <p:spPr>
            <a:xfrm>
              <a:off x="162465" y="1067934"/>
              <a:ext cx="458808" cy="708070"/>
            </a:xfrm>
            <a:prstGeom prst="roundRect">
              <a:avLst/>
            </a:prstGeom>
            <a:gradFill flip="none" rotWithShape="1">
              <a:gsLst>
                <a:gs pos="0">
                  <a:srgbClr val="E96217"/>
                </a:gs>
                <a:gs pos="39000">
                  <a:srgbClr val="ED7E41"/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2EA07D6A-0F59-E23F-EE95-F0210CDC5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11" t="5372" r="25903" b="5550"/>
            <a:stretch>
              <a:fillRect/>
            </a:stretch>
          </p:blipFill>
          <p:spPr>
            <a:xfrm>
              <a:off x="168145" y="1085593"/>
              <a:ext cx="446654" cy="683633"/>
            </a:xfrm>
            <a:prstGeom prst="rect">
              <a:avLst/>
            </a:prstGeom>
          </p:spPr>
        </p:pic>
      </p:grpSp>
      <p:pic>
        <p:nvPicPr>
          <p:cNvPr id="12" name="図 11">
            <a:extLst>
              <a:ext uri="{FF2B5EF4-FFF2-40B4-BE49-F238E27FC236}">
                <a16:creationId xmlns:a16="http://schemas.microsoft.com/office/drawing/2014/main" id="{02D83B09-56C9-2337-4297-68CAC15263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3621" y="1117837"/>
            <a:ext cx="690064" cy="69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4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2F38-35A1-26A8-9C33-70BE088F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05B4C68-CA7D-85F1-F90B-6F9778381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8C986EE-D42A-EC6C-092E-8366D8043751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B982660-7DEC-73BD-F4C3-25F7032B4719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4E78D65-6EFB-3A0D-EAAE-C3CFC4D5B23D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8317E0A-4C6C-27B9-F311-9FC627C11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8736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451CE45-C366-986F-5F6E-66771A25C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4F43CF3-7866-6A7B-64F1-4C4A336DF953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195BE381-C979-D11F-7A27-86F37C26B265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A56E6B5B-F1D6-B723-535E-D36FBD80C6CF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590B4CE5-DCC9-C69D-3215-41F14701EE61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F7791EA4-80C1-EB36-4998-21C865E13142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644C2461-8C43-AA08-E17D-6F66BC64713A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6AE09F98-064C-A3BE-D999-203EFB7206A6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9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B7DED97-76D4-1C41-E289-282E3A3D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A8F1705-08C5-C6FF-2A78-5C90057E04D3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328181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6AEF-502B-54AA-6CCF-976CEB39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5D73AFC-C91D-6C62-B0FC-4D4E3B91D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BF07E7-7EB9-0823-34E2-327469CE2394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23570D3-0CB8-2C99-8111-F8BA2FC1A1A1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CBCEA2D-A272-AB79-D051-20DBFCBFE1D6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E1BF0D-AD24-279C-DBB2-BDA51A6DC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8736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60DF0A1-C5EF-2876-CADA-758DC8E56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878311F-F4EB-AA7C-E5A3-6C1A4D47C6E7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08B07FF6-903B-E2E0-B89B-2C9E584C3873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sp>
            <p:nvSpPr>
              <p:cNvPr id="12" name="四角形: 角を丸くする 15">
                <a:extLst>
                  <a:ext uri="{FF2B5EF4-FFF2-40B4-BE49-F238E27FC236}">
                    <a16:creationId xmlns:a16="http://schemas.microsoft.com/office/drawing/2014/main" id="{BA5C1C17-1FEC-D59F-2A61-2DE3C22A1062}"/>
                  </a:ext>
                </a:extLst>
              </p:cNvPr>
              <p:cNvSpPr/>
              <p:nvPr/>
            </p:nvSpPr>
            <p:spPr>
              <a:xfrm>
                <a:off x="234235" y="250086"/>
                <a:ext cx="2627152" cy="843154"/>
              </a:xfrm>
              <a:prstGeom prst="roundRect">
                <a:avLst>
                  <a:gd name="adj" fmla="val 13559"/>
                </a:avLst>
              </a:prstGeom>
              <a:solidFill>
                <a:srgbClr val="FFFFFF">
                  <a:alpha val="94902"/>
                </a:srgb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3293" tIns="36647" rIns="73293" bIns="0" rtlCol="0" anchor="b">
                <a:noAutofit/>
              </a:bodyPr>
              <a:lstStyle/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本カードを破損・紛失された場合、または使用期限を過ぎた場合は、お品</a:t>
                </a:r>
                <a:r>
                  <a:rPr kumimoji="1" lang="ja-JP" altLang="en-US" sz="509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ものをご提供</a:t>
                </a:r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できかねますので、あらかじめご了承くださいますようお願いいたします。</a:t>
                </a:r>
              </a:p>
            </p:txBody>
          </p:sp>
          <p:sp>
            <p:nvSpPr>
              <p:cNvPr id="13" name="四角形: 角を丸くする 4">
                <a:extLst>
                  <a:ext uri="{FF2B5EF4-FFF2-40B4-BE49-F238E27FC236}">
                    <a16:creationId xmlns:a16="http://schemas.microsoft.com/office/drawing/2014/main" id="{1F01D515-3FF9-F2E5-AB96-B4D2F1A1F594}"/>
                  </a:ext>
                </a:extLst>
              </p:cNvPr>
              <p:cNvSpPr/>
              <p:nvPr/>
            </p:nvSpPr>
            <p:spPr>
              <a:xfrm>
                <a:off x="313411" y="533760"/>
                <a:ext cx="667368" cy="211760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814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PINCODE</a:t>
                </a:r>
              </a:p>
            </p:txBody>
          </p:sp>
          <p:sp>
            <p:nvSpPr>
              <p:cNvPr id="14" name="四角形: 角を丸くする 24">
                <a:extLst>
                  <a:ext uri="{FF2B5EF4-FFF2-40B4-BE49-F238E27FC236}">
                    <a16:creationId xmlns:a16="http://schemas.microsoft.com/office/drawing/2014/main" id="{8E799A90-2AA4-144A-4A36-9B0A9C5B25C2}"/>
                  </a:ext>
                </a:extLst>
              </p:cNvPr>
              <p:cNvSpPr/>
              <p:nvPr/>
            </p:nvSpPr>
            <p:spPr>
              <a:xfrm>
                <a:off x="187535" y="287429"/>
                <a:ext cx="2720550" cy="164630"/>
              </a:xfrm>
              <a:prstGeom prst="roundRect">
                <a:avLst>
                  <a:gd name="adj" fmla="val 17073"/>
                </a:avLst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［使用期限：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2027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年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月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31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日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59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まで］</a:t>
                </a: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A575DAF-14CC-2FEC-F5F9-AF6B0812E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227B26E-C4FF-6388-6FDB-00B42648824E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165024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3530-6262-F320-1D6A-BFF5E00B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5513E09-C9C7-57E0-EF48-8497941DE5A4}"/>
              </a:ext>
            </a:extLst>
          </p:cNvPr>
          <p:cNvSpPr/>
          <p:nvPr/>
        </p:nvSpPr>
        <p:spPr>
          <a:xfrm>
            <a:off x="62689" y="-1"/>
            <a:ext cx="3151220" cy="19796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E906A3-F27C-A8C5-23B6-28C2EEC1C3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40" b="18595"/>
          <a:stretch>
            <a:fillRect/>
          </a:stretch>
        </p:blipFill>
        <p:spPr>
          <a:xfrm>
            <a:off x="6538" y="-1"/>
            <a:ext cx="3270061" cy="1979615"/>
          </a:xfrm>
          <a:prstGeom prst="rect">
            <a:avLst/>
          </a:prstGeom>
          <a:effectLst/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9AFE6E0-D6F8-F419-B39E-4E1848CA4262}"/>
              </a:ext>
            </a:extLst>
          </p:cNvPr>
          <p:cNvSpPr/>
          <p:nvPr/>
        </p:nvSpPr>
        <p:spPr>
          <a:xfrm>
            <a:off x="62690" y="5165"/>
            <a:ext cx="3151220" cy="1974448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337B238-3CE8-5F27-AC42-38F72F35D892}"/>
              </a:ext>
            </a:extLst>
          </p:cNvPr>
          <p:cNvSpPr/>
          <p:nvPr/>
        </p:nvSpPr>
        <p:spPr>
          <a:xfrm>
            <a:off x="292159" y="1812934"/>
            <a:ext cx="2702018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84C825-89AF-05EA-8CC3-1ED5866765F4}"/>
              </a:ext>
            </a:extLst>
          </p:cNvPr>
          <p:cNvSpPr/>
          <p:nvPr/>
        </p:nvSpPr>
        <p:spPr>
          <a:xfrm>
            <a:off x="850672" y="1376118"/>
            <a:ext cx="1605667" cy="36137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HP</a:t>
            </a:r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開設記念</a:t>
            </a:r>
            <a:r>
              <a:rPr kumimoji="1" lang="en-US" altLang="ja-JP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  <a:p>
            <a:pPr algn="ctr"/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限定</a:t>
            </a:r>
            <a:r>
              <a:rPr kumimoji="1" lang="en-US" altLang="ja-JP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916" b="1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“アクリルキーホルダー”</a:t>
            </a:r>
            <a:endParaRPr kumimoji="1" lang="en-AU" altLang="ja-JP" sz="916" b="1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16" dirty="0">
                <a:ln w="22225">
                  <a:noFill/>
                  <a:prstDash val="solid"/>
                </a:ln>
                <a:solidFill>
                  <a:srgbClr val="E96217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プレゼント！</a:t>
            </a:r>
            <a:endParaRPr kumimoji="1" lang="en-US" altLang="ja-JP" sz="916" dirty="0">
              <a:ln w="22225">
                <a:noFill/>
                <a:prstDash val="solid"/>
              </a:ln>
              <a:solidFill>
                <a:srgbClr val="E96217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507879-427F-8575-BE6E-EE5AE64F2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4" b="3746"/>
          <a:stretch>
            <a:fillRect/>
          </a:stretch>
        </p:blipFill>
        <p:spPr bwMode="auto">
          <a:xfrm>
            <a:off x="152915" y="219914"/>
            <a:ext cx="2980505" cy="1115368"/>
          </a:xfrm>
          <a:prstGeom prst="rect">
            <a:avLst/>
          </a:prstGeom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1567086-FB67-0B99-2D28-0F87AEA66C9C}"/>
              </a:ext>
            </a:extLst>
          </p:cNvPr>
          <p:cNvSpPr txBox="1"/>
          <p:nvPr/>
        </p:nvSpPr>
        <p:spPr>
          <a:xfrm>
            <a:off x="118723" y="38643"/>
            <a:ext cx="3027891" cy="21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秋田大学医学部附属病院　医療</a:t>
            </a:r>
            <a:r>
              <a:rPr kumimoji="1" lang="en-US" altLang="ja-JP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814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　遠隔医療推進部門</a:t>
            </a:r>
            <a:endParaRPr lang="ja-JP" altLang="en-US" sz="814" b="1" dirty="0">
              <a:solidFill>
                <a:srgbClr val="E96217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5A6D74D-763B-8F12-5C3A-8A35960848F1}"/>
              </a:ext>
            </a:extLst>
          </p:cNvPr>
          <p:cNvGrpSpPr/>
          <p:nvPr/>
        </p:nvGrpSpPr>
        <p:grpSpPr>
          <a:xfrm rot="21429490">
            <a:off x="126445" y="504697"/>
            <a:ext cx="835017" cy="1311062"/>
            <a:chOff x="168145" y="1067934"/>
            <a:chExt cx="446654" cy="701292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B553C39F-E56B-3CA9-19FA-E6453DAD34D0}"/>
                </a:ext>
              </a:extLst>
            </p:cNvPr>
            <p:cNvSpPr/>
            <p:nvPr/>
          </p:nvSpPr>
          <p:spPr>
            <a:xfrm>
              <a:off x="187587" y="1067934"/>
              <a:ext cx="407014" cy="691029"/>
            </a:xfrm>
            <a:prstGeom prst="roundRect">
              <a:avLst/>
            </a:prstGeom>
            <a:gradFill flip="none" rotWithShape="1">
              <a:gsLst>
                <a:gs pos="0">
                  <a:srgbClr val="E96217"/>
                </a:gs>
                <a:gs pos="39000">
                  <a:srgbClr val="ED7E41"/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B837F94-D2F1-CCB5-9D39-D60083EE6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11" t="5372" r="25903" b="5550"/>
            <a:stretch>
              <a:fillRect/>
            </a:stretch>
          </p:blipFill>
          <p:spPr>
            <a:xfrm>
              <a:off x="168145" y="1085593"/>
              <a:ext cx="446654" cy="683633"/>
            </a:xfrm>
            <a:prstGeom prst="rect">
              <a:avLst/>
            </a:prstGeom>
          </p:spPr>
        </p:pic>
      </p:grpSp>
      <p:pic>
        <p:nvPicPr>
          <p:cNvPr id="9" name="図 8">
            <a:extLst>
              <a:ext uri="{FF2B5EF4-FFF2-40B4-BE49-F238E27FC236}">
                <a16:creationId xmlns:a16="http://schemas.microsoft.com/office/drawing/2014/main" id="{7E66BF9C-EB37-3408-AEFB-06F05633F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4714" y="1024414"/>
            <a:ext cx="772621" cy="77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4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042B-F36A-9785-46C0-BDCD34A6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EBD2AA22-C708-62EB-9BDA-796E00E6F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F36BC03-6106-D3E7-05E1-F0F1FEA7E8DF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C48119B-D5D3-3380-61E9-FD9A3DDA3734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595582E-5F87-B065-E3EF-6F5552F918BA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CEA5635-100A-3483-4F92-761B2A828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8736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D2039E9-1230-2255-D1B5-EED8976F5E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4C67B6D4-0FA0-EC27-DB7F-F9A4F87F1F70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CF62CF6-6CCD-D943-973D-4CAAF0E3B8C8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sp>
            <p:nvSpPr>
              <p:cNvPr id="12" name="四角形: 角を丸くする 15">
                <a:extLst>
                  <a:ext uri="{FF2B5EF4-FFF2-40B4-BE49-F238E27FC236}">
                    <a16:creationId xmlns:a16="http://schemas.microsoft.com/office/drawing/2014/main" id="{25BEF799-723B-FC83-C02A-BFDBA6762127}"/>
                  </a:ext>
                </a:extLst>
              </p:cNvPr>
              <p:cNvSpPr/>
              <p:nvPr/>
            </p:nvSpPr>
            <p:spPr>
              <a:xfrm>
                <a:off x="234235" y="250086"/>
                <a:ext cx="2627152" cy="843154"/>
              </a:xfrm>
              <a:prstGeom prst="roundRect">
                <a:avLst>
                  <a:gd name="adj" fmla="val 13559"/>
                </a:avLst>
              </a:prstGeom>
              <a:solidFill>
                <a:srgbClr val="FFFFFF">
                  <a:alpha val="94902"/>
                </a:srgb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3293" tIns="36647" rIns="73293" bIns="0" rtlCol="0" anchor="b">
                <a:noAutofit/>
              </a:bodyPr>
              <a:lstStyle/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本カードを破損・紛失された場合、または使用期限を過ぎた場合は、お品</a:t>
                </a:r>
                <a:r>
                  <a:rPr kumimoji="1" lang="ja-JP" altLang="en-US" sz="509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ものをご提供</a:t>
                </a:r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できかねますので、あらかじめご了承くださいますようお願いいたします。</a:t>
                </a:r>
              </a:p>
            </p:txBody>
          </p:sp>
          <p:sp>
            <p:nvSpPr>
              <p:cNvPr id="13" name="四角形: 角を丸くする 4">
                <a:extLst>
                  <a:ext uri="{FF2B5EF4-FFF2-40B4-BE49-F238E27FC236}">
                    <a16:creationId xmlns:a16="http://schemas.microsoft.com/office/drawing/2014/main" id="{FFA95612-4299-7693-271B-4BA3F5702A1C}"/>
                  </a:ext>
                </a:extLst>
              </p:cNvPr>
              <p:cNvSpPr/>
              <p:nvPr/>
            </p:nvSpPr>
            <p:spPr>
              <a:xfrm>
                <a:off x="313411" y="533760"/>
                <a:ext cx="667368" cy="211760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814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PINCODE</a:t>
                </a:r>
              </a:p>
            </p:txBody>
          </p:sp>
          <p:sp>
            <p:nvSpPr>
              <p:cNvPr id="14" name="四角形: 角を丸くする 24">
                <a:extLst>
                  <a:ext uri="{FF2B5EF4-FFF2-40B4-BE49-F238E27FC236}">
                    <a16:creationId xmlns:a16="http://schemas.microsoft.com/office/drawing/2014/main" id="{5629E3DC-649F-07D9-83D0-C3B67870D266}"/>
                  </a:ext>
                </a:extLst>
              </p:cNvPr>
              <p:cNvSpPr/>
              <p:nvPr/>
            </p:nvSpPr>
            <p:spPr>
              <a:xfrm>
                <a:off x="187535" y="287429"/>
                <a:ext cx="2720550" cy="164630"/>
              </a:xfrm>
              <a:prstGeom prst="roundRect">
                <a:avLst>
                  <a:gd name="adj" fmla="val 17073"/>
                </a:avLst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［使用期限</a:t>
                </a:r>
                <a:r>
                  <a:rPr kumimoji="1" lang="ja-JP" altLang="en-US" sz="611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2026</a:t>
                </a:r>
                <a:r>
                  <a:rPr kumimoji="1" lang="ja-JP" altLang="en-US" sz="611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年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8</a:t>
                </a:r>
                <a:r>
                  <a:rPr kumimoji="1" lang="ja-JP" altLang="en-US" sz="611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月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31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日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59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まで］</a:t>
                </a: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DEE7000A-A639-014E-0F44-C170067BF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E515F1F-BF19-9561-5D70-1A3DBDF7E5F3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319014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101B0-9C1A-F279-34D9-F8FA6181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920A03-E3F3-0E6F-F945-5A75700BD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66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62688" y="-1"/>
            <a:ext cx="3151221" cy="1979614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293" tIns="36647" rIns="73293" bIns="0" rtlCol="0" anchor="b">
              <a:noAutofit/>
            </a:bodyPr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647801" y="392264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661270" y="1384028"/>
              <a:ext cx="1762019" cy="24352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916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AUTELM</a:t>
              </a:r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916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HP</a:t>
              </a:r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開設記念！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限定“アクリルキーホルダー”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16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プレゼント！</a:t>
              </a:r>
              <a:endParaRPr kumimoji="1" lang="en-US" altLang="ja-JP" sz="916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71009" y="1228617"/>
            <a:ext cx="552675" cy="55267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B7ACA9E-F2DC-C16E-D18D-34F09B812694}"/>
              </a:ext>
            </a:extLst>
          </p:cNvPr>
          <p:cNvGrpSpPr/>
          <p:nvPr/>
        </p:nvGrpSpPr>
        <p:grpSpPr>
          <a:xfrm>
            <a:off x="90803" y="1205594"/>
            <a:ext cx="732702" cy="654484"/>
            <a:chOff x="738930" y="555863"/>
            <a:chExt cx="1323512" cy="1182224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C091C0B-7D45-EDAF-5289-60C6DAC8E5B1}"/>
                </a:ext>
              </a:extLst>
            </p:cNvPr>
            <p:cNvSpPr/>
            <p:nvPr/>
          </p:nvSpPr>
          <p:spPr>
            <a:xfrm>
              <a:off x="1029261" y="609599"/>
              <a:ext cx="726514" cy="10382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911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894C301-7CD6-230B-FCA8-B9E7F91E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30" y="555863"/>
              <a:ext cx="1323512" cy="1182224"/>
            </a:xfrm>
            <a:prstGeom prst="rect">
              <a:avLst/>
            </a:prstGeom>
          </p:spPr>
        </p:pic>
      </p:grpSp>
      <p:pic>
        <p:nvPicPr>
          <p:cNvPr id="27" name="図 26">
            <a:extLst>
              <a:ext uri="{FF2B5EF4-FFF2-40B4-BE49-F238E27FC236}">
                <a16:creationId xmlns:a16="http://schemas.microsoft.com/office/drawing/2014/main" id="{D1DFAD95-1484-497B-EBC6-7A18A125C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 b="8167"/>
          <a:stretch>
            <a:fillRect/>
          </a:stretch>
        </p:blipFill>
        <p:spPr>
          <a:xfrm>
            <a:off x="126755" y="50852"/>
            <a:ext cx="3011828" cy="113353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3926109-6577-4D2E-B90E-5D658BEEA052}"/>
              </a:ext>
            </a:extLst>
          </p:cNvPr>
          <p:cNvSpPr txBox="1"/>
          <p:nvPr/>
        </p:nvSpPr>
        <p:spPr>
          <a:xfrm>
            <a:off x="80347" y="29640"/>
            <a:ext cx="3176086" cy="221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14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秋田大学医学部附属病院　医療</a:t>
            </a:r>
            <a:r>
              <a:rPr kumimoji="1" lang="en-US" altLang="ja-JP" sz="814" dirty="0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DX</a:t>
            </a:r>
            <a:r>
              <a:rPr kumimoji="1" lang="ja-JP" altLang="en-US" sz="814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センター　遠隔医療推進部門</a:t>
            </a:r>
            <a:endParaRPr lang="ja-JP" altLang="en-US" sz="81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EAF51891-B1C8-606F-A2C1-2A0867C04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9" y="53482"/>
            <a:ext cx="3021939" cy="1688037"/>
          </a:xfrm>
          <a:prstGeom prst="rect">
            <a:avLst/>
          </a:prstGeom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62690" y="-1"/>
            <a:ext cx="3151220" cy="1979613"/>
            <a:chOff x="-1" y="0"/>
            <a:chExt cx="3095625" cy="1944688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1311275"/>
              <a:ext cx="3095625" cy="63341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3293" tIns="36647" rIns="73293" bIns="0" rtlCol="0" anchor="b">
              <a:noAutofit/>
            </a:bodyPr>
            <a:lstStyle/>
            <a:p>
              <a:pPr algn="ctr"/>
              <a:endParaRPr kumimoji="1" lang="ja-JP" altLang="en-US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187536" y="1346585"/>
              <a:ext cx="2673852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[</a:t>
              </a:r>
              <a:r>
                <a:rPr kumimoji="1" lang="ja-JP" altLang="en-US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お問い合わせ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]</a:t>
              </a:r>
            </a:p>
            <a:p>
              <a:pPr algn="ctr"/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秋田大学医学部附属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病院医療</a:t>
              </a:r>
              <a:r>
                <a:rPr kumimoji="1" lang="en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DX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センター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遠隔医療推進部門（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AUTELM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）</a:t>
              </a:r>
              <a:endPara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電話：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018-801-7179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　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e-mail</a:t>
              </a:r>
              <a:r>
                <a:rPr kumimoji="1" lang="ja-JP" altLang="en-US" sz="61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：</a:t>
              </a:r>
              <a:r>
                <a:rPr kumimoji="1" lang="en-US" altLang="ja-JP" sz="611" dirty="0" err="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enkakuiryo@jimu.akita-u.ac.jp</a:t>
              </a:r>
              <a:endPara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185099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4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A89654-52CD-8259-04C3-44FB7968F3C3}"/>
              </a:ext>
            </a:extLst>
          </p:cNvPr>
          <p:cNvSpPr/>
          <p:nvPr/>
        </p:nvSpPr>
        <p:spPr>
          <a:xfrm>
            <a:off x="1141728" y="581839"/>
            <a:ext cx="1455133" cy="21888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91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14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65A8138-A193-8964-3E58-12327A50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654" y="1725035"/>
            <a:ext cx="183585" cy="183585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F3CE2B4-1639-A804-B192-568F0F0BDBF8}"/>
              </a:ext>
            </a:extLst>
          </p:cNvPr>
          <p:cNvGrpSpPr/>
          <p:nvPr/>
        </p:nvGrpSpPr>
        <p:grpSpPr>
          <a:xfrm>
            <a:off x="253593" y="254577"/>
            <a:ext cx="2769409" cy="858296"/>
            <a:chOff x="187535" y="250086"/>
            <a:chExt cx="2720550" cy="84315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D7911D8-43BC-4865-C884-1862B419F732}"/>
                </a:ext>
              </a:extLst>
            </p:cNvPr>
            <p:cNvGrpSpPr/>
            <p:nvPr/>
          </p:nvGrpSpPr>
          <p:grpSpPr>
            <a:xfrm>
              <a:off x="187535" y="250086"/>
              <a:ext cx="2720550" cy="843154"/>
              <a:chOff x="187535" y="250086"/>
              <a:chExt cx="2720550" cy="843154"/>
            </a:xfrm>
          </p:grpSpPr>
          <p:sp>
            <p:nvSpPr>
              <p:cNvPr id="12" name="四角形: 角を丸くする 15">
                <a:extLst>
                  <a:ext uri="{FF2B5EF4-FFF2-40B4-BE49-F238E27FC236}">
                    <a16:creationId xmlns:a16="http://schemas.microsoft.com/office/drawing/2014/main" id="{318066C9-5C42-E361-FFDB-1EEE2FAF9211}"/>
                  </a:ext>
                </a:extLst>
              </p:cNvPr>
              <p:cNvSpPr/>
              <p:nvPr/>
            </p:nvSpPr>
            <p:spPr>
              <a:xfrm>
                <a:off x="234235" y="250086"/>
                <a:ext cx="2627152" cy="843154"/>
              </a:xfrm>
              <a:prstGeom prst="roundRect">
                <a:avLst>
                  <a:gd name="adj" fmla="val 13559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3293" tIns="36647" rIns="73293" bIns="0" rtlCol="0" anchor="b">
                <a:noAutofit/>
              </a:bodyPr>
              <a:lstStyle/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本カードを破損・紛失された場合、または使用期限を過ぎた場合は、お品ものを</a:t>
                </a:r>
                <a:endParaRPr kumimoji="1" lang="en-US" altLang="ja-JP" sz="509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  <a:p>
                <a:pPr algn="ctr"/>
                <a:r>
                  <a:rPr kumimoji="1" lang="ja-JP" altLang="en-US" sz="509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 ご提供できかねますので、あらかじめご了承くださいますようお願いいたします。</a:t>
                </a:r>
              </a:p>
            </p:txBody>
          </p:sp>
          <p:sp>
            <p:nvSpPr>
              <p:cNvPr id="13" name="四角形: 角を丸くする 4">
                <a:extLst>
                  <a:ext uri="{FF2B5EF4-FFF2-40B4-BE49-F238E27FC236}">
                    <a16:creationId xmlns:a16="http://schemas.microsoft.com/office/drawing/2014/main" id="{97BAF284-F840-2EDB-B5E3-E30F9BC403F1}"/>
                  </a:ext>
                </a:extLst>
              </p:cNvPr>
              <p:cNvSpPr/>
              <p:nvPr/>
            </p:nvSpPr>
            <p:spPr>
              <a:xfrm>
                <a:off x="299236" y="559911"/>
                <a:ext cx="564212" cy="211760"/>
              </a:xfrm>
              <a:prstGeom prst="roundRect">
                <a:avLst>
                  <a:gd name="adj" fmla="val 666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814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PINCODE</a:t>
                </a:r>
              </a:p>
            </p:txBody>
          </p:sp>
          <p:sp>
            <p:nvSpPr>
              <p:cNvPr id="14" name="四角形: 角を丸くする 24">
                <a:extLst>
                  <a:ext uri="{FF2B5EF4-FFF2-40B4-BE49-F238E27FC236}">
                    <a16:creationId xmlns:a16="http://schemas.microsoft.com/office/drawing/2014/main" id="{CE56329B-1BC2-807D-CE78-A3DB62613095}"/>
                  </a:ext>
                </a:extLst>
              </p:cNvPr>
              <p:cNvSpPr/>
              <p:nvPr/>
            </p:nvSpPr>
            <p:spPr>
              <a:xfrm>
                <a:off x="187535" y="287429"/>
                <a:ext cx="2720550" cy="164630"/>
              </a:xfrm>
              <a:prstGeom prst="roundRect">
                <a:avLst>
                  <a:gd name="adj" fmla="val 17073"/>
                </a:avLst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［使用期限：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2027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年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月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31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日 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23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59</a:t>
                </a:r>
                <a:r>
                  <a:rPr kumimoji="1" lang="ja-JP" altLang="en-US" sz="6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まで］</a:t>
                </a:r>
              </a:p>
            </p:txBody>
          </p:sp>
        </p:grpSp>
        <p:sp>
          <p:nvSpPr>
            <p:cNvPr id="17" name="四角形: 角を丸くする 1">
              <a:extLst>
                <a:ext uri="{FF2B5EF4-FFF2-40B4-BE49-F238E27FC236}">
                  <a16:creationId xmlns:a16="http://schemas.microsoft.com/office/drawing/2014/main" id="{2D9C1C31-220D-618A-D71A-D1664167847E}"/>
                </a:ext>
              </a:extLst>
            </p:cNvPr>
            <p:cNvSpPr/>
            <p:nvPr/>
          </p:nvSpPr>
          <p:spPr>
            <a:xfrm>
              <a:off x="1013302" y="550515"/>
              <a:ext cx="1429461" cy="215018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sz="1911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12345678</a:t>
              </a:r>
              <a:endParaRPr kumimoji="1" lang="ja-JP" altLang="en-US" sz="814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C997-31C3-8529-B1C5-EB18C649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2C5C2E5-E669-3600-06AC-56F3D7CBE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7" b="31469"/>
          <a:stretch>
            <a:fillRect/>
          </a:stretch>
        </p:blipFill>
        <p:spPr>
          <a:xfrm>
            <a:off x="62691" y="205338"/>
            <a:ext cx="3151221" cy="16126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6399FD4-F238-C600-CED7-9D6CE9066968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EDB36E5-2EE3-DAB8-8D97-1915031C9750}"/>
              </a:ext>
            </a:extLst>
          </p:cNvPr>
          <p:cNvSpPr/>
          <p:nvPr/>
        </p:nvSpPr>
        <p:spPr>
          <a:xfrm>
            <a:off x="282232" y="1286282"/>
            <a:ext cx="2721872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E6B4124-0321-A83F-6817-67E44478DACD}"/>
              </a:ext>
            </a:extLst>
          </p:cNvPr>
          <p:cNvSpPr/>
          <p:nvPr/>
        </p:nvSpPr>
        <p:spPr>
          <a:xfrm>
            <a:off x="251114" y="1777441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EF58B4-C992-47C6-11A6-2AFE83855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0" y="178736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25B2D74-CD36-3BFA-696F-E7ED116B8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178" y="1747291"/>
            <a:ext cx="183585" cy="183585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48AB34A-4B22-EF6D-EE3C-E6DB0B96B7FC}"/>
              </a:ext>
            </a:extLst>
          </p:cNvPr>
          <p:cNvGrpSpPr/>
          <p:nvPr/>
        </p:nvGrpSpPr>
        <p:grpSpPr>
          <a:xfrm>
            <a:off x="162431" y="369284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A3EB458F-FCF6-30BF-AAA0-C8D896439850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C5E571AB-8327-AA96-25B1-EF18C4479E4D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1F5034A2-27E9-C4AA-976B-A823F5AF0DD3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68524E7A-B04D-2389-714D-B5768A59F1B2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151C5A0F-EDF7-4BE9-5E0B-0A80C8CF75E2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BFE8F027-2AE9-D092-0B73-C4EF39562287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9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E3FB4D6-356D-5A7E-9D17-7351FB113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05B178F-72A5-2E7B-683B-39B5E2111C19}"/>
              </a:ext>
            </a:extLst>
          </p:cNvPr>
          <p:cNvSpPr/>
          <p:nvPr/>
        </p:nvSpPr>
        <p:spPr>
          <a:xfrm>
            <a:off x="82102" y="82468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3052911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63B7-7C99-6241-C96B-F2B30A4F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B66B12C-240E-8B6F-400A-52221C67F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5" b="26339"/>
          <a:stretch>
            <a:fillRect/>
          </a:stretch>
        </p:blipFill>
        <p:spPr>
          <a:xfrm>
            <a:off x="0" y="0"/>
            <a:ext cx="3276600" cy="1979613"/>
          </a:xfrm>
          <a:prstGeom prst="rect">
            <a:avLst/>
          </a:prstGeom>
          <a:effectLst/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9965D4F-E6C9-537C-4AA6-B09BCB13BD4E}"/>
              </a:ext>
            </a:extLst>
          </p:cNvPr>
          <p:cNvSpPr/>
          <p:nvPr/>
        </p:nvSpPr>
        <p:spPr>
          <a:xfrm>
            <a:off x="62690" y="-1"/>
            <a:ext cx="3151220" cy="1979613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3293" tIns="36647" rIns="73293" bIns="0" rtlCol="0" anchor="b">
            <a:noAutofit/>
          </a:bodyPr>
          <a:lstStyle/>
          <a:p>
            <a:pPr algn="ctr"/>
            <a:endParaRPr kumimoji="1" lang="ja-JP" altLang="en-US" sz="61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FF3D85B-7911-5890-16B9-933A151097FC}"/>
              </a:ext>
            </a:extLst>
          </p:cNvPr>
          <p:cNvSpPr/>
          <p:nvPr/>
        </p:nvSpPr>
        <p:spPr>
          <a:xfrm>
            <a:off x="207152" y="1302498"/>
            <a:ext cx="2862297" cy="307999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お問い合わせ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病院医療</a:t>
            </a:r>
            <a:r>
              <a:rPr kumimoji="1" lang="en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遠隔医療推進部門（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</a:p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018-801-7179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e-mail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611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enkakuiryo@jimu.akita-u.ac.jp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2669EFE-39C2-75B6-7C84-C2CCD77EB86A}"/>
              </a:ext>
            </a:extLst>
          </p:cNvPr>
          <p:cNvSpPr/>
          <p:nvPr/>
        </p:nvSpPr>
        <p:spPr>
          <a:xfrm>
            <a:off x="399859" y="1733586"/>
            <a:ext cx="2526367" cy="183585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3748EAC-963E-A6E5-AE22-B1A3D0F1F437}"/>
              </a:ext>
            </a:extLst>
          </p:cNvPr>
          <p:cNvSpPr/>
          <p:nvPr/>
        </p:nvSpPr>
        <p:spPr>
          <a:xfrm>
            <a:off x="260775" y="1763736"/>
            <a:ext cx="2769409" cy="133908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「名刺代わりに」は、秋田大学発ベンチャー、</a:t>
            </a:r>
            <a:r>
              <a:rPr kumimoji="1" lang="en-US" altLang="ja-JP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AUIC</a:t>
            </a:r>
            <a:r>
              <a:rPr kumimoji="1" lang="ja-JP" altLang="en-US" sz="61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が提供しています。</a:t>
            </a:r>
            <a:endParaRPr kumimoji="1" lang="en-US" altLang="ja-JP" sz="61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EA0668E-0A4D-33C0-73E7-71721E7AE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12" y="1776834"/>
            <a:ext cx="113518" cy="11351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3E8D5B6-1173-DF36-F4C3-55181662B4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39" y="1733586"/>
            <a:ext cx="183585" cy="183585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E4FD59B-48DD-FF05-63DF-56D6E08FCC63}"/>
              </a:ext>
            </a:extLst>
          </p:cNvPr>
          <p:cNvSpPr/>
          <p:nvPr/>
        </p:nvSpPr>
        <p:spPr>
          <a:xfrm>
            <a:off x="127574" y="100958"/>
            <a:ext cx="3032033" cy="183585"/>
          </a:xfrm>
          <a:prstGeom prst="roundRect">
            <a:avLst>
              <a:gd name="adj" fmla="val 17073"/>
            </a:avLst>
          </a:prstGeom>
          <a:solidFill>
            <a:srgbClr val="FFFFFF">
              <a:alpha val="94902"/>
            </a:srgb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61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67091E18-CF6F-7A2B-A7D3-7915692B7087}"/>
              </a:ext>
            </a:extLst>
          </p:cNvPr>
          <p:cNvGrpSpPr/>
          <p:nvPr/>
        </p:nvGrpSpPr>
        <p:grpSpPr>
          <a:xfrm>
            <a:off x="172093" y="385500"/>
            <a:ext cx="2858091" cy="858296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D22BD6B-CBE7-4FDA-1F83-372409181E81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3761F25E-B0E7-DCBE-7CE3-871B0246FBB8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79CC3D5B-5322-4E81-60AE-44F00D2F5F06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3293" tIns="36647" rIns="73293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9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9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E22961C4-A336-7637-7A5B-56A903B88AA4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14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700A75DC-29A5-CDAF-90BE-E721AA3DD765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11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64A0E2EE-675E-E039-10FA-34BC0D724782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sz="1911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14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C583A2A-C682-ADA0-DF2F-161DD4A87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79725ED-EE6D-C6F4-CB3E-AF90E8184F2A}"/>
              </a:ext>
            </a:extLst>
          </p:cNvPr>
          <p:cNvSpPr/>
          <p:nvPr/>
        </p:nvSpPr>
        <p:spPr>
          <a:xfrm>
            <a:off x="82102" y="131316"/>
            <a:ext cx="3122131" cy="122871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アクリルキーホルダーの受け取りは</a:t>
            </a:r>
            <a:r>
              <a:rPr kumimoji="1" lang="en-US" altLang="ja-JP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QR</a:t>
            </a:r>
            <a:r>
              <a:rPr kumimoji="1" lang="ja-JP" altLang="en-US" sz="916" b="1" dirty="0">
                <a:solidFill>
                  <a:srgbClr val="E96217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コード</a:t>
            </a:r>
            <a:r>
              <a:rPr kumimoji="1" lang="ja-JP" altLang="en-US" sz="916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からお申し込みください</a:t>
            </a:r>
            <a:endParaRPr lang="ja-JP" altLang="en-US" sz="2850" dirty="0"/>
          </a:p>
        </p:txBody>
      </p:sp>
    </p:spTree>
    <p:extLst>
      <p:ext uri="{BB962C8B-B14F-4D97-AF65-F5344CB8AC3E}">
        <p14:creationId xmlns:p14="http://schemas.microsoft.com/office/powerpoint/2010/main" val="146699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1511</TotalTime>
  <Words>738</Words>
  <Application>Microsoft Macintosh PowerPoint</Application>
  <PresentationFormat>ユーザー設定</PresentationFormat>
  <Paragraphs>73</Paragraphs>
  <Slides>10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Meiryo UI</vt:lpstr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158</cp:revision>
  <cp:lastPrinted>2026-04-21T01:50:00Z</cp:lastPrinted>
  <dcterms:created xsi:type="dcterms:W3CDTF">2026-01-29T04:40:41Z</dcterms:created>
  <dcterms:modified xsi:type="dcterms:W3CDTF">2026-04-27T23:47:09Z</dcterms:modified>
</cp:coreProperties>
</file>