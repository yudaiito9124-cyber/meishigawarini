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10"/>
  </p:notesMasterIdLst>
  <p:sldIdLst>
    <p:sldId id="293" r:id="rId2"/>
    <p:sldId id="294" r:id="rId3"/>
    <p:sldId id="298" r:id="rId4"/>
    <p:sldId id="297" r:id="rId5"/>
    <p:sldId id="283" r:id="rId6"/>
    <p:sldId id="292" r:id="rId7"/>
    <p:sldId id="295" r:id="rId8"/>
    <p:sldId id="296" r:id="rId9"/>
  </p:sldIdLst>
  <p:sldSz cx="3276600" cy="1979613"/>
  <p:notesSz cx="1524000" cy="28194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23" userDrawn="1">
          <p15:clr>
            <a:srgbClr val="A4A3A4"/>
          </p15:clr>
        </p15:guide>
        <p15:guide id="2" pos="103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6217"/>
    <a:srgbClr val="ED7E41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633" autoAdjust="0"/>
    <p:restoredTop sz="94626"/>
  </p:normalViewPr>
  <p:slideViewPr>
    <p:cSldViewPr snapToGrid="0">
      <p:cViewPr varScale="1">
        <p:scale>
          <a:sx n="400" d="100"/>
          <a:sy n="400" d="100"/>
        </p:scale>
        <p:origin x="1440" y="280"/>
      </p:cViewPr>
      <p:guideLst>
        <p:guide orient="horz" pos="623"/>
        <p:guide pos="103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660471" cy="141193"/>
          </a:xfrm>
          <a:prstGeom prst="rect">
            <a:avLst/>
          </a:prstGeom>
        </p:spPr>
        <p:txBody>
          <a:bodyPr vert="horz" lIns="23484" tIns="11742" rIns="23484" bIns="11742" rtlCol="0"/>
          <a:lstStyle>
            <a:lvl1pPr algn="l">
              <a:defRPr sz="3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863179" y="1"/>
            <a:ext cx="660471" cy="141193"/>
          </a:xfrm>
          <a:prstGeom prst="rect">
            <a:avLst/>
          </a:prstGeom>
        </p:spPr>
        <p:txBody>
          <a:bodyPr vert="horz" lIns="23484" tIns="11742" rIns="23484" bIns="11742" rtlCol="0"/>
          <a:lstStyle>
            <a:lvl1pPr algn="r">
              <a:defRPr sz="300"/>
            </a:lvl1pPr>
          </a:lstStyle>
          <a:p>
            <a:fld id="{DFB49DE1-FB4B-4CFB-9A42-CC282F575BDD}" type="datetimeFigureOut">
              <a:rPr kumimoji="1" lang="ja-JP" altLang="en-US" smtClean="0"/>
              <a:t>2026/4/16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-25400" y="352425"/>
            <a:ext cx="1574800" cy="9509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23484" tIns="11742" rIns="23484" bIns="11742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152471" y="1356976"/>
            <a:ext cx="1219059" cy="1109888"/>
          </a:xfrm>
          <a:prstGeom prst="rect">
            <a:avLst/>
          </a:prstGeom>
        </p:spPr>
        <p:txBody>
          <a:bodyPr vert="horz" lIns="23484" tIns="11742" rIns="23484" bIns="11742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2678208"/>
            <a:ext cx="660471" cy="141193"/>
          </a:xfrm>
          <a:prstGeom prst="rect">
            <a:avLst/>
          </a:prstGeom>
        </p:spPr>
        <p:txBody>
          <a:bodyPr vert="horz" lIns="23484" tIns="11742" rIns="23484" bIns="11742" rtlCol="0" anchor="b"/>
          <a:lstStyle>
            <a:lvl1pPr algn="l">
              <a:defRPr sz="3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863179" y="2678208"/>
            <a:ext cx="660471" cy="141193"/>
          </a:xfrm>
          <a:prstGeom prst="rect">
            <a:avLst/>
          </a:prstGeom>
        </p:spPr>
        <p:txBody>
          <a:bodyPr vert="horz" lIns="23484" tIns="11742" rIns="23484" bIns="11742" rtlCol="0" anchor="b"/>
          <a:lstStyle>
            <a:lvl1pPr algn="r">
              <a:defRPr sz="300"/>
            </a:lvl1pPr>
          </a:lstStyle>
          <a:p>
            <a:fld id="{C86A7DC6-4F49-4B31-B557-9BBC3851C10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805269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252211" rtl="0" eaLnBrk="1" latinLnBrk="0" hangingPunct="1">
      <a:defRPr kumimoji="1" sz="331" kern="1200">
        <a:solidFill>
          <a:schemeClr val="tx1"/>
        </a:solidFill>
        <a:latin typeface="+mn-lt"/>
        <a:ea typeface="+mn-ea"/>
        <a:cs typeface="+mn-cs"/>
      </a:defRPr>
    </a:lvl1pPr>
    <a:lvl2pPr marL="126105" algn="l" defTabSz="252211" rtl="0" eaLnBrk="1" latinLnBrk="0" hangingPunct="1">
      <a:defRPr kumimoji="1" sz="331" kern="1200">
        <a:solidFill>
          <a:schemeClr val="tx1"/>
        </a:solidFill>
        <a:latin typeface="+mn-lt"/>
        <a:ea typeface="+mn-ea"/>
        <a:cs typeface="+mn-cs"/>
      </a:defRPr>
    </a:lvl2pPr>
    <a:lvl3pPr marL="252211" algn="l" defTabSz="252211" rtl="0" eaLnBrk="1" latinLnBrk="0" hangingPunct="1">
      <a:defRPr kumimoji="1" sz="331" kern="1200">
        <a:solidFill>
          <a:schemeClr val="tx1"/>
        </a:solidFill>
        <a:latin typeface="+mn-lt"/>
        <a:ea typeface="+mn-ea"/>
        <a:cs typeface="+mn-cs"/>
      </a:defRPr>
    </a:lvl3pPr>
    <a:lvl4pPr marL="378315" algn="l" defTabSz="252211" rtl="0" eaLnBrk="1" latinLnBrk="0" hangingPunct="1">
      <a:defRPr kumimoji="1" sz="331" kern="1200">
        <a:solidFill>
          <a:schemeClr val="tx1"/>
        </a:solidFill>
        <a:latin typeface="+mn-lt"/>
        <a:ea typeface="+mn-ea"/>
        <a:cs typeface="+mn-cs"/>
      </a:defRPr>
    </a:lvl4pPr>
    <a:lvl5pPr marL="504421" algn="l" defTabSz="252211" rtl="0" eaLnBrk="1" latinLnBrk="0" hangingPunct="1">
      <a:defRPr kumimoji="1" sz="331" kern="1200">
        <a:solidFill>
          <a:schemeClr val="tx1"/>
        </a:solidFill>
        <a:latin typeface="+mn-lt"/>
        <a:ea typeface="+mn-ea"/>
        <a:cs typeface="+mn-cs"/>
      </a:defRPr>
    </a:lvl5pPr>
    <a:lvl6pPr marL="630526" algn="l" defTabSz="252211" rtl="0" eaLnBrk="1" latinLnBrk="0" hangingPunct="1">
      <a:defRPr kumimoji="1" sz="331" kern="1200">
        <a:solidFill>
          <a:schemeClr val="tx1"/>
        </a:solidFill>
        <a:latin typeface="+mn-lt"/>
        <a:ea typeface="+mn-ea"/>
        <a:cs typeface="+mn-cs"/>
      </a:defRPr>
    </a:lvl6pPr>
    <a:lvl7pPr marL="756631" algn="l" defTabSz="252211" rtl="0" eaLnBrk="1" latinLnBrk="0" hangingPunct="1">
      <a:defRPr kumimoji="1" sz="331" kern="1200">
        <a:solidFill>
          <a:schemeClr val="tx1"/>
        </a:solidFill>
        <a:latin typeface="+mn-lt"/>
        <a:ea typeface="+mn-ea"/>
        <a:cs typeface="+mn-cs"/>
      </a:defRPr>
    </a:lvl7pPr>
    <a:lvl8pPr marL="882736" algn="l" defTabSz="252211" rtl="0" eaLnBrk="1" latinLnBrk="0" hangingPunct="1">
      <a:defRPr kumimoji="1" sz="331" kern="1200">
        <a:solidFill>
          <a:schemeClr val="tx1"/>
        </a:solidFill>
        <a:latin typeface="+mn-lt"/>
        <a:ea typeface="+mn-ea"/>
        <a:cs typeface="+mn-cs"/>
      </a:defRPr>
    </a:lvl8pPr>
    <a:lvl9pPr marL="1008841" algn="l" defTabSz="252211" rtl="0" eaLnBrk="1" latinLnBrk="0" hangingPunct="1">
      <a:defRPr kumimoji="1" sz="331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863D65-4864-6D71-A4F1-B535EB411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91102F8-0101-2A13-E0C8-FF6C184714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25400" y="352425"/>
            <a:ext cx="1574800" cy="950913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D27D793-D090-97AA-939A-F62319E6B9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483762D-89E9-72FF-12B7-BBDA87F052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6A7DC6-4F49-4B31-B557-9BBC3851C10A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2163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-25400" y="352425"/>
            <a:ext cx="1574800" cy="950913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6A7DC6-4F49-4B31-B557-9BBC3851C10A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302470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D0DAB-688C-094A-0691-04ACA3485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FADC6EE-21F7-5119-D9A2-7061E812DA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25400" y="352425"/>
            <a:ext cx="1574800" cy="950913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95D6138-3108-7EF5-43A9-C8F89E225C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6BB3B28-D632-2A78-A1C3-DD9CED2C4C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6A7DC6-4F49-4B31-B557-9BBC3851C10A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811175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09575" y="323978"/>
            <a:ext cx="2457450" cy="689199"/>
          </a:xfrm>
        </p:spPr>
        <p:txBody>
          <a:bodyPr anchor="b"/>
          <a:lstStyle>
            <a:lvl1pPr algn="ctr">
              <a:defRPr sz="1613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09575" y="1039755"/>
            <a:ext cx="2457450" cy="477948"/>
          </a:xfrm>
        </p:spPr>
        <p:txBody>
          <a:bodyPr/>
          <a:lstStyle>
            <a:lvl1pPr marL="0" indent="0" algn="ctr">
              <a:buNone/>
              <a:defRPr sz="645"/>
            </a:lvl1pPr>
            <a:lvl2pPr marL="122895" indent="0" algn="ctr">
              <a:buNone/>
              <a:defRPr sz="538"/>
            </a:lvl2pPr>
            <a:lvl3pPr marL="245791" indent="0" algn="ctr">
              <a:buNone/>
              <a:defRPr sz="484"/>
            </a:lvl3pPr>
            <a:lvl4pPr marL="368686" indent="0" algn="ctr">
              <a:buNone/>
              <a:defRPr sz="430"/>
            </a:lvl4pPr>
            <a:lvl5pPr marL="491581" indent="0" algn="ctr">
              <a:buNone/>
              <a:defRPr sz="430"/>
            </a:lvl5pPr>
            <a:lvl6pPr marL="614477" indent="0" algn="ctr">
              <a:buNone/>
              <a:defRPr sz="430"/>
            </a:lvl6pPr>
            <a:lvl7pPr marL="737372" indent="0" algn="ctr">
              <a:buNone/>
              <a:defRPr sz="430"/>
            </a:lvl7pPr>
            <a:lvl8pPr marL="860268" indent="0" algn="ctr">
              <a:buNone/>
              <a:defRPr sz="430"/>
            </a:lvl8pPr>
            <a:lvl9pPr marL="983163" indent="0" algn="ctr">
              <a:buNone/>
              <a:defRPr sz="43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943AC-2B44-49B1-8BF7-A9628131A8B9}" type="datetimeFigureOut">
              <a:rPr kumimoji="1" lang="ja-JP" altLang="en-US" smtClean="0"/>
              <a:t>2026/4/16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CBB8F-D787-4715-B4B0-C51A96B419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09285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943AC-2B44-49B1-8BF7-A9628131A8B9}" type="datetimeFigureOut">
              <a:rPr kumimoji="1" lang="ja-JP" altLang="en-US" smtClean="0"/>
              <a:t>2026/4/16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CBB8F-D787-4715-B4B0-C51A96B419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542731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559" y="493529"/>
            <a:ext cx="2826068" cy="823464"/>
          </a:xfrm>
        </p:spPr>
        <p:txBody>
          <a:bodyPr anchor="b"/>
          <a:lstStyle>
            <a:lvl1pPr>
              <a:defRPr sz="1613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559" y="1324783"/>
            <a:ext cx="2826068" cy="433040"/>
          </a:xfrm>
        </p:spPr>
        <p:txBody>
          <a:bodyPr/>
          <a:lstStyle>
            <a:lvl1pPr marL="0" indent="0">
              <a:buNone/>
              <a:defRPr sz="645">
                <a:solidFill>
                  <a:schemeClr val="tx1">
                    <a:tint val="82000"/>
                  </a:schemeClr>
                </a:solidFill>
              </a:defRPr>
            </a:lvl1pPr>
            <a:lvl2pPr marL="122895" indent="0">
              <a:buNone/>
              <a:defRPr sz="538">
                <a:solidFill>
                  <a:schemeClr val="tx1">
                    <a:tint val="82000"/>
                  </a:schemeClr>
                </a:solidFill>
              </a:defRPr>
            </a:lvl2pPr>
            <a:lvl3pPr marL="245791" indent="0">
              <a:buNone/>
              <a:defRPr sz="484">
                <a:solidFill>
                  <a:schemeClr val="tx1">
                    <a:tint val="82000"/>
                  </a:schemeClr>
                </a:solidFill>
              </a:defRPr>
            </a:lvl3pPr>
            <a:lvl4pPr marL="368686" indent="0">
              <a:buNone/>
              <a:defRPr sz="430">
                <a:solidFill>
                  <a:schemeClr val="tx1">
                    <a:tint val="82000"/>
                  </a:schemeClr>
                </a:solidFill>
              </a:defRPr>
            </a:lvl4pPr>
            <a:lvl5pPr marL="491581" indent="0">
              <a:buNone/>
              <a:defRPr sz="430">
                <a:solidFill>
                  <a:schemeClr val="tx1">
                    <a:tint val="82000"/>
                  </a:schemeClr>
                </a:solidFill>
              </a:defRPr>
            </a:lvl5pPr>
            <a:lvl6pPr marL="614477" indent="0">
              <a:buNone/>
              <a:defRPr sz="430">
                <a:solidFill>
                  <a:schemeClr val="tx1">
                    <a:tint val="82000"/>
                  </a:schemeClr>
                </a:solidFill>
              </a:defRPr>
            </a:lvl6pPr>
            <a:lvl7pPr marL="737372" indent="0">
              <a:buNone/>
              <a:defRPr sz="430">
                <a:solidFill>
                  <a:schemeClr val="tx1">
                    <a:tint val="82000"/>
                  </a:schemeClr>
                </a:solidFill>
              </a:defRPr>
            </a:lvl7pPr>
            <a:lvl8pPr marL="860268" indent="0">
              <a:buNone/>
              <a:defRPr sz="430">
                <a:solidFill>
                  <a:schemeClr val="tx1">
                    <a:tint val="82000"/>
                  </a:schemeClr>
                </a:solidFill>
              </a:defRPr>
            </a:lvl8pPr>
            <a:lvl9pPr marL="983163" indent="0">
              <a:buNone/>
              <a:defRPr sz="43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943AC-2B44-49B1-8BF7-A9628131A8B9}" type="datetimeFigureOut">
              <a:rPr kumimoji="1" lang="ja-JP" altLang="en-US" smtClean="0"/>
              <a:t>2026/4/16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CBB8F-D787-4715-B4B0-C51A96B419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780209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5266" y="526980"/>
            <a:ext cx="1392555" cy="1256046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58779" y="526980"/>
            <a:ext cx="1392555" cy="1256046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943AC-2B44-49B1-8BF7-A9628131A8B9}" type="datetimeFigureOut">
              <a:rPr kumimoji="1" lang="ja-JP" altLang="en-US" smtClean="0"/>
              <a:t>2026/4/16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CBB8F-D787-4715-B4B0-C51A96B419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505895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5693" y="105396"/>
            <a:ext cx="2826068" cy="382634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5693" y="485280"/>
            <a:ext cx="1386155" cy="237828"/>
          </a:xfrm>
        </p:spPr>
        <p:txBody>
          <a:bodyPr anchor="b"/>
          <a:lstStyle>
            <a:lvl1pPr marL="0" indent="0">
              <a:buNone/>
              <a:defRPr sz="645" b="1"/>
            </a:lvl1pPr>
            <a:lvl2pPr marL="122895" indent="0">
              <a:buNone/>
              <a:defRPr sz="538" b="1"/>
            </a:lvl2pPr>
            <a:lvl3pPr marL="245791" indent="0">
              <a:buNone/>
              <a:defRPr sz="484" b="1"/>
            </a:lvl3pPr>
            <a:lvl4pPr marL="368686" indent="0">
              <a:buNone/>
              <a:defRPr sz="430" b="1"/>
            </a:lvl4pPr>
            <a:lvl5pPr marL="491581" indent="0">
              <a:buNone/>
              <a:defRPr sz="430" b="1"/>
            </a:lvl5pPr>
            <a:lvl6pPr marL="614477" indent="0">
              <a:buNone/>
              <a:defRPr sz="430" b="1"/>
            </a:lvl6pPr>
            <a:lvl7pPr marL="737372" indent="0">
              <a:buNone/>
              <a:defRPr sz="430" b="1"/>
            </a:lvl7pPr>
            <a:lvl8pPr marL="860268" indent="0">
              <a:buNone/>
              <a:defRPr sz="430" b="1"/>
            </a:lvl8pPr>
            <a:lvl9pPr marL="983163" indent="0">
              <a:buNone/>
              <a:defRPr sz="43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5693" y="723109"/>
            <a:ext cx="1386155" cy="10635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58779" y="485280"/>
            <a:ext cx="1392982" cy="237828"/>
          </a:xfrm>
        </p:spPr>
        <p:txBody>
          <a:bodyPr anchor="b"/>
          <a:lstStyle>
            <a:lvl1pPr marL="0" indent="0">
              <a:buNone/>
              <a:defRPr sz="645" b="1"/>
            </a:lvl1pPr>
            <a:lvl2pPr marL="122895" indent="0">
              <a:buNone/>
              <a:defRPr sz="538" b="1"/>
            </a:lvl2pPr>
            <a:lvl3pPr marL="245791" indent="0">
              <a:buNone/>
              <a:defRPr sz="484" b="1"/>
            </a:lvl3pPr>
            <a:lvl4pPr marL="368686" indent="0">
              <a:buNone/>
              <a:defRPr sz="430" b="1"/>
            </a:lvl4pPr>
            <a:lvl5pPr marL="491581" indent="0">
              <a:buNone/>
              <a:defRPr sz="430" b="1"/>
            </a:lvl5pPr>
            <a:lvl6pPr marL="614477" indent="0">
              <a:buNone/>
              <a:defRPr sz="430" b="1"/>
            </a:lvl6pPr>
            <a:lvl7pPr marL="737372" indent="0">
              <a:buNone/>
              <a:defRPr sz="430" b="1"/>
            </a:lvl7pPr>
            <a:lvl8pPr marL="860268" indent="0">
              <a:buNone/>
              <a:defRPr sz="430" b="1"/>
            </a:lvl8pPr>
            <a:lvl9pPr marL="983163" indent="0">
              <a:buNone/>
              <a:defRPr sz="43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58779" y="723109"/>
            <a:ext cx="1392982" cy="10635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943AC-2B44-49B1-8BF7-A9628131A8B9}" type="datetimeFigureOut">
              <a:rPr kumimoji="1" lang="ja-JP" altLang="en-US" smtClean="0"/>
              <a:t>2026/4/16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CBB8F-D787-4715-B4B0-C51A96B419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622370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943AC-2B44-49B1-8BF7-A9628131A8B9}" type="datetimeFigureOut">
              <a:rPr kumimoji="1" lang="ja-JP" altLang="en-US" smtClean="0"/>
              <a:t>2026/4/16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CBB8F-D787-4715-B4B0-C51A96B419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125103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943AC-2B44-49B1-8BF7-A9628131A8B9}" type="datetimeFigureOut">
              <a:rPr kumimoji="1" lang="ja-JP" altLang="en-US" smtClean="0"/>
              <a:t>2026/4/16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CBB8F-D787-4715-B4B0-C51A96B419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19131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5693" y="131974"/>
            <a:ext cx="1056789" cy="461910"/>
          </a:xfrm>
        </p:spPr>
        <p:txBody>
          <a:bodyPr anchor="b"/>
          <a:lstStyle>
            <a:lvl1pPr>
              <a:defRPr sz="86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2982" y="285028"/>
            <a:ext cx="1658779" cy="1406808"/>
          </a:xfrm>
        </p:spPr>
        <p:txBody>
          <a:bodyPr/>
          <a:lstStyle>
            <a:lvl1pPr>
              <a:defRPr sz="860"/>
            </a:lvl1pPr>
            <a:lvl2pPr>
              <a:defRPr sz="753"/>
            </a:lvl2pPr>
            <a:lvl3pPr>
              <a:defRPr sz="645"/>
            </a:lvl3pPr>
            <a:lvl4pPr>
              <a:defRPr sz="538"/>
            </a:lvl4pPr>
            <a:lvl5pPr>
              <a:defRPr sz="538"/>
            </a:lvl5pPr>
            <a:lvl6pPr>
              <a:defRPr sz="538"/>
            </a:lvl6pPr>
            <a:lvl7pPr>
              <a:defRPr sz="538"/>
            </a:lvl7pPr>
            <a:lvl8pPr>
              <a:defRPr sz="538"/>
            </a:lvl8pPr>
            <a:lvl9pPr>
              <a:defRPr sz="538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5693" y="593884"/>
            <a:ext cx="1056789" cy="1100243"/>
          </a:xfrm>
        </p:spPr>
        <p:txBody>
          <a:bodyPr/>
          <a:lstStyle>
            <a:lvl1pPr marL="0" indent="0">
              <a:buNone/>
              <a:defRPr sz="430"/>
            </a:lvl1pPr>
            <a:lvl2pPr marL="122895" indent="0">
              <a:buNone/>
              <a:defRPr sz="376"/>
            </a:lvl2pPr>
            <a:lvl3pPr marL="245791" indent="0">
              <a:buNone/>
              <a:defRPr sz="323"/>
            </a:lvl3pPr>
            <a:lvl4pPr marL="368686" indent="0">
              <a:buNone/>
              <a:defRPr sz="269"/>
            </a:lvl4pPr>
            <a:lvl5pPr marL="491581" indent="0">
              <a:buNone/>
              <a:defRPr sz="269"/>
            </a:lvl5pPr>
            <a:lvl6pPr marL="614477" indent="0">
              <a:buNone/>
              <a:defRPr sz="269"/>
            </a:lvl6pPr>
            <a:lvl7pPr marL="737372" indent="0">
              <a:buNone/>
              <a:defRPr sz="269"/>
            </a:lvl7pPr>
            <a:lvl8pPr marL="860268" indent="0">
              <a:buNone/>
              <a:defRPr sz="269"/>
            </a:lvl8pPr>
            <a:lvl9pPr marL="983163" indent="0">
              <a:buNone/>
              <a:defRPr sz="269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943AC-2B44-49B1-8BF7-A9628131A8B9}" type="datetimeFigureOut">
              <a:rPr kumimoji="1" lang="ja-JP" altLang="en-US" smtClean="0"/>
              <a:t>2026/4/16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CBB8F-D787-4715-B4B0-C51A96B419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38058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5693" y="131974"/>
            <a:ext cx="1056789" cy="461910"/>
          </a:xfrm>
        </p:spPr>
        <p:txBody>
          <a:bodyPr anchor="b"/>
          <a:lstStyle>
            <a:lvl1pPr>
              <a:defRPr sz="86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92982" y="285028"/>
            <a:ext cx="1658779" cy="1406808"/>
          </a:xfrm>
        </p:spPr>
        <p:txBody>
          <a:bodyPr anchor="t"/>
          <a:lstStyle>
            <a:lvl1pPr marL="0" indent="0">
              <a:buNone/>
              <a:defRPr sz="860"/>
            </a:lvl1pPr>
            <a:lvl2pPr marL="122895" indent="0">
              <a:buNone/>
              <a:defRPr sz="753"/>
            </a:lvl2pPr>
            <a:lvl3pPr marL="245791" indent="0">
              <a:buNone/>
              <a:defRPr sz="645"/>
            </a:lvl3pPr>
            <a:lvl4pPr marL="368686" indent="0">
              <a:buNone/>
              <a:defRPr sz="538"/>
            </a:lvl4pPr>
            <a:lvl5pPr marL="491581" indent="0">
              <a:buNone/>
              <a:defRPr sz="538"/>
            </a:lvl5pPr>
            <a:lvl6pPr marL="614477" indent="0">
              <a:buNone/>
              <a:defRPr sz="538"/>
            </a:lvl6pPr>
            <a:lvl7pPr marL="737372" indent="0">
              <a:buNone/>
              <a:defRPr sz="538"/>
            </a:lvl7pPr>
            <a:lvl8pPr marL="860268" indent="0">
              <a:buNone/>
              <a:defRPr sz="538"/>
            </a:lvl8pPr>
            <a:lvl9pPr marL="983163" indent="0">
              <a:buNone/>
              <a:defRPr sz="538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5693" y="593884"/>
            <a:ext cx="1056789" cy="1100243"/>
          </a:xfrm>
        </p:spPr>
        <p:txBody>
          <a:bodyPr/>
          <a:lstStyle>
            <a:lvl1pPr marL="0" indent="0">
              <a:buNone/>
              <a:defRPr sz="430"/>
            </a:lvl1pPr>
            <a:lvl2pPr marL="122895" indent="0">
              <a:buNone/>
              <a:defRPr sz="376"/>
            </a:lvl2pPr>
            <a:lvl3pPr marL="245791" indent="0">
              <a:buNone/>
              <a:defRPr sz="323"/>
            </a:lvl3pPr>
            <a:lvl4pPr marL="368686" indent="0">
              <a:buNone/>
              <a:defRPr sz="269"/>
            </a:lvl4pPr>
            <a:lvl5pPr marL="491581" indent="0">
              <a:buNone/>
              <a:defRPr sz="269"/>
            </a:lvl5pPr>
            <a:lvl6pPr marL="614477" indent="0">
              <a:buNone/>
              <a:defRPr sz="269"/>
            </a:lvl6pPr>
            <a:lvl7pPr marL="737372" indent="0">
              <a:buNone/>
              <a:defRPr sz="269"/>
            </a:lvl7pPr>
            <a:lvl8pPr marL="860268" indent="0">
              <a:buNone/>
              <a:defRPr sz="269"/>
            </a:lvl8pPr>
            <a:lvl9pPr marL="983163" indent="0">
              <a:buNone/>
              <a:defRPr sz="269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943AC-2B44-49B1-8BF7-A9628131A8B9}" type="datetimeFigureOut">
              <a:rPr kumimoji="1" lang="ja-JP" altLang="en-US" smtClean="0"/>
              <a:t>2026/4/16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CBB8F-D787-4715-B4B0-C51A96B419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246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943AC-2B44-49B1-8BF7-A9628131A8B9}" type="datetimeFigureOut">
              <a:rPr kumimoji="1" lang="ja-JP" altLang="en-US" smtClean="0"/>
              <a:t>2026/4/16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CBB8F-D787-4715-B4B0-C51A96B419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477626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344817" y="105396"/>
            <a:ext cx="706517" cy="1677631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5266" y="105396"/>
            <a:ext cx="2078593" cy="1677631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943AC-2B44-49B1-8BF7-A9628131A8B9}" type="datetimeFigureOut">
              <a:rPr kumimoji="1" lang="ja-JP" altLang="en-US" smtClean="0"/>
              <a:t>2026/4/16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CBB8F-D787-4715-B4B0-C51A96B419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04744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5266" y="105396"/>
            <a:ext cx="2826068" cy="3826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5266" y="526980"/>
            <a:ext cx="2826068" cy="12560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25266" y="1834808"/>
            <a:ext cx="737235" cy="105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2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C943AC-2B44-49B1-8BF7-A9628131A8B9}" type="datetimeFigureOut">
              <a:rPr kumimoji="1" lang="ja-JP" altLang="en-US" smtClean="0"/>
              <a:t>2026/4/16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85374" y="1834808"/>
            <a:ext cx="1105853" cy="105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2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314099" y="1834808"/>
            <a:ext cx="737235" cy="105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2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4CBB8F-D787-4715-B4B0-C51A96B419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29040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245791" rtl="0" eaLnBrk="1" latinLnBrk="0" hangingPunct="1">
        <a:lnSpc>
          <a:spcPct val="90000"/>
        </a:lnSpc>
        <a:spcBef>
          <a:spcPct val="0"/>
        </a:spcBef>
        <a:buNone/>
        <a:defRPr kumimoji="1" sz="118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1448" indent="-61448" algn="l" defTabSz="245791" rtl="0" eaLnBrk="1" latinLnBrk="0" hangingPunct="1">
        <a:lnSpc>
          <a:spcPct val="90000"/>
        </a:lnSpc>
        <a:spcBef>
          <a:spcPts val="269"/>
        </a:spcBef>
        <a:buFont typeface="Arial" panose="020B0604020202020204" pitchFamily="34" charset="0"/>
        <a:buChar char="•"/>
        <a:defRPr kumimoji="1" sz="753" kern="1200">
          <a:solidFill>
            <a:schemeClr val="tx1"/>
          </a:solidFill>
          <a:latin typeface="+mn-lt"/>
          <a:ea typeface="+mn-ea"/>
          <a:cs typeface="+mn-cs"/>
        </a:defRPr>
      </a:lvl1pPr>
      <a:lvl2pPr marL="184343" indent="-61448" algn="l" defTabSz="245791" rtl="0" eaLnBrk="1" latinLnBrk="0" hangingPunct="1">
        <a:lnSpc>
          <a:spcPct val="90000"/>
        </a:lnSpc>
        <a:spcBef>
          <a:spcPts val="134"/>
        </a:spcBef>
        <a:buFont typeface="Arial" panose="020B0604020202020204" pitchFamily="34" charset="0"/>
        <a:buChar char="•"/>
        <a:defRPr kumimoji="1" sz="645" kern="1200">
          <a:solidFill>
            <a:schemeClr val="tx1"/>
          </a:solidFill>
          <a:latin typeface="+mn-lt"/>
          <a:ea typeface="+mn-ea"/>
          <a:cs typeface="+mn-cs"/>
        </a:defRPr>
      </a:lvl2pPr>
      <a:lvl3pPr marL="307238" indent="-61448" algn="l" defTabSz="245791" rtl="0" eaLnBrk="1" latinLnBrk="0" hangingPunct="1">
        <a:lnSpc>
          <a:spcPct val="90000"/>
        </a:lnSpc>
        <a:spcBef>
          <a:spcPts val="134"/>
        </a:spcBef>
        <a:buFont typeface="Arial" panose="020B0604020202020204" pitchFamily="34" charset="0"/>
        <a:buChar char="•"/>
        <a:defRPr kumimoji="1" sz="538" kern="1200">
          <a:solidFill>
            <a:schemeClr val="tx1"/>
          </a:solidFill>
          <a:latin typeface="+mn-lt"/>
          <a:ea typeface="+mn-ea"/>
          <a:cs typeface="+mn-cs"/>
        </a:defRPr>
      </a:lvl3pPr>
      <a:lvl4pPr marL="430134" indent="-61448" algn="l" defTabSz="245791" rtl="0" eaLnBrk="1" latinLnBrk="0" hangingPunct="1">
        <a:lnSpc>
          <a:spcPct val="90000"/>
        </a:lnSpc>
        <a:spcBef>
          <a:spcPts val="134"/>
        </a:spcBef>
        <a:buFont typeface="Arial" panose="020B0604020202020204" pitchFamily="34" charset="0"/>
        <a:buChar char="•"/>
        <a:defRPr kumimoji="1" sz="484" kern="1200">
          <a:solidFill>
            <a:schemeClr val="tx1"/>
          </a:solidFill>
          <a:latin typeface="+mn-lt"/>
          <a:ea typeface="+mn-ea"/>
          <a:cs typeface="+mn-cs"/>
        </a:defRPr>
      </a:lvl4pPr>
      <a:lvl5pPr marL="553029" indent="-61448" algn="l" defTabSz="245791" rtl="0" eaLnBrk="1" latinLnBrk="0" hangingPunct="1">
        <a:lnSpc>
          <a:spcPct val="90000"/>
        </a:lnSpc>
        <a:spcBef>
          <a:spcPts val="134"/>
        </a:spcBef>
        <a:buFont typeface="Arial" panose="020B0604020202020204" pitchFamily="34" charset="0"/>
        <a:buChar char="•"/>
        <a:defRPr kumimoji="1" sz="484" kern="1200">
          <a:solidFill>
            <a:schemeClr val="tx1"/>
          </a:solidFill>
          <a:latin typeface="+mn-lt"/>
          <a:ea typeface="+mn-ea"/>
          <a:cs typeface="+mn-cs"/>
        </a:defRPr>
      </a:lvl5pPr>
      <a:lvl6pPr marL="675924" indent="-61448" algn="l" defTabSz="245791" rtl="0" eaLnBrk="1" latinLnBrk="0" hangingPunct="1">
        <a:lnSpc>
          <a:spcPct val="90000"/>
        </a:lnSpc>
        <a:spcBef>
          <a:spcPts val="134"/>
        </a:spcBef>
        <a:buFont typeface="Arial" panose="020B0604020202020204" pitchFamily="34" charset="0"/>
        <a:buChar char="•"/>
        <a:defRPr kumimoji="1" sz="484" kern="1200">
          <a:solidFill>
            <a:schemeClr val="tx1"/>
          </a:solidFill>
          <a:latin typeface="+mn-lt"/>
          <a:ea typeface="+mn-ea"/>
          <a:cs typeface="+mn-cs"/>
        </a:defRPr>
      </a:lvl6pPr>
      <a:lvl7pPr marL="798820" indent="-61448" algn="l" defTabSz="245791" rtl="0" eaLnBrk="1" latinLnBrk="0" hangingPunct="1">
        <a:lnSpc>
          <a:spcPct val="90000"/>
        </a:lnSpc>
        <a:spcBef>
          <a:spcPts val="134"/>
        </a:spcBef>
        <a:buFont typeface="Arial" panose="020B0604020202020204" pitchFamily="34" charset="0"/>
        <a:buChar char="•"/>
        <a:defRPr kumimoji="1" sz="484" kern="1200">
          <a:solidFill>
            <a:schemeClr val="tx1"/>
          </a:solidFill>
          <a:latin typeface="+mn-lt"/>
          <a:ea typeface="+mn-ea"/>
          <a:cs typeface="+mn-cs"/>
        </a:defRPr>
      </a:lvl7pPr>
      <a:lvl8pPr marL="921715" indent="-61448" algn="l" defTabSz="245791" rtl="0" eaLnBrk="1" latinLnBrk="0" hangingPunct="1">
        <a:lnSpc>
          <a:spcPct val="90000"/>
        </a:lnSpc>
        <a:spcBef>
          <a:spcPts val="134"/>
        </a:spcBef>
        <a:buFont typeface="Arial" panose="020B0604020202020204" pitchFamily="34" charset="0"/>
        <a:buChar char="•"/>
        <a:defRPr kumimoji="1" sz="484" kern="1200">
          <a:solidFill>
            <a:schemeClr val="tx1"/>
          </a:solidFill>
          <a:latin typeface="+mn-lt"/>
          <a:ea typeface="+mn-ea"/>
          <a:cs typeface="+mn-cs"/>
        </a:defRPr>
      </a:lvl8pPr>
      <a:lvl9pPr marL="1044611" indent="-61448" algn="l" defTabSz="245791" rtl="0" eaLnBrk="1" latinLnBrk="0" hangingPunct="1">
        <a:lnSpc>
          <a:spcPct val="90000"/>
        </a:lnSpc>
        <a:spcBef>
          <a:spcPts val="134"/>
        </a:spcBef>
        <a:buFont typeface="Arial" panose="020B0604020202020204" pitchFamily="34" charset="0"/>
        <a:buChar char="•"/>
        <a:defRPr kumimoji="1" sz="4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45791" rtl="0" eaLnBrk="1" latinLnBrk="0" hangingPunct="1">
        <a:defRPr kumimoji="1" sz="484" kern="1200">
          <a:solidFill>
            <a:schemeClr val="tx1"/>
          </a:solidFill>
          <a:latin typeface="+mn-lt"/>
          <a:ea typeface="+mn-ea"/>
          <a:cs typeface="+mn-cs"/>
        </a:defRPr>
      </a:lvl1pPr>
      <a:lvl2pPr marL="122895" algn="l" defTabSz="245791" rtl="0" eaLnBrk="1" latinLnBrk="0" hangingPunct="1">
        <a:defRPr kumimoji="1" sz="484" kern="1200">
          <a:solidFill>
            <a:schemeClr val="tx1"/>
          </a:solidFill>
          <a:latin typeface="+mn-lt"/>
          <a:ea typeface="+mn-ea"/>
          <a:cs typeface="+mn-cs"/>
        </a:defRPr>
      </a:lvl2pPr>
      <a:lvl3pPr marL="245791" algn="l" defTabSz="245791" rtl="0" eaLnBrk="1" latinLnBrk="0" hangingPunct="1">
        <a:defRPr kumimoji="1" sz="484" kern="1200">
          <a:solidFill>
            <a:schemeClr val="tx1"/>
          </a:solidFill>
          <a:latin typeface="+mn-lt"/>
          <a:ea typeface="+mn-ea"/>
          <a:cs typeface="+mn-cs"/>
        </a:defRPr>
      </a:lvl3pPr>
      <a:lvl4pPr marL="368686" algn="l" defTabSz="245791" rtl="0" eaLnBrk="1" latinLnBrk="0" hangingPunct="1">
        <a:defRPr kumimoji="1" sz="484" kern="1200">
          <a:solidFill>
            <a:schemeClr val="tx1"/>
          </a:solidFill>
          <a:latin typeface="+mn-lt"/>
          <a:ea typeface="+mn-ea"/>
          <a:cs typeface="+mn-cs"/>
        </a:defRPr>
      </a:lvl4pPr>
      <a:lvl5pPr marL="491581" algn="l" defTabSz="245791" rtl="0" eaLnBrk="1" latinLnBrk="0" hangingPunct="1">
        <a:defRPr kumimoji="1" sz="484" kern="1200">
          <a:solidFill>
            <a:schemeClr val="tx1"/>
          </a:solidFill>
          <a:latin typeface="+mn-lt"/>
          <a:ea typeface="+mn-ea"/>
          <a:cs typeface="+mn-cs"/>
        </a:defRPr>
      </a:lvl5pPr>
      <a:lvl6pPr marL="614477" algn="l" defTabSz="245791" rtl="0" eaLnBrk="1" latinLnBrk="0" hangingPunct="1">
        <a:defRPr kumimoji="1" sz="484" kern="1200">
          <a:solidFill>
            <a:schemeClr val="tx1"/>
          </a:solidFill>
          <a:latin typeface="+mn-lt"/>
          <a:ea typeface="+mn-ea"/>
          <a:cs typeface="+mn-cs"/>
        </a:defRPr>
      </a:lvl6pPr>
      <a:lvl7pPr marL="737372" algn="l" defTabSz="245791" rtl="0" eaLnBrk="1" latinLnBrk="0" hangingPunct="1">
        <a:defRPr kumimoji="1" sz="484" kern="1200">
          <a:solidFill>
            <a:schemeClr val="tx1"/>
          </a:solidFill>
          <a:latin typeface="+mn-lt"/>
          <a:ea typeface="+mn-ea"/>
          <a:cs typeface="+mn-cs"/>
        </a:defRPr>
      </a:lvl7pPr>
      <a:lvl8pPr marL="860268" algn="l" defTabSz="245791" rtl="0" eaLnBrk="1" latinLnBrk="0" hangingPunct="1">
        <a:defRPr kumimoji="1" sz="484" kern="1200">
          <a:solidFill>
            <a:schemeClr val="tx1"/>
          </a:solidFill>
          <a:latin typeface="+mn-lt"/>
          <a:ea typeface="+mn-ea"/>
          <a:cs typeface="+mn-cs"/>
        </a:defRPr>
      </a:lvl8pPr>
      <a:lvl9pPr marL="983163" algn="l" defTabSz="245791" rtl="0" eaLnBrk="1" latinLnBrk="0" hangingPunct="1">
        <a:defRPr kumimoji="1" sz="4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5" Type="http://schemas.openxmlformats.org/officeDocument/2006/relationships/image" Target="../media/image3.png"/><Relationship Id="rId4" Type="http://schemas.openxmlformats.org/officeDocument/2006/relationships/image" Target="../media/image2.jpeg"/><Relationship Id="rId9" Type="http://schemas.microsoft.com/office/2007/relationships/hdphoto" Target="../media/hdphoto2.wdp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microsoft.com/office/2007/relationships/hdphoto" Target="../media/hdphoto1.wdp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microsoft.com/office/2007/relationships/hdphoto" Target="../media/hdphoto1.wdp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8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microsoft.com/office/2007/relationships/hdphoto" Target="../media/hdphoto2.wdp"/><Relationship Id="rId5" Type="http://schemas.openxmlformats.org/officeDocument/2006/relationships/image" Target="../media/image5.png"/><Relationship Id="rId4" Type="http://schemas.microsoft.com/office/2007/relationships/hdphoto" Target="../media/hdphoto1.wdp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5" Type="http://schemas.openxmlformats.org/officeDocument/2006/relationships/image" Target="../media/image3.png"/><Relationship Id="rId4" Type="http://schemas.openxmlformats.org/officeDocument/2006/relationships/image" Target="../media/image2.jpeg"/><Relationship Id="rId9" Type="http://schemas.microsoft.com/office/2007/relationships/hdphoto" Target="../media/hdphoto2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microsoft.com/office/2007/relationships/hdphoto" Target="../media/hdphoto1.wdp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E0C2D-AFA8-1630-1768-F39160A05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4778E138-80AB-49DA-F141-4599262F003D}"/>
              </a:ext>
            </a:extLst>
          </p:cNvPr>
          <p:cNvSpPr/>
          <p:nvPr/>
        </p:nvSpPr>
        <p:spPr>
          <a:xfrm>
            <a:off x="62689" y="-1"/>
            <a:ext cx="3151220" cy="1979612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kumimoji="1" lang="ja-JP" altLang="en-US" sz="611" dirty="0">
              <a:solidFill>
                <a:schemeClr val="tx1"/>
              </a:solidFill>
              <a:latin typeface="UD デジタル 教科書体 NP-R" panose="020B0400000000000000" pitchFamily="18" charset="-128"/>
              <a:ea typeface="UD デジタル 教科書体 NP-R" panose="020B0400000000000000" pitchFamily="18" charset="-128"/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D9C2C801-4DBD-A648-B7CF-EB8D7E2B4A5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829" b="18595"/>
          <a:stretch>
            <a:fillRect/>
          </a:stretch>
        </p:blipFill>
        <p:spPr>
          <a:xfrm>
            <a:off x="62688" y="-7199"/>
            <a:ext cx="3151220" cy="1979614"/>
          </a:xfrm>
          <a:prstGeom prst="rect">
            <a:avLst/>
          </a:prstGeom>
          <a:effectLst>
            <a:softEdge rad="317500"/>
          </a:effectLst>
        </p:spPr>
      </p:pic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5405B71-1C4D-2335-8CF0-9754D447F51E}"/>
              </a:ext>
            </a:extLst>
          </p:cNvPr>
          <p:cNvSpPr/>
          <p:nvPr/>
        </p:nvSpPr>
        <p:spPr>
          <a:xfrm>
            <a:off x="62690" y="5165"/>
            <a:ext cx="3151220" cy="1974448"/>
          </a:xfrm>
          <a:prstGeom prst="roundRect">
            <a:avLst>
              <a:gd name="adj" fmla="val 13559"/>
            </a:avLst>
          </a:prstGeom>
          <a:noFill/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3293" tIns="36647" rIns="73293" bIns="0" rtlCol="0" anchor="b">
            <a:noAutofit/>
          </a:bodyPr>
          <a:lstStyle/>
          <a:p>
            <a:pPr algn="ctr"/>
            <a:endParaRPr kumimoji="1" lang="ja-JP" altLang="en-US" sz="611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A675C974-2DA1-C7F9-F989-5AFD08E92DAE}"/>
              </a:ext>
            </a:extLst>
          </p:cNvPr>
          <p:cNvSpPr/>
          <p:nvPr/>
        </p:nvSpPr>
        <p:spPr>
          <a:xfrm>
            <a:off x="287288" y="1795306"/>
            <a:ext cx="2702018" cy="122871"/>
          </a:xfrm>
          <a:prstGeom prst="roundRect">
            <a:avLst>
              <a:gd name="adj" fmla="val 6665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とけない、われない、かさばらない！　カードで送る新習慣＠名刺代わりに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00811D42-5F89-AE49-CFB6-6710E6444DA3}"/>
              </a:ext>
            </a:extLst>
          </p:cNvPr>
          <p:cNvSpPr/>
          <p:nvPr/>
        </p:nvSpPr>
        <p:spPr>
          <a:xfrm>
            <a:off x="911317" y="1376118"/>
            <a:ext cx="1605667" cy="361373"/>
          </a:xfrm>
          <a:prstGeom prst="roundRect">
            <a:avLst>
              <a:gd name="adj" fmla="val 6665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ja-JP" sz="916" dirty="0">
                <a:ln w="22225">
                  <a:noFill/>
                  <a:prstDash val="solid"/>
                </a:ln>
                <a:solidFill>
                  <a:srgbClr val="E96217"/>
                </a:solidFill>
                <a:effectLst>
                  <a:innerShdw>
                    <a:schemeClr val="accent2">
                      <a:alpha val="92000"/>
                    </a:schemeClr>
                  </a:innerShdw>
                </a:effectLst>
                <a:latin typeface="Meiryo UI" panose="020B0604030504040204" pitchFamily="34" charset="-128"/>
                <a:ea typeface="Meiryo UI" panose="020B0604030504040204" pitchFamily="34" charset="-128"/>
              </a:rPr>
              <a:t>AUTELM</a:t>
            </a:r>
            <a:r>
              <a:rPr kumimoji="1" lang="ja-JP" altLang="en-US" sz="916" dirty="0">
                <a:ln w="22225">
                  <a:noFill/>
                  <a:prstDash val="solid"/>
                </a:ln>
                <a:solidFill>
                  <a:srgbClr val="E96217"/>
                </a:solidFill>
                <a:effectLst>
                  <a:innerShdw>
                    <a:schemeClr val="accent2">
                      <a:alpha val="92000"/>
                    </a:schemeClr>
                  </a:innerShdw>
                </a:effectLst>
                <a:latin typeface="Meiryo UI" panose="020B0604030504040204" pitchFamily="34" charset="-128"/>
                <a:ea typeface="Meiryo UI" panose="020B0604030504040204" pitchFamily="34" charset="-128"/>
              </a:rPr>
              <a:t>　</a:t>
            </a:r>
            <a:r>
              <a:rPr kumimoji="1" lang="en-US" altLang="ja-JP" sz="916" dirty="0">
                <a:ln w="22225">
                  <a:noFill/>
                  <a:prstDash val="solid"/>
                </a:ln>
                <a:solidFill>
                  <a:srgbClr val="E96217"/>
                </a:solidFill>
                <a:effectLst>
                  <a:innerShdw>
                    <a:schemeClr val="accent2">
                      <a:alpha val="92000"/>
                    </a:schemeClr>
                  </a:innerShdw>
                </a:effectLst>
                <a:latin typeface="Meiryo UI" panose="020B0604030504040204" pitchFamily="34" charset="-128"/>
                <a:ea typeface="Meiryo UI" panose="020B0604030504040204" pitchFamily="34" charset="-128"/>
              </a:rPr>
              <a:t>HP</a:t>
            </a:r>
            <a:r>
              <a:rPr kumimoji="1" lang="ja-JP" altLang="en-US" sz="916" dirty="0">
                <a:ln w="22225">
                  <a:noFill/>
                  <a:prstDash val="solid"/>
                </a:ln>
                <a:solidFill>
                  <a:srgbClr val="E96217"/>
                </a:solidFill>
                <a:effectLst>
                  <a:innerShdw>
                    <a:schemeClr val="accent2">
                      <a:alpha val="92000"/>
                    </a:schemeClr>
                  </a:innerShdw>
                </a:effectLst>
                <a:latin typeface="Meiryo UI" panose="020B0604030504040204" pitchFamily="34" charset="-128"/>
                <a:ea typeface="Meiryo UI" panose="020B0604030504040204" pitchFamily="34" charset="-128"/>
              </a:rPr>
              <a:t>開設記念</a:t>
            </a:r>
            <a:r>
              <a:rPr kumimoji="1" lang="en-US" altLang="ja-JP" sz="916" dirty="0">
                <a:ln w="22225">
                  <a:noFill/>
                  <a:prstDash val="solid"/>
                </a:ln>
                <a:solidFill>
                  <a:srgbClr val="E96217"/>
                </a:solidFill>
                <a:effectLst>
                  <a:innerShdw>
                    <a:schemeClr val="accent2">
                      <a:alpha val="92000"/>
                    </a:schemeClr>
                  </a:innerShdw>
                </a:effectLst>
                <a:latin typeface="Meiryo UI" panose="020B0604030504040204" pitchFamily="34" charset="-128"/>
                <a:ea typeface="Meiryo UI" panose="020B0604030504040204" pitchFamily="34" charset="-128"/>
              </a:rPr>
              <a:t> </a:t>
            </a:r>
          </a:p>
          <a:p>
            <a:pPr algn="ctr"/>
            <a:r>
              <a:rPr kumimoji="1" lang="ja-JP" altLang="en-US" sz="916" b="1" dirty="0">
                <a:ln w="22225">
                  <a:noFill/>
                  <a:prstDash val="solid"/>
                </a:ln>
                <a:solidFill>
                  <a:srgbClr val="E96217"/>
                </a:solidFill>
                <a:effectLst>
                  <a:innerShdw>
                    <a:schemeClr val="accent2">
                      <a:alpha val="92000"/>
                    </a:schemeClr>
                  </a:innerShdw>
                </a:effectLst>
                <a:latin typeface="Meiryo UI" panose="020B0604030504040204" pitchFamily="34" charset="-128"/>
                <a:ea typeface="Meiryo UI" panose="020B0604030504040204" pitchFamily="34" charset="-128"/>
              </a:rPr>
              <a:t>限定</a:t>
            </a:r>
            <a:r>
              <a:rPr kumimoji="1" lang="en-US" altLang="ja-JP" sz="916" b="1" dirty="0">
                <a:ln w="22225">
                  <a:noFill/>
                  <a:prstDash val="solid"/>
                </a:ln>
                <a:solidFill>
                  <a:srgbClr val="E96217"/>
                </a:solidFill>
                <a:effectLst>
                  <a:innerShdw>
                    <a:schemeClr val="accent2">
                      <a:alpha val="92000"/>
                    </a:schemeClr>
                  </a:innerShdw>
                </a:effectLst>
                <a:latin typeface="Meiryo UI" panose="020B0604030504040204" pitchFamily="34" charset="-128"/>
                <a:ea typeface="Meiryo UI" panose="020B0604030504040204" pitchFamily="34" charset="-128"/>
              </a:rPr>
              <a:t> </a:t>
            </a:r>
            <a:r>
              <a:rPr kumimoji="1" lang="ja-JP" altLang="en-US" sz="916" b="1" dirty="0">
                <a:ln w="22225">
                  <a:noFill/>
                  <a:prstDash val="solid"/>
                </a:ln>
                <a:solidFill>
                  <a:srgbClr val="E96217"/>
                </a:solidFill>
                <a:effectLst>
                  <a:innerShdw>
                    <a:schemeClr val="accent2">
                      <a:alpha val="92000"/>
                    </a:schemeClr>
                  </a:innerShdw>
                </a:effectLst>
                <a:latin typeface="Meiryo UI" panose="020B0604030504040204" pitchFamily="34" charset="-128"/>
                <a:ea typeface="Meiryo UI" panose="020B0604030504040204" pitchFamily="34" charset="-128"/>
              </a:rPr>
              <a:t>“アクリルキーホルダー”</a:t>
            </a:r>
            <a:endParaRPr kumimoji="1" lang="en-AU" altLang="ja-JP" sz="916" b="1" dirty="0">
              <a:ln w="22225">
                <a:noFill/>
                <a:prstDash val="solid"/>
              </a:ln>
              <a:solidFill>
                <a:srgbClr val="E96217"/>
              </a:solidFill>
              <a:effectLst>
                <a:innerShdw>
                  <a:schemeClr val="accent2">
                    <a:alpha val="92000"/>
                  </a:schemeClr>
                </a:innerShdw>
              </a:effectLst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algn="ctr"/>
            <a:r>
              <a:rPr kumimoji="1" lang="ja-JP" altLang="en-US" sz="916" dirty="0">
                <a:ln w="22225">
                  <a:noFill/>
                  <a:prstDash val="solid"/>
                </a:ln>
                <a:solidFill>
                  <a:srgbClr val="E96217"/>
                </a:solidFill>
                <a:effectLst>
                  <a:innerShdw>
                    <a:schemeClr val="accent2">
                      <a:alpha val="92000"/>
                    </a:schemeClr>
                  </a:innerShdw>
                </a:effectLst>
                <a:latin typeface="Meiryo UI" panose="020B0604030504040204" pitchFamily="34" charset="-128"/>
                <a:ea typeface="Meiryo UI" panose="020B0604030504040204" pitchFamily="34" charset="-128"/>
              </a:rPr>
              <a:t>プレゼント！</a:t>
            </a:r>
            <a:endParaRPr kumimoji="1" lang="en-US" altLang="ja-JP" sz="916" dirty="0">
              <a:ln w="22225">
                <a:noFill/>
                <a:prstDash val="solid"/>
              </a:ln>
              <a:solidFill>
                <a:srgbClr val="E96217"/>
              </a:solidFill>
              <a:effectLst>
                <a:innerShdw>
                  <a:schemeClr val="accent2">
                    <a:alpha val="92000"/>
                  </a:schemeClr>
                </a:innerShdw>
              </a:effectLst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0FD4193-2A6C-8F7C-FB92-AADF1DB437D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694" b="3746"/>
          <a:stretch>
            <a:fillRect/>
          </a:stretch>
        </p:blipFill>
        <p:spPr bwMode="auto">
          <a:xfrm>
            <a:off x="152915" y="219914"/>
            <a:ext cx="2980505" cy="1115368"/>
          </a:xfrm>
          <a:prstGeom prst="rect">
            <a:avLst/>
          </a:prstGeom>
          <a:ln>
            <a:noFill/>
          </a:ln>
          <a:effectLst>
            <a:softEdge rad="3175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1C05FFEC-0022-B49D-A22E-B900A1CC5D3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100000"/>
                    </a14:imgEffect>
                    <a14:imgEffect>
                      <a14:brightnessContrast contras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543997" y="1192980"/>
            <a:ext cx="552675" cy="552675"/>
          </a:xfrm>
          <a:prstGeom prst="rect">
            <a:avLst/>
          </a:prstGeom>
          <a:ln w="38100">
            <a:solidFill>
              <a:schemeClr val="bg1"/>
            </a:solidFill>
          </a:ln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2F4530D8-3A34-FF8C-1AAE-166E598D688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6815" y="1118434"/>
            <a:ext cx="676871" cy="676871"/>
          </a:xfrm>
          <a:prstGeom prst="rect">
            <a:avLst/>
          </a:prstGeom>
        </p:spPr>
      </p:pic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75183ACF-0122-5E1E-AEC9-7A0FDB7346BA}"/>
              </a:ext>
            </a:extLst>
          </p:cNvPr>
          <p:cNvSpPr txBox="1"/>
          <p:nvPr/>
        </p:nvSpPr>
        <p:spPr>
          <a:xfrm>
            <a:off x="118723" y="38643"/>
            <a:ext cx="3027891" cy="217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814" b="1" dirty="0">
                <a:solidFill>
                  <a:srgbClr val="E96217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秋田大学医学部附属病院　医療</a:t>
            </a:r>
            <a:r>
              <a:rPr kumimoji="1" lang="en-US" altLang="ja-JP" sz="814" b="1" dirty="0">
                <a:solidFill>
                  <a:srgbClr val="E96217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DX</a:t>
            </a:r>
            <a:r>
              <a:rPr kumimoji="1" lang="ja-JP" altLang="en-US" sz="814" b="1" dirty="0">
                <a:solidFill>
                  <a:srgbClr val="E96217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センター　遠隔医療推進部門</a:t>
            </a:r>
            <a:endParaRPr lang="ja-JP" altLang="en-US" sz="814" b="1" dirty="0">
              <a:solidFill>
                <a:srgbClr val="E96217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FB445793-5C72-6AA3-0AE1-7DBEB21BEFC4}"/>
              </a:ext>
            </a:extLst>
          </p:cNvPr>
          <p:cNvGrpSpPr/>
          <p:nvPr/>
        </p:nvGrpSpPr>
        <p:grpSpPr>
          <a:xfrm rot="21349987">
            <a:off x="132831" y="516512"/>
            <a:ext cx="826785" cy="1275963"/>
            <a:chOff x="162465" y="1067934"/>
            <a:chExt cx="458808" cy="708070"/>
          </a:xfrm>
        </p:grpSpPr>
        <p:sp>
          <p:nvSpPr>
            <p:cNvPr id="7" name="四角形: 角を丸くする 6">
              <a:extLst>
                <a:ext uri="{FF2B5EF4-FFF2-40B4-BE49-F238E27FC236}">
                  <a16:creationId xmlns:a16="http://schemas.microsoft.com/office/drawing/2014/main" id="{20E7567C-1CD7-1764-3ECA-4A9029988912}"/>
                </a:ext>
              </a:extLst>
            </p:cNvPr>
            <p:cNvSpPr/>
            <p:nvPr/>
          </p:nvSpPr>
          <p:spPr>
            <a:xfrm>
              <a:off x="162465" y="1067934"/>
              <a:ext cx="458808" cy="708070"/>
            </a:xfrm>
            <a:prstGeom prst="roundRect">
              <a:avLst/>
            </a:prstGeom>
            <a:gradFill flip="none" rotWithShape="1">
              <a:gsLst>
                <a:gs pos="0">
                  <a:srgbClr val="E96217"/>
                </a:gs>
                <a:gs pos="39000">
                  <a:srgbClr val="ED7E41"/>
                </a:gs>
                <a:gs pos="100000">
                  <a:schemeClr val="accent2">
                    <a:tint val="23500"/>
                    <a:satMod val="160000"/>
                  </a:schemeClr>
                </a:gs>
              </a:gsLst>
              <a:path path="circle">
                <a:fillToRect t="100000" r="100000"/>
              </a:path>
              <a:tileRect l="-100000" b="-100000"/>
            </a:gra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911"/>
            </a:p>
          </p:txBody>
        </p:sp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2EA07D6A-0F59-E23F-EE95-F0210CDC58B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backgroundRemoval t="7504" b="89994" l="9980" r="89970">
                          <a14:foregroundMark x1="41758" y1="10951" x2="41758" y2="10951"/>
                          <a14:foregroundMark x1="49206" y1="7504" x2="49206" y2="7504"/>
                          <a14:foregroundMark x1="49950" y1="31518" x2="49950" y2="31518"/>
                          <a14:foregroundMark x1="49950" y1="32462" x2="49950" y2="32462"/>
                          <a14:foregroundMark x1="45531" y1="43747" x2="45531" y2="43747"/>
                          <a14:foregroundMark x1="49355" y1="43079" x2="49355" y2="43079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2111" t="5372" r="25903" b="5550"/>
            <a:stretch>
              <a:fillRect/>
            </a:stretch>
          </p:blipFill>
          <p:spPr>
            <a:xfrm>
              <a:off x="168145" y="1085593"/>
              <a:ext cx="446654" cy="68363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047487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692F38-35A1-26A8-9C33-70BE088FB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805B4C68-CA7D-85F1-F90B-6F97783810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357" b="31469"/>
          <a:stretch>
            <a:fillRect/>
          </a:stretch>
        </p:blipFill>
        <p:spPr>
          <a:xfrm>
            <a:off x="62691" y="205338"/>
            <a:ext cx="3151221" cy="1612608"/>
          </a:xfrm>
          <a:prstGeom prst="rect">
            <a:avLst/>
          </a:prstGeom>
          <a:effectLst>
            <a:softEdge rad="127000"/>
          </a:effectLst>
        </p:spPr>
      </p:pic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F8C986EE-D42A-EC6C-092E-8366D8043751}"/>
              </a:ext>
            </a:extLst>
          </p:cNvPr>
          <p:cNvSpPr/>
          <p:nvPr/>
        </p:nvSpPr>
        <p:spPr>
          <a:xfrm>
            <a:off x="62690" y="-1"/>
            <a:ext cx="3151220" cy="1979613"/>
          </a:xfrm>
          <a:prstGeom prst="roundRect">
            <a:avLst>
              <a:gd name="adj" fmla="val 13559"/>
            </a:avLst>
          </a:prstGeom>
          <a:noFill/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3293" tIns="36647" rIns="73293" bIns="0" rtlCol="0" anchor="b">
            <a:noAutofit/>
          </a:bodyPr>
          <a:lstStyle/>
          <a:p>
            <a:pPr algn="ctr"/>
            <a:endParaRPr kumimoji="1" lang="ja-JP" altLang="en-US" sz="611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7B982660-7DEC-73BD-F4C3-25F7032B4719}"/>
              </a:ext>
            </a:extLst>
          </p:cNvPr>
          <p:cNvSpPr/>
          <p:nvPr/>
        </p:nvSpPr>
        <p:spPr>
          <a:xfrm>
            <a:off x="282232" y="1286282"/>
            <a:ext cx="2721872" cy="307999"/>
          </a:xfrm>
          <a:prstGeom prst="roundRect">
            <a:avLst>
              <a:gd name="adj" fmla="val 17073"/>
            </a:avLst>
          </a:prstGeom>
          <a:solidFill>
            <a:srgbClr val="FFFFFF">
              <a:alpha val="94902"/>
            </a:srgbClr>
          </a:solidFill>
          <a:ln w="6350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[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お問い合わせ</a:t>
            </a:r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]</a:t>
            </a:r>
          </a:p>
          <a:p>
            <a:pPr algn="ctr"/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秋田大学医学部附属</a:t>
            </a:r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 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病院医療</a:t>
            </a:r>
            <a:r>
              <a:rPr kumimoji="1" lang="en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DX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センター</a:t>
            </a:r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 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遠隔医療推進部門（</a:t>
            </a:r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AUTELM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）</a:t>
            </a:r>
          </a:p>
          <a:p>
            <a:pPr algn="ctr"/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電話：</a:t>
            </a:r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018-801-7179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　</a:t>
            </a:r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 e-mail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：</a:t>
            </a:r>
            <a:r>
              <a:rPr kumimoji="1" lang="en-US" altLang="ja-JP" sz="611" dirty="0" err="1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enkakuiryo@jimu.akita-u.ac.jp</a:t>
            </a:r>
            <a:endParaRPr kumimoji="1" lang="en-US" altLang="ja-JP" sz="611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04E78D65-6EFB-3A0D-EAAE-C3CFC4D5B23D}"/>
              </a:ext>
            </a:extLst>
          </p:cNvPr>
          <p:cNvSpPr/>
          <p:nvPr/>
        </p:nvSpPr>
        <p:spPr>
          <a:xfrm>
            <a:off x="251114" y="1777441"/>
            <a:ext cx="2769409" cy="133908"/>
          </a:xfrm>
          <a:prstGeom prst="roundRect">
            <a:avLst>
              <a:gd name="adj" fmla="val 17073"/>
            </a:avLst>
          </a:prstGeom>
          <a:noFill/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「名刺代わりに」は、秋田大学発ベンチャー、</a:t>
            </a:r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AUIC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が提供しています。</a:t>
            </a:r>
            <a:endParaRPr kumimoji="1" lang="en-US" altLang="ja-JP" sz="611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8317E0A-4C6C-27B9-F311-9FC627C112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450" y="1790539"/>
            <a:ext cx="113518" cy="113518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7451CE45-C366-986F-5F6E-66771A25CB4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2178" y="1747291"/>
            <a:ext cx="183585" cy="183585"/>
          </a:xfrm>
          <a:prstGeom prst="rect">
            <a:avLst/>
          </a:prstGeom>
        </p:spPr>
      </p:pic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54F43CF3-7866-6A7B-64F1-4C4A336DF953}"/>
              </a:ext>
            </a:extLst>
          </p:cNvPr>
          <p:cNvGrpSpPr/>
          <p:nvPr/>
        </p:nvGrpSpPr>
        <p:grpSpPr>
          <a:xfrm>
            <a:off x="162431" y="369284"/>
            <a:ext cx="2858091" cy="858296"/>
            <a:chOff x="131877" y="-1034982"/>
            <a:chExt cx="2807668" cy="843154"/>
          </a:xfrm>
        </p:grpSpPr>
        <p:grpSp>
          <p:nvGrpSpPr>
            <p:cNvPr id="20" name="グループ化 19">
              <a:extLst>
                <a:ext uri="{FF2B5EF4-FFF2-40B4-BE49-F238E27FC236}">
                  <a16:creationId xmlns:a16="http://schemas.microsoft.com/office/drawing/2014/main" id="{195BE381-C979-D11F-7A27-86F37C26B265}"/>
                </a:ext>
              </a:extLst>
            </p:cNvPr>
            <p:cNvGrpSpPr/>
            <p:nvPr/>
          </p:nvGrpSpPr>
          <p:grpSpPr>
            <a:xfrm>
              <a:off x="131877" y="-1034982"/>
              <a:ext cx="2006390" cy="843154"/>
              <a:chOff x="187535" y="250086"/>
              <a:chExt cx="2720550" cy="843154"/>
            </a:xfrm>
          </p:grpSpPr>
          <p:grpSp>
            <p:nvGrpSpPr>
              <p:cNvPr id="15" name="グループ化 14">
                <a:extLst>
                  <a:ext uri="{FF2B5EF4-FFF2-40B4-BE49-F238E27FC236}">
                    <a16:creationId xmlns:a16="http://schemas.microsoft.com/office/drawing/2014/main" id="{A56E6B5B-F1D6-B723-535E-D36FBD80C6CF}"/>
                  </a:ext>
                </a:extLst>
              </p:cNvPr>
              <p:cNvGrpSpPr/>
              <p:nvPr/>
            </p:nvGrpSpPr>
            <p:grpSpPr>
              <a:xfrm>
                <a:off x="187535" y="250086"/>
                <a:ext cx="2720550" cy="843154"/>
                <a:chOff x="187535" y="250086"/>
                <a:chExt cx="2720550" cy="843154"/>
              </a:xfrm>
            </p:grpSpPr>
            <p:sp>
              <p:nvSpPr>
                <p:cNvPr id="12" name="四角形: 角を丸くする 15">
                  <a:extLst>
                    <a:ext uri="{FF2B5EF4-FFF2-40B4-BE49-F238E27FC236}">
                      <a16:creationId xmlns:a16="http://schemas.microsoft.com/office/drawing/2014/main" id="{590B4CE5-DCC9-C69D-3215-41F14701EE61}"/>
                    </a:ext>
                  </a:extLst>
                </p:cNvPr>
                <p:cNvSpPr/>
                <p:nvPr/>
              </p:nvSpPr>
              <p:spPr>
                <a:xfrm>
                  <a:off x="234235" y="250086"/>
                  <a:ext cx="2627152" cy="843154"/>
                </a:xfrm>
                <a:prstGeom prst="roundRect">
                  <a:avLst>
                    <a:gd name="adj" fmla="val 13559"/>
                  </a:avLst>
                </a:prstGeom>
                <a:solidFill>
                  <a:srgbClr val="FFFFFF">
                    <a:alpha val="94902"/>
                  </a:srgbClr>
                </a:solidFill>
                <a:ln w="635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73293" tIns="36647" rIns="73293" bIns="0" rtlCol="0" anchor="b">
                  <a:noAutofit/>
                </a:bodyPr>
                <a:lstStyle/>
                <a:p>
                  <a:pPr algn="ctr"/>
                  <a:r>
                    <a:rPr kumimoji="1" lang="ja-JP" altLang="en-US" sz="509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本カードを破損・紛失された場合、または使用期限を過ぎた場合は、お品</a:t>
                  </a:r>
                  <a:r>
                    <a:rPr kumimoji="1" lang="ja-JP" altLang="en-US" sz="509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ものをご提供</a:t>
                  </a:r>
                  <a:r>
                    <a:rPr kumimoji="1" lang="ja-JP" altLang="en-US" sz="509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できかねますので、あらかじめご了承くださいますようお願いいたします。</a:t>
                  </a:r>
                </a:p>
              </p:txBody>
            </p:sp>
            <p:sp>
              <p:nvSpPr>
                <p:cNvPr id="13" name="四角形: 角を丸くする 4">
                  <a:extLst>
                    <a:ext uri="{FF2B5EF4-FFF2-40B4-BE49-F238E27FC236}">
                      <a16:creationId xmlns:a16="http://schemas.microsoft.com/office/drawing/2014/main" id="{F7791EA4-80C1-EB36-4998-21C865E13142}"/>
                    </a:ext>
                  </a:extLst>
                </p:cNvPr>
                <p:cNvSpPr/>
                <p:nvPr/>
              </p:nvSpPr>
              <p:spPr>
                <a:xfrm>
                  <a:off x="313411" y="533760"/>
                  <a:ext cx="667368" cy="211760"/>
                </a:xfrm>
                <a:prstGeom prst="roundRect">
                  <a:avLst>
                    <a:gd name="adj" fmla="val 6665"/>
                  </a:avLst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kumimoji="1" lang="en-US" altLang="ja-JP" sz="814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PINCODE</a:t>
                  </a:r>
                </a:p>
              </p:txBody>
            </p:sp>
            <p:sp>
              <p:nvSpPr>
                <p:cNvPr id="14" name="四角形: 角を丸くする 24">
                  <a:extLst>
                    <a:ext uri="{FF2B5EF4-FFF2-40B4-BE49-F238E27FC236}">
                      <a16:creationId xmlns:a16="http://schemas.microsoft.com/office/drawing/2014/main" id="{644C2461-8C43-AA08-E17D-6F66BC64713A}"/>
                    </a:ext>
                  </a:extLst>
                </p:cNvPr>
                <p:cNvSpPr/>
                <p:nvPr/>
              </p:nvSpPr>
              <p:spPr>
                <a:xfrm>
                  <a:off x="187535" y="287429"/>
                  <a:ext cx="2720550" cy="164630"/>
                </a:xfrm>
                <a:prstGeom prst="roundRect">
                  <a:avLst>
                    <a:gd name="adj" fmla="val 17073"/>
                  </a:avLst>
                </a:prstGeom>
                <a:noFill/>
                <a:ln w="6350">
                  <a:noFill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ja-JP" altLang="en-US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［使用期限：</a:t>
                  </a:r>
                  <a:r>
                    <a:rPr kumimoji="1" lang="en-US" altLang="ja-JP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2027</a:t>
                  </a:r>
                  <a:r>
                    <a:rPr kumimoji="1" lang="ja-JP" altLang="en-US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 年 </a:t>
                  </a:r>
                  <a:r>
                    <a:rPr kumimoji="1" lang="en-US" altLang="ja-JP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3</a:t>
                  </a:r>
                  <a:r>
                    <a:rPr kumimoji="1" lang="ja-JP" altLang="en-US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 月 </a:t>
                  </a:r>
                  <a:r>
                    <a:rPr kumimoji="1" lang="en-US" altLang="ja-JP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31</a:t>
                  </a:r>
                  <a:r>
                    <a:rPr kumimoji="1" lang="ja-JP" altLang="en-US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 日 </a:t>
                  </a:r>
                  <a:r>
                    <a:rPr kumimoji="1" lang="en-US" altLang="ja-JP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23</a:t>
                  </a:r>
                  <a:r>
                    <a:rPr kumimoji="1" lang="ja-JP" altLang="en-US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：</a:t>
                  </a:r>
                  <a:r>
                    <a:rPr kumimoji="1" lang="en-US" altLang="ja-JP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59</a:t>
                  </a:r>
                  <a:r>
                    <a:rPr kumimoji="1" lang="ja-JP" altLang="en-US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まで］</a:t>
                  </a:r>
                </a:p>
              </p:txBody>
            </p:sp>
          </p:grpSp>
          <p:sp>
            <p:nvSpPr>
              <p:cNvPr id="17" name="四角形: 角を丸くする 1">
                <a:extLst>
                  <a:ext uri="{FF2B5EF4-FFF2-40B4-BE49-F238E27FC236}">
                    <a16:creationId xmlns:a16="http://schemas.microsoft.com/office/drawing/2014/main" id="{6AE09F98-064C-A3BE-D999-203EFB7206A6}"/>
                  </a:ext>
                </a:extLst>
              </p:cNvPr>
              <p:cNvSpPr/>
              <p:nvPr/>
            </p:nvSpPr>
            <p:spPr>
              <a:xfrm>
                <a:off x="1027479" y="526123"/>
                <a:ext cx="1731189" cy="215018"/>
              </a:xfrm>
              <a:prstGeom prst="roundRect">
                <a:avLst>
                  <a:gd name="adj" fmla="val 6665"/>
                </a:avLst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ja-JP" sz="1911" dirty="0">
                    <a:solidFill>
                      <a:schemeClr val="tx1"/>
                    </a:solidFill>
                    <a:latin typeface="UD デジタル 教科書体 NP-R" panose="02020400000000000000" pitchFamily="18" charset="-128"/>
                    <a:ea typeface="UD デジタル 教科書体 NP-R" panose="02020400000000000000" pitchFamily="18" charset="-128"/>
                  </a:rPr>
                  <a:t>12345678</a:t>
                </a:r>
                <a:endParaRPr kumimoji="1" lang="ja-JP" altLang="en-US" sz="814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endParaRPr>
              </a:p>
            </p:txBody>
          </p:sp>
        </p:grpSp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9B7DED97-76D4-1C41-E289-282E3A3DDA6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sharpenSoften amount="100000"/>
                      </a14:imgEffect>
                      <a14:imgEffect>
                        <a14:brightnessContrast contrast="100000"/>
                      </a14:imgEffect>
                    </a14:imgLayer>
                  </a14:imgProps>
                </a:ext>
              </a:extLst>
            </a:blip>
            <a:srcRect r="2295"/>
            <a:stretch>
              <a:fillRect/>
            </a:stretch>
          </p:blipFill>
          <p:spPr>
            <a:xfrm>
              <a:off x="2175532" y="-1004383"/>
              <a:ext cx="764013" cy="781956"/>
            </a:xfrm>
            <a:prstGeom prst="rect">
              <a:avLst/>
            </a:prstGeom>
            <a:ln w="38100">
              <a:solidFill>
                <a:schemeClr val="bg1"/>
              </a:solidFill>
            </a:ln>
            <a:effectLst/>
          </p:spPr>
        </p:pic>
      </p:grp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8A8F1705-08C5-C6FF-2A78-5C90057E04D3}"/>
              </a:ext>
            </a:extLst>
          </p:cNvPr>
          <p:cNvSpPr/>
          <p:nvPr/>
        </p:nvSpPr>
        <p:spPr>
          <a:xfrm>
            <a:off x="82102" y="82468"/>
            <a:ext cx="3122131" cy="122871"/>
          </a:xfrm>
          <a:prstGeom prst="roundRect">
            <a:avLst>
              <a:gd name="adj" fmla="val 6665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ja-JP" altLang="en-US" sz="916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アクリルキーホルダーの受け取りは</a:t>
            </a:r>
            <a:r>
              <a:rPr kumimoji="1" lang="en-US" altLang="ja-JP" sz="916" b="1" dirty="0">
                <a:solidFill>
                  <a:srgbClr val="E96217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QR</a:t>
            </a:r>
            <a:r>
              <a:rPr kumimoji="1" lang="ja-JP" altLang="en-US" sz="916" b="1" dirty="0">
                <a:solidFill>
                  <a:srgbClr val="E96217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コード</a:t>
            </a:r>
            <a:r>
              <a:rPr kumimoji="1" lang="ja-JP" altLang="en-US" sz="916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からお申し込みください</a:t>
            </a:r>
            <a:endParaRPr lang="ja-JP" altLang="en-US" sz="2850" dirty="0"/>
          </a:p>
        </p:txBody>
      </p:sp>
    </p:spTree>
    <p:extLst>
      <p:ext uri="{BB962C8B-B14F-4D97-AF65-F5344CB8AC3E}">
        <p14:creationId xmlns:p14="http://schemas.microsoft.com/office/powerpoint/2010/main" val="32818150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A5C569-A84B-210B-D8E4-0C5F1FFBD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43FE4C94-0751-5C94-867A-DE44388899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357" b="31469"/>
          <a:stretch>
            <a:fillRect/>
          </a:stretch>
        </p:blipFill>
        <p:spPr>
          <a:xfrm>
            <a:off x="62691" y="205338"/>
            <a:ext cx="3151221" cy="1612608"/>
          </a:xfrm>
          <a:prstGeom prst="rect">
            <a:avLst/>
          </a:prstGeom>
          <a:effectLst>
            <a:softEdge rad="127000"/>
          </a:effectLst>
        </p:spPr>
      </p:pic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6F4C3A7F-F5FA-1400-8801-2D40B1F7B397}"/>
              </a:ext>
            </a:extLst>
          </p:cNvPr>
          <p:cNvSpPr/>
          <p:nvPr/>
        </p:nvSpPr>
        <p:spPr>
          <a:xfrm>
            <a:off x="62690" y="-1"/>
            <a:ext cx="3151220" cy="1979613"/>
          </a:xfrm>
          <a:prstGeom prst="roundRect">
            <a:avLst>
              <a:gd name="adj" fmla="val 13559"/>
            </a:avLst>
          </a:prstGeom>
          <a:noFill/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3293" tIns="36647" rIns="73293" bIns="0" rtlCol="0" anchor="b">
            <a:noAutofit/>
          </a:bodyPr>
          <a:lstStyle/>
          <a:p>
            <a:pPr algn="ctr"/>
            <a:endParaRPr kumimoji="1" lang="ja-JP" altLang="en-US" sz="611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01B995C1-1F14-341E-DD1F-587C537EB0E0}"/>
              </a:ext>
            </a:extLst>
          </p:cNvPr>
          <p:cNvSpPr/>
          <p:nvPr/>
        </p:nvSpPr>
        <p:spPr>
          <a:xfrm>
            <a:off x="282232" y="1286282"/>
            <a:ext cx="2721872" cy="307999"/>
          </a:xfrm>
          <a:prstGeom prst="roundRect">
            <a:avLst>
              <a:gd name="adj" fmla="val 17073"/>
            </a:avLst>
          </a:prstGeom>
          <a:solidFill>
            <a:srgbClr val="FFFFFF">
              <a:alpha val="94902"/>
            </a:srgbClr>
          </a:solidFill>
          <a:ln w="6350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[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お問い合わせ</a:t>
            </a:r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]</a:t>
            </a:r>
          </a:p>
          <a:p>
            <a:pPr algn="ctr"/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秋田大学医学部附属</a:t>
            </a:r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 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病院医療</a:t>
            </a:r>
            <a:r>
              <a:rPr kumimoji="1" lang="en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DX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センター</a:t>
            </a:r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 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遠隔医療推進部門（</a:t>
            </a:r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AUTELM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）</a:t>
            </a:r>
          </a:p>
          <a:p>
            <a:pPr algn="ctr"/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電話：</a:t>
            </a:r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018-801-7179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　</a:t>
            </a:r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 e-mail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：</a:t>
            </a:r>
            <a:r>
              <a:rPr kumimoji="1" lang="en-US" altLang="ja-JP" sz="611" dirty="0" err="1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enkakuiryo@jimu.akita-u.ac.jp</a:t>
            </a:r>
            <a:endParaRPr kumimoji="1" lang="en-US" altLang="ja-JP" sz="611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4F19A8C5-FD52-AFC4-F6AC-DD2C3DC0BDEA}"/>
              </a:ext>
            </a:extLst>
          </p:cNvPr>
          <p:cNvSpPr/>
          <p:nvPr/>
        </p:nvSpPr>
        <p:spPr>
          <a:xfrm>
            <a:off x="251114" y="1777441"/>
            <a:ext cx="2769409" cy="133908"/>
          </a:xfrm>
          <a:prstGeom prst="roundRect">
            <a:avLst>
              <a:gd name="adj" fmla="val 17073"/>
            </a:avLst>
          </a:prstGeom>
          <a:noFill/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「名刺代わりに」は、秋田大学発ベンチャー、</a:t>
            </a:r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AUIC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が提供しています。</a:t>
            </a:r>
            <a:endParaRPr kumimoji="1" lang="en-US" altLang="ja-JP" sz="611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076C365-5DFC-061C-6C53-863D171847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450" y="1790539"/>
            <a:ext cx="113518" cy="113518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3C115758-B4E6-85D6-7D75-18638EF41BC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2178" y="1747291"/>
            <a:ext cx="183585" cy="183585"/>
          </a:xfrm>
          <a:prstGeom prst="rect">
            <a:avLst/>
          </a:prstGeom>
        </p:spPr>
      </p:pic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0224C258-E085-E587-82F4-8D5A64D0836C}"/>
              </a:ext>
            </a:extLst>
          </p:cNvPr>
          <p:cNvGrpSpPr/>
          <p:nvPr/>
        </p:nvGrpSpPr>
        <p:grpSpPr>
          <a:xfrm>
            <a:off x="162431" y="369284"/>
            <a:ext cx="2858091" cy="858296"/>
            <a:chOff x="131877" y="-1034982"/>
            <a:chExt cx="2807668" cy="843154"/>
          </a:xfrm>
        </p:grpSpPr>
        <p:grpSp>
          <p:nvGrpSpPr>
            <p:cNvPr id="20" name="グループ化 19">
              <a:extLst>
                <a:ext uri="{FF2B5EF4-FFF2-40B4-BE49-F238E27FC236}">
                  <a16:creationId xmlns:a16="http://schemas.microsoft.com/office/drawing/2014/main" id="{85DC9574-A929-E78E-C10E-25E9E451AC74}"/>
                </a:ext>
              </a:extLst>
            </p:cNvPr>
            <p:cNvGrpSpPr/>
            <p:nvPr/>
          </p:nvGrpSpPr>
          <p:grpSpPr>
            <a:xfrm>
              <a:off x="131877" y="-1034982"/>
              <a:ext cx="2006390" cy="843154"/>
              <a:chOff x="187535" y="250086"/>
              <a:chExt cx="2720550" cy="843154"/>
            </a:xfrm>
          </p:grpSpPr>
          <p:grpSp>
            <p:nvGrpSpPr>
              <p:cNvPr id="15" name="グループ化 14">
                <a:extLst>
                  <a:ext uri="{FF2B5EF4-FFF2-40B4-BE49-F238E27FC236}">
                    <a16:creationId xmlns:a16="http://schemas.microsoft.com/office/drawing/2014/main" id="{E4BB7DEF-0829-674C-C456-E2C4E06DBB8A}"/>
                  </a:ext>
                </a:extLst>
              </p:cNvPr>
              <p:cNvGrpSpPr/>
              <p:nvPr/>
            </p:nvGrpSpPr>
            <p:grpSpPr>
              <a:xfrm>
                <a:off x="187535" y="250086"/>
                <a:ext cx="2720550" cy="843154"/>
                <a:chOff x="187535" y="250086"/>
                <a:chExt cx="2720550" cy="843154"/>
              </a:xfrm>
            </p:grpSpPr>
            <p:sp>
              <p:nvSpPr>
                <p:cNvPr id="12" name="四角形: 角を丸くする 15">
                  <a:extLst>
                    <a:ext uri="{FF2B5EF4-FFF2-40B4-BE49-F238E27FC236}">
                      <a16:creationId xmlns:a16="http://schemas.microsoft.com/office/drawing/2014/main" id="{11DD4E1E-023F-E697-D49D-53A977219CDC}"/>
                    </a:ext>
                  </a:extLst>
                </p:cNvPr>
                <p:cNvSpPr/>
                <p:nvPr/>
              </p:nvSpPr>
              <p:spPr>
                <a:xfrm>
                  <a:off x="234235" y="250086"/>
                  <a:ext cx="2627152" cy="843154"/>
                </a:xfrm>
                <a:prstGeom prst="roundRect">
                  <a:avLst>
                    <a:gd name="adj" fmla="val 13559"/>
                  </a:avLst>
                </a:prstGeom>
                <a:solidFill>
                  <a:srgbClr val="FFFFFF">
                    <a:alpha val="94902"/>
                  </a:srgbClr>
                </a:solidFill>
                <a:ln w="635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73293" tIns="36647" rIns="73293" bIns="0" rtlCol="0" anchor="b">
                  <a:noAutofit/>
                </a:bodyPr>
                <a:lstStyle/>
                <a:p>
                  <a:pPr algn="ctr"/>
                  <a:r>
                    <a:rPr kumimoji="1" lang="ja-JP" altLang="en-US" sz="509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本カードを破損・紛失された場合、または使用期限を過ぎた場合は、お品</a:t>
                  </a:r>
                  <a:r>
                    <a:rPr kumimoji="1" lang="ja-JP" altLang="en-US" sz="509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ものをご提供</a:t>
                  </a:r>
                  <a:r>
                    <a:rPr kumimoji="1" lang="ja-JP" altLang="en-US" sz="509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できかねますので、あらかじめご了承くださいますようお願いいたします。</a:t>
                  </a:r>
                </a:p>
              </p:txBody>
            </p:sp>
            <p:sp>
              <p:nvSpPr>
                <p:cNvPr id="13" name="四角形: 角を丸くする 4">
                  <a:extLst>
                    <a:ext uri="{FF2B5EF4-FFF2-40B4-BE49-F238E27FC236}">
                      <a16:creationId xmlns:a16="http://schemas.microsoft.com/office/drawing/2014/main" id="{FFCBE699-E6D0-AAA1-1DE9-4BF81660D765}"/>
                    </a:ext>
                  </a:extLst>
                </p:cNvPr>
                <p:cNvSpPr/>
                <p:nvPr/>
              </p:nvSpPr>
              <p:spPr>
                <a:xfrm>
                  <a:off x="313411" y="533760"/>
                  <a:ext cx="667368" cy="211760"/>
                </a:xfrm>
                <a:prstGeom prst="roundRect">
                  <a:avLst>
                    <a:gd name="adj" fmla="val 6665"/>
                  </a:avLst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kumimoji="1" lang="en-US" altLang="ja-JP" sz="814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PINCODE</a:t>
                  </a:r>
                </a:p>
              </p:txBody>
            </p:sp>
            <p:sp>
              <p:nvSpPr>
                <p:cNvPr id="14" name="四角形: 角を丸くする 24">
                  <a:extLst>
                    <a:ext uri="{FF2B5EF4-FFF2-40B4-BE49-F238E27FC236}">
                      <a16:creationId xmlns:a16="http://schemas.microsoft.com/office/drawing/2014/main" id="{CDBA8C08-6E43-0FBE-2886-5D626938744A}"/>
                    </a:ext>
                  </a:extLst>
                </p:cNvPr>
                <p:cNvSpPr/>
                <p:nvPr/>
              </p:nvSpPr>
              <p:spPr>
                <a:xfrm>
                  <a:off x="187535" y="287429"/>
                  <a:ext cx="2720550" cy="164630"/>
                </a:xfrm>
                <a:prstGeom prst="roundRect">
                  <a:avLst>
                    <a:gd name="adj" fmla="val 17073"/>
                  </a:avLst>
                </a:prstGeom>
                <a:noFill/>
                <a:ln w="6350">
                  <a:noFill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ja-JP" altLang="en-US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［使用期限：</a:t>
                  </a:r>
                  <a:r>
                    <a:rPr kumimoji="1" lang="en-US" altLang="ja-JP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2027</a:t>
                  </a:r>
                  <a:r>
                    <a:rPr kumimoji="1" lang="ja-JP" altLang="en-US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 年 </a:t>
                  </a:r>
                  <a:r>
                    <a:rPr kumimoji="1" lang="en-US" altLang="ja-JP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3</a:t>
                  </a:r>
                  <a:r>
                    <a:rPr kumimoji="1" lang="ja-JP" altLang="en-US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 月 </a:t>
                  </a:r>
                  <a:r>
                    <a:rPr kumimoji="1" lang="en-US" altLang="ja-JP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31</a:t>
                  </a:r>
                  <a:r>
                    <a:rPr kumimoji="1" lang="ja-JP" altLang="en-US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 日 </a:t>
                  </a:r>
                  <a:r>
                    <a:rPr kumimoji="1" lang="en-US" altLang="ja-JP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23</a:t>
                  </a:r>
                  <a:r>
                    <a:rPr kumimoji="1" lang="ja-JP" altLang="en-US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：</a:t>
                  </a:r>
                  <a:r>
                    <a:rPr kumimoji="1" lang="en-US" altLang="ja-JP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59</a:t>
                  </a:r>
                  <a:r>
                    <a:rPr kumimoji="1" lang="ja-JP" altLang="en-US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まで］</a:t>
                  </a:r>
                </a:p>
              </p:txBody>
            </p:sp>
          </p:grpSp>
          <p:sp>
            <p:nvSpPr>
              <p:cNvPr id="17" name="四角形: 角を丸くする 1">
                <a:extLst>
                  <a:ext uri="{FF2B5EF4-FFF2-40B4-BE49-F238E27FC236}">
                    <a16:creationId xmlns:a16="http://schemas.microsoft.com/office/drawing/2014/main" id="{C01866DA-AECA-94B4-7BD7-E904377B8D9D}"/>
                  </a:ext>
                </a:extLst>
              </p:cNvPr>
              <p:cNvSpPr/>
              <p:nvPr/>
            </p:nvSpPr>
            <p:spPr>
              <a:xfrm>
                <a:off x="1027479" y="526123"/>
                <a:ext cx="1731189" cy="215018"/>
              </a:xfrm>
              <a:prstGeom prst="roundRect">
                <a:avLst>
                  <a:gd name="adj" fmla="val 6665"/>
                </a:avLst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kumimoji="1" lang="ja-JP" altLang="en-US" sz="814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endParaRPr>
              </a:p>
            </p:txBody>
          </p:sp>
        </p:grpSp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12F7612E-ECDE-D5E9-A0A5-905F0ACAAA1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sharpenSoften amount="100000"/>
                      </a14:imgEffect>
                      <a14:imgEffect>
                        <a14:brightnessContrast contrast="100000"/>
                      </a14:imgEffect>
                    </a14:imgLayer>
                  </a14:imgProps>
                </a:ext>
              </a:extLst>
            </a:blip>
            <a:srcRect r="2295"/>
            <a:stretch>
              <a:fillRect/>
            </a:stretch>
          </p:blipFill>
          <p:spPr>
            <a:xfrm>
              <a:off x="2175532" y="-1004383"/>
              <a:ext cx="764013" cy="781956"/>
            </a:xfrm>
            <a:prstGeom prst="rect">
              <a:avLst/>
            </a:prstGeom>
            <a:ln w="38100">
              <a:solidFill>
                <a:schemeClr val="bg1"/>
              </a:solidFill>
            </a:ln>
            <a:effectLst/>
          </p:spPr>
        </p:pic>
      </p:grp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80385A46-2623-34E5-9518-4C8E5A978BF6}"/>
              </a:ext>
            </a:extLst>
          </p:cNvPr>
          <p:cNvSpPr/>
          <p:nvPr/>
        </p:nvSpPr>
        <p:spPr>
          <a:xfrm>
            <a:off x="82102" y="82468"/>
            <a:ext cx="3122131" cy="122871"/>
          </a:xfrm>
          <a:prstGeom prst="roundRect">
            <a:avLst>
              <a:gd name="adj" fmla="val 6665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ja-JP" altLang="en-US" sz="916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アクリルキーホルダーの受け取りは</a:t>
            </a:r>
            <a:r>
              <a:rPr kumimoji="1" lang="en-US" altLang="ja-JP" sz="916" b="1" dirty="0">
                <a:solidFill>
                  <a:srgbClr val="E96217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QR</a:t>
            </a:r>
            <a:r>
              <a:rPr kumimoji="1" lang="ja-JP" altLang="en-US" sz="916" b="1" dirty="0">
                <a:solidFill>
                  <a:srgbClr val="E96217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コード</a:t>
            </a:r>
            <a:r>
              <a:rPr kumimoji="1" lang="ja-JP" altLang="en-US" sz="916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からお申し込みください</a:t>
            </a:r>
            <a:endParaRPr lang="ja-JP" altLang="en-US" sz="2850" dirty="0"/>
          </a:p>
        </p:txBody>
      </p:sp>
    </p:spTree>
    <p:extLst>
      <p:ext uri="{BB962C8B-B14F-4D97-AF65-F5344CB8AC3E}">
        <p14:creationId xmlns:p14="http://schemas.microsoft.com/office/powerpoint/2010/main" val="40542589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4B101B0-9C1A-F279-34D9-F8FA6181E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参考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0920A03-E3F3-0E6F-F945-5A75700BD8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56629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8C7E02-1C64-E337-C6E4-2EBD0F114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BA6C0786-4367-6430-D180-D12D386B1BCB}"/>
              </a:ext>
            </a:extLst>
          </p:cNvPr>
          <p:cNvGrpSpPr/>
          <p:nvPr/>
        </p:nvGrpSpPr>
        <p:grpSpPr>
          <a:xfrm>
            <a:off x="62688" y="-1"/>
            <a:ext cx="3151221" cy="1979614"/>
            <a:chOff x="-2" y="-1"/>
            <a:chExt cx="3095626" cy="1944689"/>
          </a:xfrm>
        </p:grpSpPr>
        <p:sp>
          <p:nvSpPr>
            <p:cNvPr id="2" name="四角形: 角を丸くする 1">
              <a:extLst>
                <a:ext uri="{FF2B5EF4-FFF2-40B4-BE49-F238E27FC236}">
                  <a16:creationId xmlns:a16="http://schemas.microsoft.com/office/drawing/2014/main" id="{1D9419C8-BB72-E58B-C398-CE8E359F874D}"/>
                </a:ext>
              </a:extLst>
            </p:cNvPr>
            <p:cNvSpPr/>
            <p:nvPr/>
          </p:nvSpPr>
          <p:spPr>
            <a:xfrm>
              <a:off x="-2" y="-1"/>
              <a:ext cx="3095625" cy="1944687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kumimoji="1" lang="ja-JP" altLang="en-US" sz="611" dirty="0">
                <a:solidFill>
                  <a:schemeClr val="tx1"/>
                </a:solidFill>
                <a:latin typeface="UD デジタル 教科書体 NP-R" panose="020B0400000000000000" pitchFamily="18" charset="-128"/>
                <a:ea typeface="UD デジタル 教科書体 NP-R" panose="020B0400000000000000" pitchFamily="18" charset="-128"/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316C341E-C01A-7285-1C3A-F666EBE28AAC}"/>
                </a:ext>
              </a:extLst>
            </p:cNvPr>
            <p:cNvSpPr/>
            <p:nvPr/>
          </p:nvSpPr>
          <p:spPr>
            <a:xfrm>
              <a:off x="-1" y="5074"/>
              <a:ext cx="3095625" cy="1939614"/>
            </a:xfrm>
            <a:prstGeom prst="roundRect">
              <a:avLst>
                <a:gd name="adj" fmla="val 13559"/>
              </a:avLst>
            </a:prstGeom>
            <a:noFill/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3293" tIns="36647" rIns="73293" bIns="0" rtlCol="0" anchor="b">
              <a:noAutofit/>
            </a:bodyPr>
            <a:lstStyle/>
            <a:p>
              <a:pPr algn="ctr"/>
              <a:endParaRPr kumimoji="1" lang="ja-JP" altLang="en-US" sz="611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endParaRPr>
            </a:p>
          </p:txBody>
        </p:sp>
        <p:sp>
          <p:nvSpPr>
            <p:cNvPr id="31" name="四角形: 角を丸くする 30">
              <a:extLst>
                <a:ext uri="{FF2B5EF4-FFF2-40B4-BE49-F238E27FC236}">
                  <a16:creationId xmlns:a16="http://schemas.microsoft.com/office/drawing/2014/main" id="{7AB0A86A-BA7D-4AE4-6112-6AB89727FAD0}"/>
                </a:ext>
              </a:extLst>
            </p:cNvPr>
            <p:cNvSpPr/>
            <p:nvPr/>
          </p:nvSpPr>
          <p:spPr>
            <a:xfrm>
              <a:off x="647801" y="392264"/>
              <a:ext cx="1153343" cy="214457"/>
            </a:xfrm>
            <a:prstGeom prst="roundRect">
              <a:avLst>
                <a:gd name="adj" fmla="val 6665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kumimoji="1" lang="ja-JP" altLang="en-US" sz="814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endParaRPr>
            </a:p>
          </p:txBody>
        </p:sp>
        <p:sp>
          <p:nvSpPr>
            <p:cNvPr id="4" name="四角形: 角を丸くする 3">
              <a:extLst>
                <a:ext uri="{FF2B5EF4-FFF2-40B4-BE49-F238E27FC236}">
                  <a16:creationId xmlns:a16="http://schemas.microsoft.com/office/drawing/2014/main" id="{ABF84064-9FFE-A3EC-898C-56EEEE684D62}"/>
                </a:ext>
              </a:extLst>
            </p:cNvPr>
            <p:cNvSpPr/>
            <p:nvPr/>
          </p:nvSpPr>
          <p:spPr>
            <a:xfrm>
              <a:off x="215106" y="1793322"/>
              <a:ext cx="2654348" cy="120703"/>
            </a:xfrm>
            <a:prstGeom prst="roundRect">
              <a:avLst>
                <a:gd name="adj" fmla="val 6665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kumimoji="1" lang="ja-JP" altLang="en-US" sz="611" dirty="0">
                  <a:solidFill>
                    <a:schemeClr val="tx1"/>
                  </a:solidFill>
                  <a:latin typeface="UD デジタル 教科書体 NP-R" panose="020B0400000000000000" pitchFamily="18" charset="-128"/>
                  <a:ea typeface="UD デジタル 教科書体 NP-R" panose="020B0400000000000000" pitchFamily="18" charset="-128"/>
                </a:rPr>
                <a:t>とけない、われない、かさばらない！　カードで送る新習慣＠名刺代わりに</a:t>
              </a:r>
            </a:p>
          </p:txBody>
        </p:sp>
        <p:sp>
          <p:nvSpPr>
            <p:cNvPr id="10" name="四角形: 角を丸くする 9">
              <a:extLst>
                <a:ext uri="{FF2B5EF4-FFF2-40B4-BE49-F238E27FC236}">
                  <a16:creationId xmlns:a16="http://schemas.microsoft.com/office/drawing/2014/main" id="{7310735D-090A-8E81-988A-CAB629D05BD6}"/>
                </a:ext>
              </a:extLst>
            </p:cNvPr>
            <p:cNvSpPr/>
            <p:nvPr/>
          </p:nvSpPr>
          <p:spPr>
            <a:xfrm>
              <a:off x="661270" y="1384028"/>
              <a:ext cx="1762019" cy="243529"/>
            </a:xfrm>
            <a:prstGeom prst="roundRect">
              <a:avLst>
                <a:gd name="adj" fmla="val 6665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kumimoji="1" lang="en-US" altLang="ja-JP" sz="916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AUTELM</a:t>
              </a:r>
              <a:r>
                <a:rPr kumimoji="1" lang="ja-JP" altLang="en-US" sz="916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　</a:t>
              </a:r>
              <a:r>
                <a:rPr kumimoji="1" lang="en-US" altLang="ja-JP" sz="916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HP</a:t>
              </a:r>
              <a:r>
                <a:rPr kumimoji="1" lang="ja-JP" altLang="en-US" sz="916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開設記念！</a:t>
              </a:r>
              <a:endParaRPr kumimoji="1" lang="en-US" altLang="ja-JP" sz="916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endParaRPr>
            </a:p>
            <a:p>
              <a:pPr algn="ctr"/>
              <a:r>
                <a:rPr kumimoji="1" lang="ja-JP" altLang="en-US" sz="916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限定“アクリルキーホルダー”</a:t>
              </a:r>
              <a:endParaRPr kumimoji="1" lang="en-US" altLang="ja-JP" sz="916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endParaRPr>
            </a:p>
            <a:p>
              <a:pPr algn="ctr"/>
              <a:r>
                <a:rPr kumimoji="1" lang="ja-JP" altLang="en-US" sz="916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プレゼント！</a:t>
              </a:r>
              <a:endParaRPr kumimoji="1" lang="en-US" altLang="ja-JP" sz="916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endParaRPr>
            </a:p>
          </p:txBody>
        </p:sp>
      </p:grpSp>
      <p:pic>
        <p:nvPicPr>
          <p:cNvPr id="16" name="図 15">
            <a:extLst>
              <a:ext uri="{FF2B5EF4-FFF2-40B4-BE49-F238E27FC236}">
                <a16:creationId xmlns:a16="http://schemas.microsoft.com/office/drawing/2014/main" id="{7D24D90A-A1AB-C0C5-52D1-456539EAFF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100000"/>
                    </a14:imgEffect>
                    <a14:imgEffect>
                      <a14:brightnessContrast contras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571009" y="1228617"/>
            <a:ext cx="552675" cy="552675"/>
          </a:xfrm>
          <a:prstGeom prst="rect">
            <a:avLst/>
          </a:prstGeom>
        </p:spPr>
      </p:pic>
      <p:grpSp>
        <p:nvGrpSpPr>
          <p:cNvPr id="25" name="グループ化 24">
            <a:extLst>
              <a:ext uri="{FF2B5EF4-FFF2-40B4-BE49-F238E27FC236}">
                <a16:creationId xmlns:a16="http://schemas.microsoft.com/office/drawing/2014/main" id="{FB7ACA9E-F2DC-C16E-D18D-34F09B812694}"/>
              </a:ext>
            </a:extLst>
          </p:cNvPr>
          <p:cNvGrpSpPr/>
          <p:nvPr/>
        </p:nvGrpSpPr>
        <p:grpSpPr>
          <a:xfrm>
            <a:off x="90803" y="1205594"/>
            <a:ext cx="732702" cy="654484"/>
            <a:chOff x="738930" y="555863"/>
            <a:chExt cx="1323512" cy="1182224"/>
          </a:xfrm>
        </p:grpSpPr>
        <p:sp>
          <p:nvSpPr>
            <p:cNvPr id="24" name="正方形/長方形 23">
              <a:extLst>
                <a:ext uri="{FF2B5EF4-FFF2-40B4-BE49-F238E27FC236}">
                  <a16:creationId xmlns:a16="http://schemas.microsoft.com/office/drawing/2014/main" id="{EC091C0B-7D45-EDAF-5289-60C6DAC8E5B1}"/>
                </a:ext>
              </a:extLst>
            </p:cNvPr>
            <p:cNvSpPr/>
            <p:nvPr/>
          </p:nvSpPr>
          <p:spPr>
            <a:xfrm>
              <a:off x="1029261" y="609599"/>
              <a:ext cx="726514" cy="1038225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911"/>
            </a:p>
          </p:txBody>
        </p:sp>
        <p:pic>
          <p:nvPicPr>
            <p:cNvPr id="23" name="図 22">
              <a:extLst>
                <a:ext uri="{FF2B5EF4-FFF2-40B4-BE49-F238E27FC236}">
                  <a16:creationId xmlns:a16="http://schemas.microsoft.com/office/drawing/2014/main" id="{E894C301-7CD6-230B-FCA8-B9E7F91E6E7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7504" b="89994" l="9980" r="89970">
                          <a14:foregroundMark x1="41758" y1="10951" x2="41758" y2="10951"/>
                          <a14:foregroundMark x1="49206" y1="7504" x2="49206" y2="7504"/>
                          <a14:foregroundMark x1="49950" y1="31518" x2="49950" y2="31518"/>
                          <a14:foregroundMark x1="49950" y1="32462" x2="49950" y2="32462"/>
                          <a14:foregroundMark x1="45531" y1="43747" x2="45531" y2="43747"/>
                          <a14:foregroundMark x1="49355" y1="43079" x2="49355" y2="43079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8930" y="555863"/>
              <a:ext cx="1323512" cy="1182224"/>
            </a:xfrm>
            <a:prstGeom prst="rect">
              <a:avLst/>
            </a:prstGeom>
          </p:spPr>
        </p:pic>
      </p:grpSp>
      <p:pic>
        <p:nvPicPr>
          <p:cNvPr id="27" name="図 26">
            <a:extLst>
              <a:ext uri="{FF2B5EF4-FFF2-40B4-BE49-F238E27FC236}">
                <a16:creationId xmlns:a16="http://schemas.microsoft.com/office/drawing/2014/main" id="{D1DFAD95-1484-497B-EBC6-7A18A125CAF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319" b="8167"/>
          <a:stretch>
            <a:fillRect/>
          </a:stretch>
        </p:blipFill>
        <p:spPr>
          <a:xfrm>
            <a:off x="126755" y="50852"/>
            <a:ext cx="3011828" cy="1133530"/>
          </a:xfrm>
          <a:prstGeom prst="rect">
            <a:avLst/>
          </a:prstGeom>
        </p:spPr>
      </p:pic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F3926109-6577-4D2E-B90E-5D658BEEA052}"/>
              </a:ext>
            </a:extLst>
          </p:cNvPr>
          <p:cNvSpPr txBox="1"/>
          <p:nvPr/>
        </p:nvSpPr>
        <p:spPr>
          <a:xfrm>
            <a:off x="80347" y="29640"/>
            <a:ext cx="3176086" cy="221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814">
                <a:solidFill>
                  <a:schemeClr val="bg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秋田大学医学部附属病院　医療</a:t>
            </a:r>
            <a:r>
              <a:rPr kumimoji="1" lang="en-US" altLang="ja-JP" sz="814" dirty="0">
                <a:solidFill>
                  <a:schemeClr val="bg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DX</a:t>
            </a:r>
            <a:r>
              <a:rPr kumimoji="1" lang="ja-JP" altLang="en-US" sz="814">
                <a:solidFill>
                  <a:schemeClr val="bg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センター　遠隔医療推進部門</a:t>
            </a:r>
            <a:endParaRPr lang="ja-JP" altLang="en-US" sz="814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190641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79A0A6-C627-E1EF-2C33-DA04DC22B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図 21">
            <a:extLst>
              <a:ext uri="{FF2B5EF4-FFF2-40B4-BE49-F238E27FC236}">
                <a16:creationId xmlns:a16="http://schemas.microsoft.com/office/drawing/2014/main" id="{EAF51891-B1C8-606F-A2C1-2A0867C04E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849" y="53482"/>
            <a:ext cx="3021939" cy="1688037"/>
          </a:xfrm>
          <a:prstGeom prst="rect">
            <a:avLst/>
          </a:prstGeom>
        </p:spPr>
      </p:pic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3A011A14-8162-9C9E-72DA-74130FD97DCF}"/>
              </a:ext>
            </a:extLst>
          </p:cNvPr>
          <p:cNvGrpSpPr/>
          <p:nvPr/>
        </p:nvGrpSpPr>
        <p:grpSpPr>
          <a:xfrm>
            <a:off x="62690" y="-1"/>
            <a:ext cx="3151220" cy="1979613"/>
            <a:chOff x="-1" y="0"/>
            <a:chExt cx="3095625" cy="1944688"/>
          </a:xfrm>
        </p:grpSpPr>
        <p:sp>
          <p:nvSpPr>
            <p:cNvPr id="6" name="四角形: 角を丸くする 5">
              <a:extLst>
                <a:ext uri="{FF2B5EF4-FFF2-40B4-BE49-F238E27FC236}">
                  <a16:creationId xmlns:a16="http://schemas.microsoft.com/office/drawing/2014/main" id="{60D33596-4E8C-FA2E-94F2-F225C44EF270}"/>
                </a:ext>
              </a:extLst>
            </p:cNvPr>
            <p:cNvSpPr/>
            <p:nvPr/>
          </p:nvSpPr>
          <p:spPr>
            <a:xfrm>
              <a:off x="-1" y="1311275"/>
              <a:ext cx="3095625" cy="633412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kumimoji="1" lang="ja-JP" altLang="en-US" sz="611" dirty="0">
                <a:solidFill>
                  <a:schemeClr val="tx1"/>
                </a:solidFill>
                <a:latin typeface="UD デジタル 教科書体 NP-R" panose="020B0400000000000000" pitchFamily="18" charset="-128"/>
                <a:ea typeface="UD デジタル 教科書体 NP-R" panose="020B0400000000000000" pitchFamily="18" charset="-128"/>
              </a:endParaRPr>
            </a:p>
          </p:txBody>
        </p:sp>
        <p:sp>
          <p:nvSpPr>
            <p:cNvPr id="27" name="四角形: 角を丸くする 26">
              <a:extLst>
                <a:ext uri="{FF2B5EF4-FFF2-40B4-BE49-F238E27FC236}">
                  <a16:creationId xmlns:a16="http://schemas.microsoft.com/office/drawing/2014/main" id="{5720E82F-A8F7-2F33-47EE-2CB001A1ABD0}"/>
                </a:ext>
              </a:extLst>
            </p:cNvPr>
            <p:cNvSpPr/>
            <p:nvPr/>
          </p:nvSpPr>
          <p:spPr>
            <a:xfrm>
              <a:off x="-1" y="0"/>
              <a:ext cx="3095625" cy="1944688"/>
            </a:xfrm>
            <a:prstGeom prst="roundRect">
              <a:avLst>
                <a:gd name="adj" fmla="val 13559"/>
              </a:avLst>
            </a:prstGeom>
            <a:noFill/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3293" tIns="36647" rIns="73293" bIns="0" rtlCol="0" anchor="b">
              <a:noAutofit/>
            </a:bodyPr>
            <a:lstStyle/>
            <a:p>
              <a:pPr algn="ctr"/>
              <a:endParaRPr kumimoji="1" lang="ja-JP" altLang="en-US" sz="611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endParaRPr>
            </a:p>
          </p:txBody>
        </p:sp>
        <p:sp>
          <p:nvSpPr>
            <p:cNvPr id="18" name="四角形: 角を丸くする 17">
              <a:extLst>
                <a:ext uri="{FF2B5EF4-FFF2-40B4-BE49-F238E27FC236}">
                  <a16:creationId xmlns:a16="http://schemas.microsoft.com/office/drawing/2014/main" id="{4CDE62F3-3BB3-74A0-99E7-D86D84B26F9B}"/>
                </a:ext>
              </a:extLst>
            </p:cNvPr>
            <p:cNvSpPr/>
            <p:nvPr/>
          </p:nvSpPr>
          <p:spPr>
            <a:xfrm>
              <a:off x="187536" y="1346585"/>
              <a:ext cx="2673852" cy="302565"/>
            </a:xfrm>
            <a:prstGeom prst="roundRect">
              <a:avLst>
                <a:gd name="adj" fmla="val 17073"/>
              </a:avLst>
            </a:prstGeom>
            <a:noFill/>
            <a:ln w="635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611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[</a:t>
              </a:r>
              <a:r>
                <a:rPr kumimoji="1" lang="ja-JP" altLang="en-US" sz="611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お問い合わせ</a:t>
              </a:r>
              <a:r>
                <a:rPr kumimoji="1" lang="en-US" altLang="ja-JP" sz="611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]</a:t>
              </a:r>
            </a:p>
            <a:p>
              <a:pPr algn="ctr"/>
              <a:r>
                <a:rPr kumimoji="1" lang="ja-JP" altLang="en-US" sz="611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秋田大学医学部附属</a:t>
              </a:r>
              <a:r>
                <a:rPr kumimoji="1" lang="en-US" altLang="ja-JP" sz="611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 </a:t>
              </a:r>
              <a:r>
                <a:rPr kumimoji="1" lang="ja-JP" altLang="en-US" sz="611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病院医療</a:t>
              </a:r>
              <a:r>
                <a:rPr kumimoji="1" lang="en" altLang="ja-JP" sz="611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DX</a:t>
              </a:r>
              <a:r>
                <a:rPr kumimoji="1" lang="ja-JP" altLang="en-US" sz="611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センター</a:t>
              </a:r>
              <a:r>
                <a:rPr kumimoji="1" lang="en-US" altLang="ja-JP" sz="611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 </a:t>
              </a:r>
              <a:r>
                <a:rPr kumimoji="1" lang="ja-JP" altLang="en-US" sz="611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遠隔医療推進部門（</a:t>
              </a:r>
              <a:r>
                <a:rPr kumimoji="1" lang="en-US" altLang="ja-JP" sz="611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AUTELM</a:t>
              </a:r>
              <a:r>
                <a:rPr kumimoji="1" lang="ja-JP" altLang="en-US" sz="611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）</a:t>
              </a:r>
              <a:endPara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  <a:p>
              <a:pPr algn="ctr"/>
              <a:r>
                <a:rPr kumimoji="1" lang="ja-JP" altLang="en-US" sz="611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電話：</a:t>
              </a:r>
              <a:r>
                <a:rPr kumimoji="1" lang="en-US" altLang="ja-JP" sz="611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018-801-7179</a:t>
              </a:r>
              <a:r>
                <a:rPr kumimoji="1" lang="ja-JP" altLang="en-US" sz="611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　</a:t>
              </a:r>
              <a:r>
                <a:rPr kumimoji="1" lang="en-US" altLang="ja-JP" sz="611" dirty="0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 e-mail</a:t>
              </a:r>
              <a:r>
                <a:rPr kumimoji="1" lang="ja-JP" altLang="en-US" sz="611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：</a:t>
              </a:r>
              <a:r>
                <a:rPr kumimoji="1" lang="en-US" altLang="ja-JP" sz="611" dirty="0" err="1">
                  <a:solidFill>
                    <a:schemeClr val="tx1"/>
                  </a:solidFill>
                  <a:latin typeface="Meiryo UI" panose="020B0604030504040204" pitchFamily="34" charset="-128"/>
                  <a:ea typeface="Meiryo UI" panose="020B0604030504040204" pitchFamily="34" charset="-128"/>
                </a:rPr>
                <a:t>enkakuiryo@jimu.akita-u.ac.jp</a:t>
              </a:r>
              <a:endParaRPr kumimoji="1" lang="en-US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endParaRPr>
            </a:p>
          </p:txBody>
        </p:sp>
        <p:sp>
          <p:nvSpPr>
            <p:cNvPr id="19" name="四角形: 角を丸くする 18">
              <a:extLst>
                <a:ext uri="{FF2B5EF4-FFF2-40B4-BE49-F238E27FC236}">
                  <a16:creationId xmlns:a16="http://schemas.microsoft.com/office/drawing/2014/main" id="{31B99F23-31CE-7A6B-4F83-670E40C768CA}"/>
                </a:ext>
              </a:extLst>
            </p:cNvPr>
            <p:cNvSpPr/>
            <p:nvPr/>
          </p:nvSpPr>
          <p:spPr>
            <a:xfrm>
              <a:off x="185099" y="1746083"/>
              <a:ext cx="2720550" cy="131546"/>
            </a:xfrm>
            <a:prstGeom prst="roundRect">
              <a:avLst>
                <a:gd name="adj" fmla="val 17073"/>
              </a:avLst>
            </a:prstGeom>
            <a:noFill/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611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「名刺代わりに」は、秋田大学発ベンチャー、</a:t>
              </a:r>
              <a:r>
                <a:rPr kumimoji="1" lang="en-US" altLang="ja-JP" sz="611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AUIC</a:t>
              </a:r>
              <a:r>
                <a:rPr kumimoji="1" lang="ja-JP" altLang="en-US" sz="611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が提供しています。</a:t>
              </a:r>
              <a:endParaRPr kumimoji="1" lang="en-US" altLang="ja-JP" sz="611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endParaRPr>
            </a:p>
          </p:txBody>
        </p:sp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30784653-FBC6-D3E0-BA33-72F3C11EF57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8274" y="1749035"/>
              <a:ext cx="111515" cy="111515"/>
            </a:xfrm>
            <a:prstGeom prst="rect">
              <a:avLst/>
            </a:prstGeom>
          </p:spPr>
        </p:pic>
      </p:grp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83A89654-52CD-8259-04C3-44FB7968F3C3}"/>
              </a:ext>
            </a:extLst>
          </p:cNvPr>
          <p:cNvSpPr/>
          <p:nvPr/>
        </p:nvSpPr>
        <p:spPr>
          <a:xfrm>
            <a:off x="1141728" y="581839"/>
            <a:ext cx="1455133" cy="218880"/>
          </a:xfrm>
          <a:prstGeom prst="roundRect">
            <a:avLst>
              <a:gd name="adj" fmla="val 6665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ja-JP" sz="1911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rPr>
              <a:t>12345678</a:t>
            </a:r>
            <a:endParaRPr kumimoji="1" lang="ja-JP" altLang="en-US" sz="814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865A8138-A193-8964-3E58-12327A5062B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0654" y="1725035"/>
            <a:ext cx="183585" cy="183585"/>
          </a:xfrm>
          <a:prstGeom prst="rect">
            <a:avLst/>
          </a:prstGeom>
        </p:spPr>
      </p:pic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1F3CE2B4-1639-A804-B192-568F0F0BDBF8}"/>
              </a:ext>
            </a:extLst>
          </p:cNvPr>
          <p:cNvGrpSpPr/>
          <p:nvPr/>
        </p:nvGrpSpPr>
        <p:grpSpPr>
          <a:xfrm>
            <a:off x="253593" y="254577"/>
            <a:ext cx="2769409" cy="858296"/>
            <a:chOff x="187535" y="250086"/>
            <a:chExt cx="2720550" cy="843154"/>
          </a:xfrm>
        </p:grpSpPr>
        <p:grpSp>
          <p:nvGrpSpPr>
            <p:cNvPr id="15" name="グループ化 14">
              <a:extLst>
                <a:ext uri="{FF2B5EF4-FFF2-40B4-BE49-F238E27FC236}">
                  <a16:creationId xmlns:a16="http://schemas.microsoft.com/office/drawing/2014/main" id="{4D7911D8-43BC-4865-C884-1862B419F732}"/>
                </a:ext>
              </a:extLst>
            </p:cNvPr>
            <p:cNvGrpSpPr/>
            <p:nvPr/>
          </p:nvGrpSpPr>
          <p:grpSpPr>
            <a:xfrm>
              <a:off x="187535" y="250086"/>
              <a:ext cx="2720550" cy="843154"/>
              <a:chOff x="187535" y="250086"/>
              <a:chExt cx="2720550" cy="843154"/>
            </a:xfrm>
          </p:grpSpPr>
          <p:sp>
            <p:nvSpPr>
              <p:cNvPr id="12" name="四角形: 角を丸くする 15">
                <a:extLst>
                  <a:ext uri="{FF2B5EF4-FFF2-40B4-BE49-F238E27FC236}">
                    <a16:creationId xmlns:a16="http://schemas.microsoft.com/office/drawing/2014/main" id="{318066C9-5C42-E361-FFDB-1EEE2FAF9211}"/>
                  </a:ext>
                </a:extLst>
              </p:cNvPr>
              <p:cNvSpPr/>
              <p:nvPr/>
            </p:nvSpPr>
            <p:spPr>
              <a:xfrm>
                <a:off x="234235" y="250086"/>
                <a:ext cx="2627152" cy="843154"/>
              </a:xfrm>
              <a:prstGeom prst="roundRect">
                <a:avLst>
                  <a:gd name="adj" fmla="val 13559"/>
                </a:avLst>
              </a:prstGeom>
              <a:solidFill>
                <a:schemeClr val="bg1"/>
              </a:solidFill>
              <a:ln w="6350"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73293" tIns="36647" rIns="73293" bIns="0" rtlCol="0" anchor="b">
                <a:noAutofit/>
              </a:bodyPr>
              <a:lstStyle/>
              <a:p>
                <a:pPr algn="ctr"/>
                <a:r>
                  <a:rPr kumimoji="1" lang="ja-JP" altLang="en-US" sz="509" dirty="0">
                    <a:solidFill>
                      <a:schemeClr val="tx1"/>
                    </a:solidFill>
                    <a:latin typeface="UD デジタル 教科書体 NP-R" panose="02020400000000000000" pitchFamily="18" charset="-128"/>
                    <a:ea typeface="UD デジタル 教科書体 NP-R" panose="02020400000000000000" pitchFamily="18" charset="-128"/>
                  </a:rPr>
                  <a:t>本カードを破損・紛失された場合、または使用期限を過ぎた場合は、お品ものを</a:t>
                </a:r>
                <a:endParaRPr kumimoji="1" lang="en-US" altLang="ja-JP" sz="509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endParaRPr>
              </a:p>
              <a:p>
                <a:pPr algn="ctr"/>
                <a:r>
                  <a:rPr kumimoji="1" lang="ja-JP" altLang="en-US" sz="509" dirty="0">
                    <a:solidFill>
                      <a:schemeClr val="tx1"/>
                    </a:solidFill>
                    <a:latin typeface="UD デジタル 教科書体 NP-R" panose="02020400000000000000" pitchFamily="18" charset="-128"/>
                    <a:ea typeface="UD デジタル 教科書体 NP-R" panose="02020400000000000000" pitchFamily="18" charset="-128"/>
                  </a:rPr>
                  <a:t>  ご提供できかねますので、あらかじめご了承くださいますようお願いいたします。</a:t>
                </a:r>
              </a:p>
            </p:txBody>
          </p:sp>
          <p:sp>
            <p:nvSpPr>
              <p:cNvPr id="13" name="四角形: 角を丸くする 4">
                <a:extLst>
                  <a:ext uri="{FF2B5EF4-FFF2-40B4-BE49-F238E27FC236}">
                    <a16:creationId xmlns:a16="http://schemas.microsoft.com/office/drawing/2014/main" id="{97BAF284-F840-2EDB-B5E3-E30F9BC403F1}"/>
                  </a:ext>
                </a:extLst>
              </p:cNvPr>
              <p:cNvSpPr/>
              <p:nvPr/>
            </p:nvSpPr>
            <p:spPr>
              <a:xfrm>
                <a:off x="299236" y="559911"/>
                <a:ext cx="564212" cy="211760"/>
              </a:xfrm>
              <a:prstGeom prst="roundRect">
                <a:avLst>
                  <a:gd name="adj" fmla="val 6665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kumimoji="1" lang="en-US" altLang="ja-JP" sz="814" dirty="0">
                    <a:solidFill>
                      <a:schemeClr val="tx1"/>
                    </a:solidFill>
                    <a:latin typeface="UD デジタル 教科書体 NP-R" panose="02020400000000000000" pitchFamily="18" charset="-128"/>
                    <a:ea typeface="UD デジタル 教科書体 NP-R" panose="02020400000000000000" pitchFamily="18" charset="-128"/>
                  </a:rPr>
                  <a:t>PINCODE</a:t>
                </a:r>
              </a:p>
            </p:txBody>
          </p:sp>
          <p:sp>
            <p:nvSpPr>
              <p:cNvPr id="14" name="四角形: 角を丸くする 24">
                <a:extLst>
                  <a:ext uri="{FF2B5EF4-FFF2-40B4-BE49-F238E27FC236}">
                    <a16:creationId xmlns:a16="http://schemas.microsoft.com/office/drawing/2014/main" id="{CE56329B-1BC2-807D-CE78-A3DB62613095}"/>
                  </a:ext>
                </a:extLst>
              </p:cNvPr>
              <p:cNvSpPr/>
              <p:nvPr/>
            </p:nvSpPr>
            <p:spPr>
              <a:xfrm>
                <a:off x="187535" y="287429"/>
                <a:ext cx="2720550" cy="164630"/>
              </a:xfrm>
              <a:prstGeom prst="roundRect">
                <a:avLst>
                  <a:gd name="adj" fmla="val 17073"/>
                </a:avLst>
              </a:prstGeom>
              <a:noFill/>
              <a:ln w="6350"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ja-JP" altLang="en-US" sz="611" dirty="0">
                    <a:solidFill>
                      <a:schemeClr val="tx1"/>
                    </a:solidFill>
                    <a:latin typeface="UD デジタル 教科書体 NP-R" panose="02020400000000000000" pitchFamily="18" charset="-128"/>
                    <a:ea typeface="UD デジタル 教科書体 NP-R" panose="02020400000000000000" pitchFamily="18" charset="-128"/>
                  </a:rPr>
                  <a:t>［使用期限：</a:t>
                </a:r>
                <a:r>
                  <a:rPr kumimoji="1" lang="en-US" altLang="ja-JP" sz="611" dirty="0">
                    <a:solidFill>
                      <a:schemeClr val="tx1"/>
                    </a:solidFill>
                    <a:latin typeface="UD デジタル 教科書体 NP-R" panose="02020400000000000000" pitchFamily="18" charset="-128"/>
                    <a:ea typeface="UD デジタル 教科書体 NP-R" panose="02020400000000000000" pitchFamily="18" charset="-128"/>
                  </a:rPr>
                  <a:t>2027</a:t>
                </a:r>
                <a:r>
                  <a:rPr kumimoji="1" lang="ja-JP" altLang="en-US" sz="611" dirty="0">
                    <a:solidFill>
                      <a:schemeClr val="tx1"/>
                    </a:solidFill>
                    <a:latin typeface="UD デジタル 教科書体 NP-R" panose="02020400000000000000" pitchFamily="18" charset="-128"/>
                    <a:ea typeface="UD デジタル 教科書体 NP-R" panose="02020400000000000000" pitchFamily="18" charset="-128"/>
                  </a:rPr>
                  <a:t> 年 </a:t>
                </a:r>
                <a:r>
                  <a:rPr kumimoji="1" lang="en-US" altLang="ja-JP" sz="611" dirty="0">
                    <a:solidFill>
                      <a:schemeClr val="tx1"/>
                    </a:solidFill>
                    <a:latin typeface="UD デジタル 教科書体 NP-R" panose="02020400000000000000" pitchFamily="18" charset="-128"/>
                    <a:ea typeface="UD デジタル 教科書体 NP-R" panose="02020400000000000000" pitchFamily="18" charset="-128"/>
                  </a:rPr>
                  <a:t>3</a:t>
                </a:r>
                <a:r>
                  <a:rPr kumimoji="1" lang="ja-JP" altLang="en-US" sz="611" dirty="0">
                    <a:solidFill>
                      <a:schemeClr val="tx1"/>
                    </a:solidFill>
                    <a:latin typeface="UD デジタル 教科書体 NP-R" panose="02020400000000000000" pitchFamily="18" charset="-128"/>
                    <a:ea typeface="UD デジタル 教科書体 NP-R" panose="02020400000000000000" pitchFamily="18" charset="-128"/>
                  </a:rPr>
                  <a:t> 月 </a:t>
                </a:r>
                <a:r>
                  <a:rPr kumimoji="1" lang="en-US" altLang="ja-JP" sz="611" dirty="0">
                    <a:solidFill>
                      <a:schemeClr val="tx1"/>
                    </a:solidFill>
                    <a:latin typeface="UD デジタル 教科書体 NP-R" panose="02020400000000000000" pitchFamily="18" charset="-128"/>
                    <a:ea typeface="UD デジタル 教科書体 NP-R" panose="02020400000000000000" pitchFamily="18" charset="-128"/>
                  </a:rPr>
                  <a:t>31</a:t>
                </a:r>
                <a:r>
                  <a:rPr kumimoji="1" lang="ja-JP" altLang="en-US" sz="611" dirty="0">
                    <a:solidFill>
                      <a:schemeClr val="tx1"/>
                    </a:solidFill>
                    <a:latin typeface="UD デジタル 教科書体 NP-R" panose="02020400000000000000" pitchFamily="18" charset="-128"/>
                    <a:ea typeface="UD デジタル 教科書体 NP-R" panose="02020400000000000000" pitchFamily="18" charset="-128"/>
                  </a:rPr>
                  <a:t> 日 </a:t>
                </a:r>
                <a:r>
                  <a:rPr kumimoji="1" lang="en-US" altLang="ja-JP" sz="611" dirty="0">
                    <a:solidFill>
                      <a:schemeClr val="tx1"/>
                    </a:solidFill>
                    <a:latin typeface="UD デジタル 教科書体 NP-R" panose="02020400000000000000" pitchFamily="18" charset="-128"/>
                    <a:ea typeface="UD デジタル 教科書体 NP-R" panose="02020400000000000000" pitchFamily="18" charset="-128"/>
                  </a:rPr>
                  <a:t>23</a:t>
                </a:r>
                <a:r>
                  <a:rPr kumimoji="1" lang="ja-JP" altLang="en-US" sz="611" dirty="0">
                    <a:solidFill>
                      <a:schemeClr val="tx1"/>
                    </a:solidFill>
                    <a:latin typeface="UD デジタル 教科書体 NP-R" panose="02020400000000000000" pitchFamily="18" charset="-128"/>
                    <a:ea typeface="UD デジタル 教科書体 NP-R" panose="02020400000000000000" pitchFamily="18" charset="-128"/>
                  </a:rPr>
                  <a:t>：</a:t>
                </a:r>
                <a:r>
                  <a:rPr kumimoji="1" lang="en-US" altLang="ja-JP" sz="611" dirty="0">
                    <a:solidFill>
                      <a:schemeClr val="tx1"/>
                    </a:solidFill>
                    <a:latin typeface="UD デジタル 教科書体 NP-R" panose="02020400000000000000" pitchFamily="18" charset="-128"/>
                    <a:ea typeface="UD デジタル 教科書体 NP-R" panose="02020400000000000000" pitchFamily="18" charset="-128"/>
                  </a:rPr>
                  <a:t>59</a:t>
                </a:r>
                <a:r>
                  <a:rPr kumimoji="1" lang="ja-JP" altLang="en-US" sz="611" dirty="0">
                    <a:solidFill>
                      <a:schemeClr val="tx1"/>
                    </a:solidFill>
                    <a:latin typeface="UD デジタル 教科書体 NP-R" panose="02020400000000000000" pitchFamily="18" charset="-128"/>
                    <a:ea typeface="UD デジタル 教科書体 NP-R" panose="02020400000000000000" pitchFamily="18" charset="-128"/>
                  </a:rPr>
                  <a:t>まで］</a:t>
                </a:r>
              </a:p>
            </p:txBody>
          </p:sp>
        </p:grpSp>
        <p:sp>
          <p:nvSpPr>
            <p:cNvPr id="17" name="四角形: 角を丸くする 1">
              <a:extLst>
                <a:ext uri="{FF2B5EF4-FFF2-40B4-BE49-F238E27FC236}">
                  <a16:creationId xmlns:a16="http://schemas.microsoft.com/office/drawing/2014/main" id="{2D9C1C31-220D-618A-D71A-D1664167847E}"/>
                </a:ext>
              </a:extLst>
            </p:cNvPr>
            <p:cNvSpPr/>
            <p:nvPr/>
          </p:nvSpPr>
          <p:spPr>
            <a:xfrm>
              <a:off x="1013302" y="550515"/>
              <a:ext cx="1429461" cy="215018"/>
            </a:xfrm>
            <a:prstGeom prst="roundRect">
              <a:avLst>
                <a:gd name="adj" fmla="val 6665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ja-JP" sz="1911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rPr>
                <a:t>12345678</a:t>
              </a:r>
              <a:endParaRPr kumimoji="1" lang="ja-JP" altLang="en-US" sz="814" dirty="0">
                <a:solidFill>
                  <a:schemeClr val="tx1"/>
                </a:solidFill>
                <a:latin typeface="UD デジタル 教科書体 NP-R" panose="02020400000000000000" pitchFamily="18" charset="-128"/>
                <a:ea typeface="UD デジタル 教科書体 NP-R" panose="02020400000000000000" pitchFamily="18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894861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A3530-6262-F320-1D6A-BFF5E00BB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E5513E09-C9C7-57E0-EF48-8497941DE5A4}"/>
              </a:ext>
            </a:extLst>
          </p:cNvPr>
          <p:cNvSpPr/>
          <p:nvPr/>
        </p:nvSpPr>
        <p:spPr>
          <a:xfrm>
            <a:off x="62689" y="-1"/>
            <a:ext cx="3151220" cy="1979612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kumimoji="1" lang="ja-JP" altLang="en-US" sz="611" dirty="0">
              <a:solidFill>
                <a:schemeClr val="tx1"/>
              </a:solidFill>
              <a:latin typeface="UD デジタル 教科書体 NP-R" panose="020B0400000000000000" pitchFamily="18" charset="-128"/>
              <a:ea typeface="UD デジタル 教科書体 NP-R" panose="020B0400000000000000" pitchFamily="18" charset="-128"/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7BE906A3-F27C-A8C5-23B6-28C2EEC1C3B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140" b="18595"/>
          <a:stretch>
            <a:fillRect/>
          </a:stretch>
        </p:blipFill>
        <p:spPr>
          <a:xfrm>
            <a:off x="6538" y="-1"/>
            <a:ext cx="3270061" cy="1979615"/>
          </a:xfrm>
          <a:prstGeom prst="rect">
            <a:avLst/>
          </a:prstGeom>
          <a:effectLst/>
        </p:spPr>
      </p:pic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99AFE6E0-D6F8-F419-B39E-4E1848CA4262}"/>
              </a:ext>
            </a:extLst>
          </p:cNvPr>
          <p:cNvSpPr/>
          <p:nvPr/>
        </p:nvSpPr>
        <p:spPr>
          <a:xfrm>
            <a:off x="62690" y="5165"/>
            <a:ext cx="3151220" cy="1974448"/>
          </a:xfrm>
          <a:prstGeom prst="roundRect">
            <a:avLst>
              <a:gd name="adj" fmla="val 13559"/>
            </a:avLst>
          </a:prstGeom>
          <a:noFill/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3293" tIns="36647" rIns="73293" bIns="0" rtlCol="0" anchor="b">
            <a:noAutofit/>
          </a:bodyPr>
          <a:lstStyle/>
          <a:p>
            <a:pPr algn="ctr"/>
            <a:endParaRPr kumimoji="1" lang="ja-JP" altLang="en-US" sz="611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6337B238-3CE8-5F27-AC42-38F72F35D892}"/>
              </a:ext>
            </a:extLst>
          </p:cNvPr>
          <p:cNvSpPr/>
          <p:nvPr/>
        </p:nvSpPr>
        <p:spPr>
          <a:xfrm>
            <a:off x="292159" y="1812934"/>
            <a:ext cx="2702018" cy="122871"/>
          </a:xfrm>
          <a:prstGeom prst="roundRect">
            <a:avLst>
              <a:gd name="adj" fmla="val 6665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とけない、われない、かさばらない！　カードで送る新習慣＠名刺代わりに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DE84C825-89AF-05EA-8CC3-1ED5866765F4}"/>
              </a:ext>
            </a:extLst>
          </p:cNvPr>
          <p:cNvSpPr/>
          <p:nvPr/>
        </p:nvSpPr>
        <p:spPr>
          <a:xfrm>
            <a:off x="841147" y="1376118"/>
            <a:ext cx="1605667" cy="361373"/>
          </a:xfrm>
          <a:prstGeom prst="roundRect">
            <a:avLst>
              <a:gd name="adj" fmla="val 6665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ja-JP" sz="916" dirty="0">
                <a:ln w="22225">
                  <a:noFill/>
                  <a:prstDash val="solid"/>
                </a:ln>
                <a:solidFill>
                  <a:srgbClr val="E96217"/>
                </a:solidFill>
                <a:effectLst>
                  <a:innerShdw>
                    <a:schemeClr val="accent2">
                      <a:alpha val="92000"/>
                    </a:schemeClr>
                  </a:innerShdw>
                </a:effectLst>
                <a:latin typeface="Meiryo UI" panose="020B0604030504040204" pitchFamily="34" charset="-128"/>
                <a:ea typeface="Meiryo UI" panose="020B0604030504040204" pitchFamily="34" charset="-128"/>
              </a:rPr>
              <a:t>AUTELM</a:t>
            </a:r>
            <a:r>
              <a:rPr kumimoji="1" lang="ja-JP" altLang="en-US" sz="916" dirty="0">
                <a:ln w="22225">
                  <a:noFill/>
                  <a:prstDash val="solid"/>
                </a:ln>
                <a:solidFill>
                  <a:srgbClr val="E96217"/>
                </a:solidFill>
                <a:effectLst>
                  <a:innerShdw>
                    <a:schemeClr val="accent2">
                      <a:alpha val="92000"/>
                    </a:schemeClr>
                  </a:innerShdw>
                </a:effectLst>
                <a:latin typeface="Meiryo UI" panose="020B0604030504040204" pitchFamily="34" charset="-128"/>
                <a:ea typeface="Meiryo UI" panose="020B0604030504040204" pitchFamily="34" charset="-128"/>
              </a:rPr>
              <a:t>　</a:t>
            </a:r>
            <a:r>
              <a:rPr kumimoji="1" lang="en-US" altLang="ja-JP" sz="916" dirty="0">
                <a:ln w="22225">
                  <a:noFill/>
                  <a:prstDash val="solid"/>
                </a:ln>
                <a:solidFill>
                  <a:srgbClr val="E96217"/>
                </a:solidFill>
                <a:effectLst>
                  <a:innerShdw>
                    <a:schemeClr val="accent2">
                      <a:alpha val="92000"/>
                    </a:schemeClr>
                  </a:innerShdw>
                </a:effectLst>
                <a:latin typeface="Meiryo UI" panose="020B0604030504040204" pitchFamily="34" charset="-128"/>
                <a:ea typeface="Meiryo UI" panose="020B0604030504040204" pitchFamily="34" charset="-128"/>
              </a:rPr>
              <a:t>HP</a:t>
            </a:r>
            <a:r>
              <a:rPr kumimoji="1" lang="ja-JP" altLang="en-US" sz="916" dirty="0">
                <a:ln w="22225">
                  <a:noFill/>
                  <a:prstDash val="solid"/>
                </a:ln>
                <a:solidFill>
                  <a:srgbClr val="E96217"/>
                </a:solidFill>
                <a:effectLst>
                  <a:innerShdw>
                    <a:schemeClr val="accent2">
                      <a:alpha val="92000"/>
                    </a:schemeClr>
                  </a:innerShdw>
                </a:effectLst>
                <a:latin typeface="Meiryo UI" panose="020B0604030504040204" pitchFamily="34" charset="-128"/>
                <a:ea typeface="Meiryo UI" panose="020B0604030504040204" pitchFamily="34" charset="-128"/>
              </a:rPr>
              <a:t>開設記念</a:t>
            </a:r>
            <a:r>
              <a:rPr kumimoji="1" lang="en-US" altLang="ja-JP" sz="916" dirty="0">
                <a:ln w="22225">
                  <a:noFill/>
                  <a:prstDash val="solid"/>
                </a:ln>
                <a:solidFill>
                  <a:srgbClr val="E96217"/>
                </a:solidFill>
                <a:effectLst>
                  <a:innerShdw>
                    <a:schemeClr val="accent2">
                      <a:alpha val="92000"/>
                    </a:schemeClr>
                  </a:innerShdw>
                </a:effectLst>
                <a:latin typeface="Meiryo UI" panose="020B0604030504040204" pitchFamily="34" charset="-128"/>
                <a:ea typeface="Meiryo UI" panose="020B0604030504040204" pitchFamily="34" charset="-128"/>
              </a:rPr>
              <a:t> </a:t>
            </a:r>
          </a:p>
          <a:p>
            <a:pPr algn="ctr"/>
            <a:r>
              <a:rPr kumimoji="1" lang="ja-JP" altLang="en-US" sz="916" b="1" dirty="0">
                <a:ln w="22225">
                  <a:noFill/>
                  <a:prstDash val="solid"/>
                </a:ln>
                <a:solidFill>
                  <a:srgbClr val="E96217"/>
                </a:solidFill>
                <a:effectLst>
                  <a:innerShdw>
                    <a:schemeClr val="accent2">
                      <a:alpha val="92000"/>
                    </a:schemeClr>
                  </a:innerShdw>
                </a:effectLst>
                <a:latin typeface="Meiryo UI" panose="020B0604030504040204" pitchFamily="34" charset="-128"/>
                <a:ea typeface="Meiryo UI" panose="020B0604030504040204" pitchFamily="34" charset="-128"/>
              </a:rPr>
              <a:t>限定</a:t>
            </a:r>
            <a:r>
              <a:rPr kumimoji="1" lang="en-US" altLang="ja-JP" sz="916" b="1" dirty="0">
                <a:ln w="22225">
                  <a:noFill/>
                  <a:prstDash val="solid"/>
                </a:ln>
                <a:solidFill>
                  <a:srgbClr val="E96217"/>
                </a:solidFill>
                <a:effectLst>
                  <a:innerShdw>
                    <a:schemeClr val="accent2">
                      <a:alpha val="92000"/>
                    </a:schemeClr>
                  </a:innerShdw>
                </a:effectLst>
                <a:latin typeface="Meiryo UI" panose="020B0604030504040204" pitchFamily="34" charset="-128"/>
                <a:ea typeface="Meiryo UI" panose="020B0604030504040204" pitchFamily="34" charset="-128"/>
              </a:rPr>
              <a:t> </a:t>
            </a:r>
            <a:r>
              <a:rPr kumimoji="1" lang="ja-JP" altLang="en-US" sz="916" b="1" dirty="0">
                <a:ln w="22225">
                  <a:noFill/>
                  <a:prstDash val="solid"/>
                </a:ln>
                <a:solidFill>
                  <a:srgbClr val="E96217"/>
                </a:solidFill>
                <a:effectLst>
                  <a:innerShdw>
                    <a:schemeClr val="accent2">
                      <a:alpha val="92000"/>
                    </a:schemeClr>
                  </a:innerShdw>
                </a:effectLst>
                <a:latin typeface="Meiryo UI" panose="020B0604030504040204" pitchFamily="34" charset="-128"/>
                <a:ea typeface="Meiryo UI" panose="020B0604030504040204" pitchFamily="34" charset="-128"/>
              </a:rPr>
              <a:t>“アクリルキーホルダー”</a:t>
            </a:r>
            <a:endParaRPr kumimoji="1" lang="en-AU" altLang="ja-JP" sz="916" b="1" dirty="0">
              <a:ln w="22225">
                <a:noFill/>
                <a:prstDash val="solid"/>
              </a:ln>
              <a:solidFill>
                <a:srgbClr val="E96217"/>
              </a:solidFill>
              <a:effectLst>
                <a:innerShdw>
                  <a:schemeClr val="accent2">
                    <a:alpha val="92000"/>
                  </a:schemeClr>
                </a:innerShdw>
              </a:effectLst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algn="ctr"/>
            <a:r>
              <a:rPr kumimoji="1" lang="ja-JP" altLang="en-US" sz="916" dirty="0">
                <a:ln w="22225">
                  <a:noFill/>
                  <a:prstDash val="solid"/>
                </a:ln>
                <a:solidFill>
                  <a:srgbClr val="E96217"/>
                </a:solidFill>
                <a:effectLst>
                  <a:innerShdw>
                    <a:schemeClr val="accent2">
                      <a:alpha val="92000"/>
                    </a:schemeClr>
                  </a:innerShdw>
                </a:effectLst>
                <a:latin typeface="Meiryo UI" panose="020B0604030504040204" pitchFamily="34" charset="-128"/>
                <a:ea typeface="Meiryo UI" panose="020B0604030504040204" pitchFamily="34" charset="-128"/>
              </a:rPr>
              <a:t>プレゼント！</a:t>
            </a:r>
            <a:endParaRPr kumimoji="1" lang="en-US" altLang="ja-JP" sz="916" dirty="0">
              <a:ln w="22225">
                <a:noFill/>
                <a:prstDash val="solid"/>
              </a:ln>
              <a:solidFill>
                <a:srgbClr val="E96217"/>
              </a:solidFill>
              <a:effectLst>
                <a:innerShdw>
                  <a:schemeClr val="accent2">
                    <a:alpha val="92000"/>
                  </a:schemeClr>
                </a:innerShdw>
              </a:effectLst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A507879-427F-8575-BE6E-EE5AE64F225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694" b="3746"/>
          <a:stretch>
            <a:fillRect/>
          </a:stretch>
        </p:blipFill>
        <p:spPr bwMode="auto">
          <a:xfrm>
            <a:off x="152915" y="219914"/>
            <a:ext cx="2980505" cy="1115368"/>
          </a:xfrm>
          <a:prstGeom prst="rect">
            <a:avLst/>
          </a:prstGeom>
          <a:ln>
            <a:noFill/>
          </a:ln>
          <a:effectLst>
            <a:softEdge rad="3175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D9A024BD-3E02-0B6F-7678-71814864C1B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100000"/>
                    </a14:imgEffect>
                    <a14:imgEffect>
                      <a14:brightnessContrast contras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543997" y="1192980"/>
            <a:ext cx="552675" cy="552675"/>
          </a:xfrm>
          <a:prstGeom prst="rect">
            <a:avLst/>
          </a:prstGeom>
          <a:ln w="38100">
            <a:solidFill>
              <a:schemeClr val="bg1"/>
            </a:solidFill>
          </a:ln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504701BD-2C5C-C610-E11B-F3286BB2315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1066" y="1022684"/>
            <a:ext cx="772621" cy="772621"/>
          </a:xfrm>
          <a:prstGeom prst="rect">
            <a:avLst/>
          </a:prstGeom>
        </p:spPr>
      </p:pic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41567086-FB67-0B99-2D28-0F87AEA66C9C}"/>
              </a:ext>
            </a:extLst>
          </p:cNvPr>
          <p:cNvSpPr txBox="1"/>
          <p:nvPr/>
        </p:nvSpPr>
        <p:spPr>
          <a:xfrm>
            <a:off x="118723" y="38643"/>
            <a:ext cx="3027891" cy="217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814" b="1" dirty="0">
                <a:solidFill>
                  <a:srgbClr val="E96217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秋田大学医学部附属病院　医療</a:t>
            </a:r>
            <a:r>
              <a:rPr kumimoji="1" lang="en-US" altLang="ja-JP" sz="814" b="1" dirty="0">
                <a:solidFill>
                  <a:srgbClr val="E96217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DX</a:t>
            </a:r>
            <a:r>
              <a:rPr kumimoji="1" lang="ja-JP" altLang="en-US" sz="814" b="1" dirty="0">
                <a:solidFill>
                  <a:srgbClr val="E96217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センター　遠隔医療推進部門</a:t>
            </a:r>
            <a:endParaRPr lang="ja-JP" altLang="en-US" sz="814" b="1" dirty="0">
              <a:solidFill>
                <a:srgbClr val="E96217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C5A6D74D-763B-8F12-5C3A-8A35960848F1}"/>
              </a:ext>
            </a:extLst>
          </p:cNvPr>
          <p:cNvGrpSpPr/>
          <p:nvPr/>
        </p:nvGrpSpPr>
        <p:grpSpPr>
          <a:xfrm rot="21429490">
            <a:off x="126445" y="504697"/>
            <a:ext cx="835017" cy="1311062"/>
            <a:chOff x="168145" y="1067934"/>
            <a:chExt cx="446654" cy="701292"/>
          </a:xfrm>
        </p:grpSpPr>
        <p:sp>
          <p:nvSpPr>
            <p:cNvPr id="7" name="四角形: 角を丸くする 6">
              <a:extLst>
                <a:ext uri="{FF2B5EF4-FFF2-40B4-BE49-F238E27FC236}">
                  <a16:creationId xmlns:a16="http://schemas.microsoft.com/office/drawing/2014/main" id="{B553C39F-E56B-3CA9-19FA-E6453DAD34D0}"/>
                </a:ext>
              </a:extLst>
            </p:cNvPr>
            <p:cNvSpPr/>
            <p:nvPr/>
          </p:nvSpPr>
          <p:spPr>
            <a:xfrm>
              <a:off x="187587" y="1067934"/>
              <a:ext cx="407014" cy="691029"/>
            </a:xfrm>
            <a:prstGeom prst="roundRect">
              <a:avLst/>
            </a:prstGeom>
            <a:gradFill flip="none" rotWithShape="1">
              <a:gsLst>
                <a:gs pos="0">
                  <a:srgbClr val="E96217"/>
                </a:gs>
                <a:gs pos="39000">
                  <a:srgbClr val="ED7E41"/>
                </a:gs>
                <a:gs pos="100000">
                  <a:schemeClr val="accent2">
                    <a:tint val="23500"/>
                    <a:satMod val="160000"/>
                  </a:schemeClr>
                </a:gs>
              </a:gsLst>
              <a:path path="circle">
                <a:fillToRect t="100000" r="100000"/>
              </a:path>
              <a:tileRect l="-100000" b="-100000"/>
            </a:gra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911"/>
            </a:p>
          </p:txBody>
        </p:sp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4B837F94-D2F1-CCB5-9D39-D60083EE680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backgroundRemoval t="7504" b="89994" l="9980" r="89970">
                          <a14:foregroundMark x1="41758" y1="10951" x2="41758" y2="10951"/>
                          <a14:foregroundMark x1="49206" y1="7504" x2="49206" y2="7504"/>
                          <a14:foregroundMark x1="49950" y1="31518" x2="49950" y2="31518"/>
                          <a14:foregroundMark x1="49950" y1="32462" x2="49950" y2="32462"/>
                          <a14:foregroundMark x1="45531" y1="43747" x2="45531" y2="43747"/>
                          <a14:foregroundMark x1="49355" y1="43079" x2="49355" y2="43079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2111" t="5372" r="25903" b="5550"/>
            <a:stretch>
              <a:fillRect/>
            </a:stretch>
          </p:blipFill>
          <p:spPr>
            <a:xfrm>
              <a:off x="168145" y="1085593"/>
              <a:ext cx="446654" cy="68363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583475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563B7-7C99-6241-C96B-F2B30A4F7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3B66B12C-240E-8B6F-400A-52221C67F3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245" b="26339"/>
          <a:stretch>
            <a:fillRect/>
          </a:stretch>
        </p:blipFill>
        <p:spPr>
          <a:xfrm>
            <a:off x="0" y="0"/>
            <a:ext cx="3276600" cy="1979613"/>
          </a:xfrm>
          <a:prstGeom prst="rect">
            <a:avLst/>
          </a:prstGeom>
          <a:effectLst/>
        </p:spPr>
      </p:pic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69965D4F-E6C9-537C-4AA6-B09BCB13BD4E}"/>
              </a:ext>
            </a:extLst>
          </p:cNvPr>
          <p:cNvSpPr/>
          <p:nvPr/>
        </p:nvSpPr>
        <p:spPr>
          <a:xfrm>
            <a:off x="62690" y="-1"/>
            <a:ext cx="3151220" cy="1979613"/>
          </a:xfrm>
          <a:prstGeom prst="roundRect">
            <a:avLst>
              <a:gd name="adj" fmla="val 13559"/>
            </a:avLst>
          </a:prstGeom>
          <a:noFill/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3293" tIns="36647" rIns="73293" bIns="0" rtlCol="0" anchor="b">
            <a:noAutofit/>
          </a:bodyPr>
          <a:lstStyle/>
          <a:p>
            <a:pPr algn="ctr"/>
            <a:endParaRPr kumimoji="1" lang="ja-JP" altLang="en-US" sz="611" dirty="0">
              <a:solidFill>
                <a:schemeClr val="tx1"/>
              </a:solidFill>
              <a:latin typeface="UD デジタル 教科書体 NP-R" panose="02020400000000000000" pitchFamily="18" charset="-128"/>
              <a:ea typeface="UD デジタル 教科書体 NP-R" panose="02020400000000000000" pitchFamily="18" charset="-128"/>
            </a:endParaRPr>
          </a:p>
        </p:txBody>
      </p:sp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4FF3D85B-7911-5890-16B9-933A151097FC}"/>
              </a:ext>
            </a:extLst>
          </p:cNvPr>
          <p:cNvSpPr/>
          <p:nvPr/>
        </p:nvSpPr>
        <p:spPr>
          <a:xfrm>
            <a:off x="207152" y="1302498"/>
            <a:ext cx="2862297" cy="307999"/>
          </a:xfrm>
          <a:prstGeom prst="roundRect">
            <a:avLst>
              <a:gd name="adj" fmla="val 17073"/>
            </a:avLst>
          </a:prstGeom>
          <a:solidFill>
            <a:srgbClr val="FFFFFF">
              <a:alpha val="94902"/>
            </a:srgbClr>
          </a:solidFill>
          <a:ln w="6350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[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お問い合わせ</a:t>
            </a:r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]</a:t>
            </a:r>
          </a:p>
          <a:p>
            <a:pPr algn="ctr"/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秋田大学医学部附属</a:t>
            </a:r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 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病院医療</a:t>
            </a:r>
            <a:r>
              <a:rPr kumimoji="1" lang="en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DX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センター</a:t>
            </a:r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 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遠隔医療推進部門（</a:t>
            </a:r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AUTELM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）</a:t>
            </a:r>
          </a:p>
          <a:p>
            <a:pPr algn="ctr"/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電話：</a:t>
            </a:r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018-801-7179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　</a:t>
            </a:r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 e-mail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：</a:t>
            </a:r>
            <a:r>
              <a:rPr kumimoji="1" lang="en-US" altLang="ja-JP" sz="611" dirty="0" err="1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enkakuiryo@jimu.akita-u.ac.jp</a:t>
            </a:r>
            <a:endParaRPr kumimoji="1" lang="en-US" altLang="ja-JP" sz="611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E2669EFE-39C2-75B6-7C84-C2CCD77EB86A}"/>
              </a:ext>
            </a:extLst>
          </p:cNvPr>
          <p:cNvSpPr/>
          <p:nvPr/>
        </p:nvSpPr>
        <p:spPr>
          <a:xfrm>
            <a:off x="399859" y="1733586"/>
            <a:ext cx="2526367" cy="183585"/>
          </a:xfrm>
          <a:prstGeom prst="roundRect">
            <a:avLst>
              <a:gd name="adj" fmla="val 17073"/>
            </a:avLst>
          </a:prstGeom>
          <a:solidFill>
            <a:srgbClr val="FFFFFF">
              <a:alpha val="94902"/>
            </a:srgbClr>
          </a:soli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US" altLang="ja-JP" sz="611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73748EAC-963E-A6E5-AE22-B1A3D0F1F437}"/>
              </a:ext>
            </a:extLst>
          </p:cNvPr>
          <p:cNvSpPr/>
          <p:nvPr/>
        </p:nvSpPr>
        <p:spPr>
          <a:xfrm>
            <a:off x="260775" y="1763736"/>
            <a:ext cx="2769409" cy="133908"/>
          </a:xfrm>
          <a:prstGeom prst="roundRect">
            <a:avLst>
              <a:gd name="adj" fmla="val 17073"/>
            </a:avLst>
          </a:prstGeom>
          <a:noFill/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「名刺代わりに」は、秋田大学発ベンチャー、</a:t>
            </a:r>
            <a:r>
              <a:rPr kumimoji="1" lang="en-US" altLang="ja-JP" sz="61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AUIC</a:t>
            </a:r>
            <a:r>
              <a:rPr kumimoji="1" lang="ja-JP" altLang="en-US" sz="61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が提供しています。</a:t>
            </a:r>
            <a:endParaRPr kumimoji="1" lang="en-US" altLang="ja-JP" sz="611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EA0668E-0A4D-33C0-73E7-71721E7AE6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112" y="1776834"/>
            <a:ext cx="113518" cy="113518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C3E8D5B6-1173-DF36-F4C3-55181662B4C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1839" y="1733586"/>
            <a:ext cx="183585" cy="183585"/>
          </a:xfrm>
          <a:prstGeom prst="rect">
            <a:avLst/>
          </a:prstGeom>
        </p:spPr>
      </p:pic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1E4FD59B-48DD-FF05-63DF-56D6E08FCC63}"/>
              </a:ext>
            </a:extLst>
          </p:cNvPr>
          <p:cNvSpPr/>
          <p:nvPr/>
        </p:nvSpPr>
        <p:spPr>
          <a:xfrm>
            <a:off x="127574" y="100958"/>
            <a:ext cx="3032033" cy="183585"/>
          </a:xfrm>
          <a:prstGeom prst="roundRect">
            <a:avLst>
              <a:gd name="adj" fmla="val 17073"/>
            </a:avLst>
          </a:prstGeom>
          <a:solidFill>
            <a:srgbClr val="FFFFFF">
              <a:alpha val="94902"/>
            </a:srgbClr>
          </a:soli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US" altLang="ja-JP" sz="611" dirty="0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67091E18-CF6F-7A2B-A7D3-7915692B7087}"/>
              </a:ext>
            </a:extLst>
          </p:cNvPr>
          <p:cNvGrpSpPr/>
          <p:nvPr/>
        </p:nvGrpSpPr>
        <p:grpSpPr>
          <a:xfrm>
            <a:off x="172093" y="385500"/>
            <a:ext cx="2858091" cy="858296"/>
            <a:chOff x="131877" y="-1034982"/>
            <a:chExt cx="2807668" cy="843154"/>
          </a:xfrm>
        </p:grpSpPr>
        <p:grpSp>
          <p:nvGrpSpPr>
            <p:cNvPr id="20" name="グループ化 19">
              <a:extLst>
                <a:ext uri="{FF2B5EF4-FFF2-40B4-BE49-F238E27FC236}">
                  <a16:creationId xmlns:a16="http://schemas.microsoft.com/office/drawing/2014/main" id="{5D22BD6B-CBE7-4FDA-1F83-372409181E81}"/>
                </a:ext>
              </a:extLst>
            </p:cNvPr>
            <p:cNvGrpSpPr/>
            <p:nvPr/>
          </p:nvGrpSpPr>
          <p:grpSpPr>
            <a:xfrm>
              <a:off x="131877" y="-1034982"/>
              <a:ext cx="2006390" cy="843154"/>
              <a:chOff x="187535" y="250086"/>
              <a:chExt cx="2720550" cy="843154"/>
            </a:xfrm>
          </p:grpSpPr>
          <p:grpSp>
            <p:nvGrpSpPr>
              <p:cNvPr id="15" name="グループ化 14">
                <a:extLst>
                  <a:ext uri="{FF2B5EF4-FFF2-40B4-BE49-F238E27FC236}">
                    <a16:creationId xmlns:a16="http://schemas.microsoft.com/office/drawing/2014/main" id="{3761F25E-B0E7-DCBE-7CE3-871B0246FBB8}"/>
                  </a:ext>
                </a:extLst>
              </p:cNvPr>
              <p:cNvGrpSpPr/>
              <p:nvPr/>
            </p:nvGrpSpPr>
            <p:grpSpPr>
              <a:xfrm>
                <a:off x="187535" y="250086"/>
                <a:ext cx="2720550" cy="843154"/>
                <a:chOff x="187535" y="250086"/>
                <a:chExt cx="2720550" cy="843154"/>
              </a:xfrm>
            </p:grpSpPr>
            <p:sp>
              <p:nvSpPr>
                <p:cNvPr id="12" name="四角形: 角を丸くする 15">
                  <a:extLst>
                    <a:ext uri="{FF2B5EF4-FFF2-40B4-BE49-F238E27FC236}">
                      <a16:creationId xmlns:a16="http://schemas.microsoft.com/office/drawing/2014/main" id="{79CC3D5B-5322-4E81-60AE-44F00D2F5F06}"/>
                    </a:ext>
                  </a:extLst>
                </p:cNvPr>
                <p:cNvSpPr/>
                <p:nvPr/>
              </p:nvSpPr>
              <p:spPr>
                <a:xfrm>
                  <a:off x="234235" y="250086"/>
                  <a:ext cx="2627152" cy="843154"/>
                </a:xfrm>
                <a:prstGeom prst="roundRect">
                  <a:avLst>
                    <a:gd name="adj" fmla="val 13559"/>
                  </a:avLst>
                </a:prstGeom>
                <a:solidFill>
                  <a:srgbClr val="FFFFFF">
                    <a:alpha val="94902"/>
                  </a:srgbClr>
                </a:solidFill>
                <a:ln w="635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73293" tIns="36647" rIns="73293" bIns="0" rtlCol="0" anchor="b">
                  <a:noAutofit/>
                </a:bodyPr>
                <a:lstStyle/>
                <a:p>
                  <a:pPr algn="ctr"/>
                  <a:r>
                    <a:rPr kumimoji="1" lang="ja-JP" altLang="en-US" sz="509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本カードを破損・紛失された場合、または使用期限を過ぎた場合は、お品</a:t>
                  </a:r>
                  <a:r>
                    <a:rPr kumimoji="1" lang="ja-JP" altLang="en-US" sz="509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ものをご提供</a:t>
                  </a:r>
                  <a:r>
                    <a:rPr kumimoji="1" lang="ja-JP" altLang="en-US" sz="509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できかねますので、あらかじめご了承くださいますようお願いいたします。</a:t>
                  </a:r>
                </a:p>
              </p:txBody>
            </p:sp>
            <p:sp>
              <p:nvSpPr>
                <p:cNvPr id="13" name="四角形: 角を丸くする 4">
                  <a:extLst>
                    <a:ext uri="{FF2B5EF4-FFF2-40B4-BE49-F238E27FC236}">
                      <a16:creationId xmlns:a16="http://schemas.microsoft.com/office/drawing/2014/main" id="{E22961C4-A336-7637-7A5B-56A903B88AA4}"/>
                    </a:ext>
                  </a:extLst>
                </p:cNvPr>
                <p:cNvSpPr/>
                <p:nvPr/>
              </p:nvSpPr>
              <p:spPr>
                <a:xfrm>
                  <a:off x="313411" y="533760"/>
                  <a:ext cx="667368" cy="211760"/>
                </a:xfrm>
                <a:prstGeom prst="roundRect">
                  <a:avLst>
                    <a:gd name="adj" fmla="val 6665"/>
                  </a:avLst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kumimoji="1" lang="en-US" altLang="ja-JP" sz="814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PINCODE</a:t>
                  </a:r>
                </a:p>
              </p:txBody>
            </p:sp>
            <p:sp>
              <p:nvSpPr>
                <p:cNvPr id="14" name="四角形: 角を丸くする 24">
                  <a:extLst>
                    <a:ext uri="{FF2B5EF4-FFF2-40B4-BE49-F238E27FC236}">
                      <a16:creationId xmlns:a16="http://schemas.microsoft.com/office/drawing/2014/main" id="{700A75DC-29A5-CDAF-90BE-E721AA3DD765}"/>
                    </a:ext>
                  </a:extLst>
                </p:cNvPr>
                <p:cNvSpPr/>
                <p:nvPr/>
              </p:nvSpPr>
              <p:spPr>
                <a:xfrm>
                  <a:off x="187535" y="287429"/>
                  <a:ext cx="2720550" cy="164630"/>
                </a:xfrm>
                <a:prstGeom prst="roundRect">
                  <a:avLst>
                    <a:gd name="adj" fmla="val 17073"/>
                  </a:avLst>
                </a:prstGeom>
                <a:noFill/>
                <a:ln w="6350">
                  <a:noFill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ja-JP" altLang="en-US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［使用期限：</a:t>
                  </a:r>
                  <a:r>
                    <a:rPr kumimoji="1" lang="en-US" altLang="ja-JP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2027</a:t>
                  </a:r>
                  <a:r>
                    <a:rPr kumimoji="1" lang="ja-JP" altLang="en-US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 年 </a:t>
                  </a:r>
                  <a:r>
                    <a:rPr kumimoji="1" lang="en-US" altLang="ja-JP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3</a:t>
                  </a:r>
                  <a:r>
                    <a:rPr kumimoji="1" lang="ja-JP" altLang="en-US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 月 </a:t>
                  </a:r>
                  <a:r>
                    <a:rPr kumimoji="1" lang="en-US" altLang="ja-JP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31</a:t>
                  </a:r>
                  <a:r>
                    <a:rPr kumimoji="1" lang="ja-JP" altLang="en-US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 日 </a:t>
                  </a:r>
                  <a:r>
                    <a:rPr kumimoji="1" lang="en-US" altLang="ja-JP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23</a:t>
                  </a:r>
                  <a:r>
                    <a:rPr kumimoji="1" lang="ja-JP" altLang="en-US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：</a:t>
                  </a:r>
                  <a:r>
                    <a:rPr kumimoji="1" lang="en-US" altLang="ja-JP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59</a:t>
                  </a:r>
                  <a:r>
                    <a:rPr kumimoji="1" lang="ja-JP" altLang="en-US" sz="611" dirty="0">
                      <a:solidFill>
                        <a:schemeClr val="tx1"/>
                      </a:solidFill>
                      <a:latin typeface="UD デジタル 教科書体 NP-R" panose="02020400000000000000" pitchFamily="18" charset="-128"/>
                      <a:ea typeface="UD デジタル 教科書体 NP-R" panose="02020400000000000000" pitchFamily="18" charset="-128"/>
                    </a:rPr>
                    <a:t>まで］</a:t>
                  </a:r>
                </a:p>
              </p:txBody>
            </p:sp>
          </p:grpSp>
          <p:sp>
            <p:nvSpPr>
              <p:cNvPr id="17" name="四角形: 角を丸くする 1">
                <a:extLst>
                  <a:ext uri="{FF2B5EF4-FFF2-40B4-BE49-F238E27FC236}">
                    <a16:creationId xmlns:a16="http://schemas.microsoft.com/office/drawing/2014/main" id="{64A0E2EE-675E-E039-10FA-34BC0D724782}"/>
                  </a:ext>
                </a:extLst>
              </p:cNvPr>
              <p:cNvSpPr/>
              <p:nvPr/>
            </p:nvSpPr>
            <p:spPr>
              <a:xfrm>
                <a:off x="1027479" y="526123"/>
                <a:ext cx="1731189" cy="215018"/>
              </a:xfrm>
              <a:prstGeom prst="roundRect">
                <a:avLst>
                  <a:gd name="adj" fmla="val 6665"/>
                </a:avLst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ja-JP" sz="1911" dirty="0">
                    <a:solidFill>
                      <a:schemeClr val="tx1"/>
                    </a:solidFill>
                    <a:latin typeface="UD デジタル 教科書体 NP-R" panose="02020400000000000000" pitchFamily="18" charset="-128"/>
                    <a:ea typeface="UD デジタル 教科書体 NP-R" panose="02020400000000000000" pitchFamily="18" charset="-128"/>
                  </a:rPr>
                  <a:t>12345678</a:t>
                </a:r>
                <a:endParaRPr kumimoji="1" lang="ja-JP" altLang="en-US" sz="814" dirty="0">
                  <a:solidFill>
                    <a:schemeClr val="tx1"/>
                  </a:solidFill>
                  <a:latin typeface="UD デジタル 教科書体 NP-R" panose="02020400000000000000" pitchFamily="18" charset="-128"/>
                  <a:ea typeface="UD デジタル 教科書体 NP-R" panose="02020400000000000000" pitchFamily="18" charset="-128"/>
                </a:endParaRPr>
              </a:p>
            </p:txBody>
          </p:sp>
        </p:grpSp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6C583A2A-C682-ADA0-DF2F-161DD4A87C3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sharpenSoften amount="100000"/>
                      </a14:imgEffect>
                      <a14:imgEffect>
                        <a14:brightnessContrast contrast="100000"/>
                      </a14:imgEffect>
                    </a14:imgLayer>
                  </a14:imgProps>
                </a:ext>
              </a:extLst>
            </a:blip>
            <a:srcRect r="2295"/>
            <a:stretch>
              <a:fillRect/>
            </a:stretch>
          </p:blipFill>
          <p:spPr>
            <a:xfrm>
              <a:off x="2175532" y="-1004383"/>
              <a:ext cx="764013" cy="781956"/>
            </a:xfrm>
            <a:prstGeom prst="rect">
              <a:avLst/>
            </a:prstGeom>
            <a:ln w="38100">
              <a:solidFill>
                <a:schemeClr val="bg1"/>
              </a:solidFill>
            </a:ln>
            <a:effectLst/>
          </p:spPr>
        </p:pic>
      </p:grp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379725ED-EE6D-C6F4-CB3E-AF90E8184F2A}"/>
              </a:ext>
            </a:extLst>
          </p:cNvPr>
          <p:cNvSpPr/>
          <p:nvPr/>
        </p:nvSpPr>
        <p:spPr>
          <a:xfrm>
            <a:off x="82102" y="131316"/>
            <a:ext cx="3122131" cy="122871"/>
          </a:xfrm>
          <a:prstGeom prst="roundRect">
            <a:avLst>
              <a:gd name="adj" fmla="val 6665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ja-JP" altLang="en-US" sz="916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アクリルキーホルダーの受け取りは</a:t>
            </a:r>
            <a:r>
              <a:rPr kumimoji="1" lang="en-US" altLang="ja-JP" sz="916" b="1" dirty="0">
                <a:solidFill>
                  <a:srgbClr val="E96217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QR</a:t>
            </a:r>
            <a:r>
              <a:rPr kumimoji="1" lang="ja-JP" altLang="en-US" sz="916" b="1" dirty="0">
                <a:solidFill>
                  <a:srgbClr val="E96217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コード</a:t>
            </a:r>
            <a:r>
              <a:rPr kumimoji="1" lang="ja-JP" altLang="en-US" sz="916" dirty="0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からお申し込みください</a:t>
            </a:r>
            <a:endParaRPr lang="ja-JP" altLang="en-US" sz="2850" dirty="0"/>
          </a:p>
        </p:txBody>
      </p:sp>
    </p:spTree>
    <p:extLst>
      <p:ext uri="{BB962C8B-B14F-4D97-AF65-F5344CB8AC3E}">
        <p14:creationId xmlns:p14="http://schemas.microsoft.com/office/powerpoint/2010/main" val="14669913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テーマ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1391</TotalTime>
  <Words>526</Words>
  <Application>Microsoft Macintosh PowerPoint</Application>
  <PresentationFormat>ユーザー設定</PresentationFormat>
  <Paragraphs>55</Paragraphs>
  <Slides>8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5" baseType="lpstr">
      <vt:lpstr>Meiryo UI</vt:lpstr>
      <vt:lpstr>UD デジタル 教科書体 NP-R</vt:lpstr>
      <vt:lpstr>游ゴシック</vt:lpstr>
      <vt:lpstr>Aptos</vt:lpstr>
      <vt:lpstr>Aptos Display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参考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伊藤　悠大</dc:creator>
  <cp:lastModifiedBy>yudaiito</cp:lastModifiedBy>
  <cp:revision>146</cp:revision>
  <cp:lastPrinted>2026-04-16T00:21:36Z</cp:lastPrinted>
  <dcterms:created xsi:type="dcterms:W3CDTF">2026-01-29T04:40:41Z</dcterms:created>
  <dcterms:modified xsi:type="dcterms:W3CDTF">2026-04-16T03:49:36Z</dcterms:modified>
</cp:coreProperties>
</file>